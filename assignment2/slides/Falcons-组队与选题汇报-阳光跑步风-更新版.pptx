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7f4b687f3c4b02" /><Relationship Type="http://schemas.openxmlformats.org/officeDocument/2006/relationships/extended-properties" Target="/docProps/app.xml" Id="R3d08621758124080" /><Relationship Type="http://schemas.openxmlformats.org/officeDocument/2006/relationships/officeDocument" Target="/ppt/presentation.xml" Id="Rbc6bbd1535bd43dd" /></Relationships>
</file>

<file path=ppt/presentation.xml><?xml version="1.0" encoding="utf-8"?>
<p:presentation xmlns:p="http://schemas.openxmlformats.org/presentationml/2006/main">
  <p:sldMasterIdLst>
    <p:sldMasterId xmlns:r="http://schemas.openxmlformats.org/officeDocument/2006/relationships" id="2147483648" r:id="R9d706073cb7a420b"/>
  </p:sldMasterIdLst>
  <p:notesMasterIdLst>
    <p:notesMasterId xmlns:r="http://schemas.openxmlformats.org/officeDocument/2006/relationships" r:id="R7eab0df6e98e4b35"/>
  </p:notesMasterIdLst>
  <p:sldIdLst>
    <p:sldId xmlns:r="http://schemas.openxmlformats.org/officeDocument/2006/relationships" id="256" r:id="R1c2d744f1bec461c"/>
    <p:sldId xmlns:r="http://schemas.openxmlformats.org/officeDocument/2006/relationships" id="257" r:id="Rde3a69aa72c04abc"/>
    <p:sldId xmlns:r="http://schemas.openxmlformats.org/officeDocument/2006/relationships" id="258" r:id="R2c07bf0d06a9455f"/>
    <p:sldId xmlns:r="http://schemas.openxmlformats.org/officeDocument/2006/relationships" id="259" r:id="Rad3f5de99a044d1f"/>
    <p:sldId xmlns:r="http://schemas.openxmlformats.org/officeDocument/2006/relationships" id="260" r:id="Ra381e312ac5b48e6"/>
    <p:sldId xmlns:r="http://schemas.openxmlformats.org/officeDocument/2006/relationships" id="261" r:id="R29d394b23334414f"/>
    <p:sldId xmlns:r="http://schemas.openxmlformats.org/officeDocument/2006/relationships" id="262" r:id="Rcb7c5395ad1d433d"/>
    <p:sldId xmlns:r="http://schemas.openxmlformats.org/officeDocument/2006/relationships" id="263" r:id="Rc18ef4cde431486a"/>
    <p:sldId xmlns:r="http://schemas.openxmlformats.org/officeDocument/2006/relationships" id="264" r:id="R395421e0ef8d4a56"/>
    <p:sldId xmlns:r="http://schemas.openxmlformats.org/officeDocument/2006/relationships" id="265" r:id="R62d30e30b07d4e26"/>
    <p:sldId xmlns:r="http://schemas.openxmlformats.org/officeDocument/2006/relationships" id="266" r:id="R6d283e4421b948a7"/>
    <p:sldId xmlns:r="http://schemas.openxmlformats.org/officeDocument/2006/relationships" id="267" r:id="R37a33bb392724ea7"/>
    <p:sldId xmlns:r="http://schemas.openxmlformats.org/officeDocument/2006/relationships" id="268" r:id="Rf81551a3a4744384"/>
    <p:sldId xmlns:r="http://schemas.openxmlformats.org/officeDocument/2006/relationships" id="269" r:id="R7e3cd1dfe51a4055"/>
    <p:sldId xmlns:r="http://schemas.openxmlformats.org/officeDocument/2006/relationships" id="270" r:id="R71a450b7603a4fc7"/>
    <p:sldId xmlns:r="http://schemas.openxmlformats.org/officeDocument/2006/relationships" id="271" r:id="R15008f6543c0403b"/>
    <p:sldId xmlns:r="http://schemas.openxmlformats.org/officeDocument/2006/relationships" id="272" r:id="R9f649a1fe75945e3"/>
    <p:sldId xmlns:r="http://schemas.openxmlformats.org/officeDocument/2006/relationships" id="273" r:id="R4bbd2c911d154b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9f03e69a814bf2" /><Relationship Type="http://schemas.openxmlformats.org/officeDocument/2006/relationships/slideMaster" Target="/ppt/slideMasters/slideMaster1.xml" Id="R9d706073cb7a420b" /><Relationship Type="http://schemas.openxmlformats.org/officeDocument/2006/relationships/notesMaster" Target="/ppt/notesMasters/notesMaster1.xml" Id="R7eab0df6e98e4b35" /><Relationship Type="http://schemas.openxmlformats.org/officeDocument/2006/relationships/presProps" Target="/ppt/presProps.xml" Id="Ra6725f5122914335" /><Relationship Type="http://schemas.openxmlformats.org/officeDocument/2006/relationships/tableStyles" Target="/ppt/tableStyles.xml" Id="R204d9d5cfa014d0b" /><Relationship Type="http://schemas.openxmlformats.org/officeDocument/2006/relationships/slide" Target="/ppt/slides/slide1.xml" Id="R1c2d744f1bec461c" /><Relationship Type="http://schemas.openxmlformats.org/officeDocument/2006/relationships/slide" Target="/ppt/slides/slide2.xml" Id="Rde3a69aa72c04abc" /><Relationship Type="http://schemas.openxmlformats.org/officeDocument/2006/relationships/slide" Target="/ppt/slides/slide3.xml" Id="R2c07bf0d06a9455f" /><Relationship Type="http://schemas.openxmlformats.org/officeDocument/2006/relationships/slide" Target="/ppt/slides/slide4.xml" Id="Rad3f5de99a044d1f" /><Relationship Type="http://schemas.openxmlformats.org/officeDocument/2006/relationships/slide" Target="/ppt/slides/slide5.xml" Id="Ra381e312ac5b48e6" /><Relationship Type="http://schemas.openxmlformats.org/officeDocument/2006/relationships/slide" Target="/ppt/slides/slide6.xml" Id="R29d394b23334414f" /><Relationship Type="http://schemas.openxmlformats.org/officeDocument/2006/relationships/slide" Target="/ppt/slides/slide7.xml" Id="Rcb7c5395ad1d433d" /><Relationship Type="http://schemas.openxmlformats.org/officeDocument/2006/relationships/slide" Target="/ppt/slides/slide8.xml" Id="Rc18ef4cde431486a" /><Relationship Type="http://schemas.openxmlformats.org/officeDocument/2006/relationships/slide" Target="/ppt/slides/slide9.xml" Id="R395421e0ef8d4a56" /><Relationship Type="http://schemas.openxmlformats.org/officeDocument/2006/relationships/slide" Target="/ppt/slides/slide10.xml" Id="R62d30e30b07d4e26" /><Relationship Type="http://schemas.openxmlformats.org/officeDocument/2006/relationships/slide" Target="/ppt/slides/slide11.xml" Id="R6d283e4421b948a7" /><Relationship Type="http://schemas.openxmlformats.org/officeDocument/2006/relationships/slide" Target="/ppt/slides/slide12.xml" Id="R37a33bb392724ea7" /><Relationship Type="http://schemas.openxmlformats.org/officeDocument/2006/relationships/slide" Target="/ppt/slides/slide13.xml" Id="Rf81551a3a4744384" /><Relationship Type="http://schemas.openxmlformats.org/officeDocument/2006/relationships/slide" Target="/ppt/slides/slide14.xml" Id="R7e3cd1dfe51a4055" /><Relationship Type="http://schemas.openxmlformats.org/officeDocument/2006/relationships/slide" Target="/ppt/slides/slide15.xml" Id="R71a450b7603a4fc7" /><Relationship Type="http://schemas.openxmlformats.org/officeDocument/2006/relationships/slide" Target="/ppt/slides/slide16.xml" Id="R15008f6543c0403b" /><Relationship Type="http://schemas.openxmlformats.org/officeDocument/2006/relationships/slide" Target="/ppt/slides/slide17.xml" Id="R9f649a1fe75945e3" /><Relationship Type="http://schemas.openxmlformats.org/officeDocument/2006/relationships/slide" Target="/ppt/slides/slide18.xml" Id="R4bbd2c911d154b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f9bd22817d4e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a664f298ef4621" /><Relationship Type="http://schemas.openxmlformats.org/officeDocument/2006/relationships/notesMaster" Target="/ppt/notesMasters/notesMaster1.xml" Id="R987053643eae4e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ab47756678452f" /><Relationship Type="http://schemas.openxmlformats.org/officeDocument/2006/relationships/notesMaster" Target="/ppt/notesMasters/notesMaster1.xml" Id="Ra9c831e7457142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c4b89438fc4392" /><Relationship Type="http://schemas.openxmlformats.org/officeDocument/2006/relationships/notesMaster" Target="/ppt/notesMasters/notesMaster1.xml" Id="Rf7aa459adcaf45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ec78f9d5074cfc" /><Relationship Type="http://schemas.openxmlformats.org/officeDocument/2006/relationships/notesMaster" Target="/ppt/notesMasters/notesMaster1.xml" Id="R519b876d960c4e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aa3a90e8114f11" /><Relationship Type="http://schemas.openxmlformats.org/officeDocument/2006/relationships/notesMaster" Target="/ppt/notesMasters/notesMaster1.xml" Id="R6f84f3811c124a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8e6043477d485f" /><Relationship Type="http://schemas.openxmlformats.org/officeDocument/2006/relationships/notesMaster" Target="/ppt/notesMasters/notesMaster1.xml" Id="R2f64cb0833b448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a06c63d2f94050" /><Relationship Type="http://schemas.openxmlformats.org/officeDocument/2006/relationships/notesMaster" Target="/ppt/notesMasters/notesMaster1.xml" Id="R358c2e9c844544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344f14d8674222" /><Relationship Type="http://schemas.openxmlformats.org/officeDocument/2006/relationships/notesMaster" Target="/ppt/notesMasters/notesMaster1.xml" Id="R4c342441ec1141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52c93538d5471d" /><Relationship Type="http://schemas.openxmlformats.org/officeDocument/2006/relationships/notesMaster" Target="/ppt/notesMasters/notesMaster1.xml" Id="Ra107b791e52449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7c9684dc704656" /><Relationship Type="http://schemas.openxmlformats.org/officeDocument/2006/relationships/notesMaster" Target="/ppt/notesMasters/notesMaster1.xml" Id="R47e0fac6ce4c4d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824f232a224584" /><Relationship Type="http://schemas.openxmlformats.org/officeDocument/2006/relationships/notesMaster" Target="/ppt/notesMasters/notesMaster1.xml" Id="R63fa30bd376f459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e91a3e5a84435e" /><Relationship Type="http://schemas.openxmlformats.org/officeDocument/2006/relationships/notesMaster" Target="/ppt/notesMasters/notesMaster1.xml" Id="Rf8bc84ace99142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f88ed172b83447f" /><Relationship Type="http://schemas.openxmlformats.org/officeDocument/2006/relationships/notesMaster" Target="/ppt/notesMasters/notesMaster1.xml" Id="R744aea3d21d04d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f86e353b6d4e82" /><Relationship Type="http://schemas.openxmlformats.org/officeDocument/2006/relationships/notesMaster" Target="/ppt/notesMasters/notesMaster1.xml" Id="R51f4b466ae5448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f186930da8436f" /><Relationship Type="http://schemas.openxmlformats.org/officeDocument/2006/relationships/notesMaster" Target="/ppt/notesMasters/notesMaster1.xml" Id="Rbc580dd591af438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c2b05458514213" /><Relationship Type="http://schemas.openxmlformats.org/officeDocument/2006/relationships/notesMaster" Target="/ppt/notesMasters/notesMaster1.xml" Id="Rc1403317ba3648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9a6d50b668340d8" /><Relationship Type="http://schemas.openxmlformats.org/officeDocument/2006/relationships/notesMaster" Target="/ppt/notesMasters/notesMaster1.xml" Id="R52e8397b0b944e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7a3c7f0cd484108" /><Relationship Type="http://schemas.openxmlformats.org/officeDocument/2006/relationships/notesMaster" Target="/ppt/notesMasters/notesMaster1.xml" Id="R18170063e53646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1. Team Introduction</a:t>
            </a:r>
          </a:p>
          <a:p xmlns:a="http://schemas.openxmlformats.org/drawingml/2006/main">
            <a:r>
              <a:t/>
            </a:r>
          </a:p>
          <a:p xmlns:a="http://schemas.openxmlformats.org/drawingml/2006/main">
            <a:r>
              <a:t/>
            </a:r>
          </a:p>
          <a:p xmlns:a="http://schemas.openxmlformats.org/drawingml/2006/main">
            <a:r>
              <a:t/>
            </a:r>
          </a:p>
          <a:p xmlns:a="http://schemas.openxmlformats.org/drawingml/2006/main">
            <a:r>
              <a:t>### 1.1 Team Name &amp; Meaning</a:t>
            </a:r>
          </a:p>
          <a:p xmlns:a="http://schemas.openxmlformats.org/drawingml/2006/main">
            <a:r>
              <a:t/>
            </a:r>
          </a:p>
          <a:p xmlns:a="http://schemas.openxmlformats.org/drawingml/2006/main">
            <a:r>
              <a:t>**Team Name: Falcons**</a:t>
            </a:r>
          </a:p>
          <a:p xmlns:a="http://schemas.openxmlformats.org/drawingml/2006/main">
            <a:r>
              <a:t/>
            </a:r>
          </a:p>
          <a:p xmlns:a="http://schemas.openxmlformats.org/drawingml/2006/main">
            <a:r>
              <a:t>Falcons have sharp eyes and strike swiftly — once a target is locked, they go all out; some falcon species are even known for cooperative hunting. Our project "Sports Buddy" is exactly about spotting the real pain point — *wanting to exercise but having no one to team up with* — and helping everyone quickly and precisely get into the right game.</a:t>
            </a:r>
          </a:p>
          <a:p xmlns:a="http://schemas.openxmlformats.org/drawingml/2006/main">
            <a:r>
              <a:t/>
            </a:r>
          </a:p>
          <a:p xmlns:a="http://schemas.openxmlformats.org/drawingml/2006/main">
            <a:r>
              <a:t>**Team Slogan**: *Buddy up — easily, well, precisely.*</a:t>
            </a:r>
          </a:p>
          <a:p xmlns:a="http://schemas.openxmlformats.org/drawingml/2006/main">
            <a:r>
              <a:t/>
            </a:r>
          </a:p>
          <a:p xmlns:a="http://schemas.openxmlformats.org/drawingml/2006/main">
            <a:r>
              <a:t>### 1.2 Team Members</a:t>
            </a:r>
          </a:p>
          <a:p xmlns:a="http://schemas.openxmlformats.org/drawingml/2006/main">
            <a:r>
              <a:t/>
            </a:r>
          </a:p>
          <a:p xmlns:a="http://schemas.openxmlformats.org/drawingml/2006/main">
            <a:r>
              <a:t>13 members in total, with 1 team leader; divided into six groups by role: Project Management, Product Requirements, Frontend Development, Backend Development, Algorithm, and Testing.</a:t>
            </a:r>
          </a:p>
          <a:p xmlns:a="http://schemas.openxmlformats.org/drawingml/2006/main">
            <a:r>
              <a:t/>
            </a:r>
          </a:p>
          <a:p xmlns:a="http://schemas.openxmlformats.org/drawingml/2006/main">
            <a:r>
              <a:t>**Member 1 | Huang Zhiyuan — Team Lead**</a:t>
            </a:r>
          </a:p>
          <a:p xmlns:a="http://schemas.openxmlformats.org/drawingml/2006/main">
            <a:r>
              <a:t/>
            </a:r>
          </a:p>
          <a:p xmlns:a="http://schemas.openxmlformats.org/drawingml/2006/main">
            <a:r>
              <a:t>- **Student ID**: 832401112</a:t>
            </a:r>
          </a:p>
          <a:p xmlns:a="http://schemas.openxmlformats.org/drawingml/2006/main">
            <a:r>
              <a:t>- **CSDN**: [Huang Zhiyuan's csdn](https://blog.csdn.net/weixin_61182186)</a:t>
            </a:r>
          </a:p>
          <a:p xmlns:a="http://schemas.openxmlformats.org/drawingml/2006/main">
            <a:r>
              <a:t>- **Personality**: Responsible, well-organized, and good at communication and coordination; focused on keeping a steady pace and following through on tasks</a:t>
            </a:r>
          </a:p>
          <a:p xmlns:a="http://schemas.openxmlformats.org/drawingml/2006/main">
            <a:r>
              <a:t>- **Technical Expertise**: Scheduling and progress control, project management; JavaWeb backend development and MySQL database design</a:t>
            </a:r>
          </a:p>
          <a:p xmlns:a="http://schemas.openxmlformats.org/drawingml/2006/main">
            <a:r>
              <a:t>- **Hobbies**: Sports (basketball, etc.)</a:t>
            </a:r>
          </a:p>
          <a:p xmlns:a="http://schemas.openxmlformats.org/drawingml/2006/main">
            <a:r>
              <a:t>- **Role**: Project Management (Team Lead)</a:t>
            </a:r>
          </a:p>
          <a:p xmlns:a="http://schemas.openxmlformats.org/drawingml/2006/main">
            <a:r>
              <a:t>- **Slogan**: Never stop</a:t>
            </a:r>
          </a:p>
          <a:p xmlns:a="http://schemas.openxmlformats.org/drawingml/2006/main">
            <a:r>
              <a:t/>
            </a:r>
          </a:p>
          <a:p xmlns:a="http://schemas.openxmlformats.org/drawingml/2006/main">
            <a:r>
              <a:t>**Member 2 | Zhang Zile**</a:t>
            </a:r>
          </a:p>
          <a:p xmlns:a="http://schemas.openxmlformats.org/drawingml/2006/main">
            <a:r>
              <a:t/>
            </a:r>
          </a:p>
          <a:p xmlns:a="http://schemas.openxmlformats.org/drawingml/2006/main">
            <a:r>
              <a:t>- **Student ID**: 832401325</a:t>
            </a:r>
          </a:p>
          <a:p xmlns:a="http://schemas.openxmlformats.org/drawingml/2006/main">
            <a:r>
              <a:t>- **CSDN**: [Zhang Zile's csdn](https://blog.csdn.net/m0_61183889)</a:t>
            </a:r>
          </a:p>
          <a:p xmlns:a="http://schemas.openxmlformats.org/drawingml/2006/main">
            <a:r>
              <a:t>- **Personality**: Optimistic</a:t>
            </a:r>
          </a:p>
          <a:p xmlns:a="http://schemas.openxmlformats.org/drawingml/2006/main">
            <a:r>
              <a:t>- **Technical Expertise**: Full-stack development</a:t>
            </a:r>
          </a:p>
          <a:p xmlns:a="http://schemas.openxmlformats.org/drawingml/2006/main">
            <a:r>
              <a:t>- **Hobbies**: Music, video games, F1</a:t>
            </a:r>
          </a:p>
          <a:p xmlns:a="http://schemas.openxmlformats.org/drawingml/2006/main">
            <a:r>
              <a:t>- **Role**: Product Requirements</a:t>
            </a:r>
          </a:p>
          <a:p xmlns:a="http://schemas.openxmlformats.org/drawingml/2006/main">
            <a:r>
              <a:t>- **Slogan**: Simply, Lovely.</a:t>
            </a:r>
          </a:p>
          <a:p xmlns:a="http://schemas.openxmlformats.org/drawingml/2006/main">
            <a:r>
              <a:t/>
            </a:r>
          </a:p>
          <a:p xmlns:a="http://schemas.openxmlformats.org/drawingml/2006/main">
            <a:r>
              <a:t>**Member 3 | Ye Yifan**</a:t>
            </a:r>
          </a:p>
          <a:p xmlns:a="http://schemas.openxmlformats.org/drawingml/2006/main">
            <a:r>
              <a:t/>
            </a:r>
          </a:p>
          <a:p xmlns:a="http://schemas.openxmlformats.org/drawingml/2006/main">
            <a:r>
              <a:t>- **Student ID**: 832401321</a:t>
            </a:r>
          </a:p>
          <a:p xmlns:a="http://schemas.openxmlformats.org/drawingml/2006/main">
            <a:r>
              <a:t>- **CSDN**: [Ye Yifan's csdn](https://blog.csdn.net/2401_88098790?type=blog)</a:t>
            </a:r>
          </a:p>
          <a:p xmlns:a="http://schemas.openxmlformats.org/drawingml/2006/main">
            <a:r>
              <a:t>- **Personality**: Optimistic and eager to learn, proactive and enterprising</a:t>
            </a:r>
          </a:p>
          <a:p xmlns:a="http://schemas.openxmlformats.org/drawingml/2006/main">
            <a:r>
              <a:t>- **Technical Expertise**: Data design, page layout, functional research</a:t>
            </a:r>
          </a:p>
          <a:p xmlns:a="http://schemas.openxmlformats.org/drawingml/2006/main">
            <a:r>
              <a:t>- **Hobbies**: Computer games</a:t>
            </a:r>
          </a:p>
          <a:p xmlns:a="http://schemas.openxmlformats.org/drawingml/2006/main">
            <a:r>
              <a:t>- **Role**: Product Requirements</a:t>
            </a:r>
          </a:p>
          <a:p xmlns:a="http://schemas.openxmlformats.org/drawingml/2006/main">
            <a:r>
              <a:t>- **Slogan**: Your opponent's always been somebody else you would've known</a:t>
            </a:r>
          </a:p>
          <a:p xmlns:a="http://schemas.openxmlformats.org/drawingml/2006/main">
            <a:r>
              <a:t/>
            </a:r>
          </a:p>
          <a:p xmlns:a="http://schemas.openxmlformats.org/drawingml/2006/main">
            <a:r>
              <a:t>**Member 4 | Lin Zijun**</a:t>
            </a:r>
          </a:p>
          <a:p xmlns:a="http://schemas.openxmlformats.org/drawingml/2006/main">
            <a:r>
              <a:t/>
            </a:r>
          </a:p>
          <a:p xmlns:a="http://schemas.openxmlformats.org/drawingml/2006/main">
            <a:r>
              <a:t>- **Student ID**: 832401311</a:t>
            </a:r>
          </a:p>
          <a:p xmlns:a="http://schemas.openxmlformats.org/drawingml/2006/main">
            <a:r>
              <a:t>- **CSDN**: [Lin Zijun's csdn](https://blog.csdn.net/2401_88072365?spm=1010.2135.3001.5343)</a:t>
            </a:r>
          </a:p>
          <a:p xmlns:a="http://schemas.openxmlformats.org/drawingml/2006/main">
            <a:r>
              <a:t>- **Personality**: Careful, patient</a:t>
            </a:r>
          </a:p>
          <a:p xmlns:a="http://schemas.openxmlformats.org/drawingml/2006/main">
            <a:r>
              <a:t>- **Technical Expertise**: API development, database, page layout</a:t>
            </a:r>
          </a:p>
          <a:p xmlns:a="http://schemas.openxmlformats.org/drawingml/2006/main">
            <a:r>
              <a:t>- **Hobbies**: Singing, gaming</a:t>
            </a:r>
          </a:p>
          <a:p xmlns:a="http://schemas.openxmlformats.org/drawingml/2006/main">
            <a:r>
              <a:t>- **Role**: Frontend Development</a:t>
            </a:r>
          </a:p>
          <a:p xmlns:a="http://schemas.openxmlformats.org/drawingml/2006/main">
            <a:r>
              <a:t>- **Slogan**: Patient is the key to life.</a:t>
            </a:r>
          </a:p>
          <a:p xmlns:a="http://schemas.openxmlformats.org/drawingml/2006/main">
            <a:r>
              <a:t/>
            </a:r>
          </a:p>
          <a:p xmlns:a="http://schemas.openxmlformats.org/drawingml/2006/main">
            <a:r>
              <a:t>**Member 5 | Li Zhenhao**</a:t>
            </a:r>
          </a:p>
          <a:p xmlns:a="http://schemas.openxmlformats.org/drawingml/2006/main">
            <a:r>
              <a:t/>
            </a:r>
          </a:p>
          <a:p xmlns:a="http://schemas.openxmlformats.org/drawingml/2006/main">
            <a:r>
              <a:t>- **Student ID**: 832401310</a:t>
            </a:r>
          </a:p>
          <a:p xmlns:a="http://schemas.openxmlformats.org/drawingml/2006/main">
            <a:r>
              <a:t>- **CSDN**: [Li Zhenhao's csdn](https://blog.csdn.net/outs_tand_ing?type=blog)</a:t>
            </a:r>
          </a:p>
          <a:p xmlns:a="http://schemas.openxmlformats.org/drawingml/2006/main">
            <a:r>
              <a:t>- **Personality**: Diligent, careful</a:t>
            </a:r>
          </a:p>
          <a:p xmlns:a="http://schemas.openxmlformats.org/drawingml/2006/main">
            <a:r>
              <a:t>- **Technical Expertise**: Page layout, component development, interactive implementation</a:t>
            </a:r>
          </a:p>
          <a:p xmlns:a="http://schemas.openxmlformats.org/drawingml/2006/main">
            <a:r>
              <a:t>- **Hobbies**: Listening to music, playing basketball</a:t>
            </a:r>
          </a:p>
          <a:p xmlns:a="http://schemas.openxmlformats.org/drawingml/2006/main">
            <a:r>
              <a:t>- **Role**: Frontend Development</a:t>
            </a:r>
          </a:p>
          <a:p xmlns:a="http://schemas.openxmlformats.org/drawingml/2006/main">
            <a:r>
              <a:t>- **Slogan**: Keep trying and make constant breakthroughs</a:t>
            </a:r>
          </a:p>
          <a:p xmlns:a="http://schemas.openxmlformats.org/drawingml/2006/main">
            <a:r>
              <a:t/>
            </a:r>
          </a:p>
          <a:p xmlns:a="http://schemas.openxmlformats.org/drawingml/2006/main">
            <a:r>
              <a:t>**Member 6 | Li Haoze**</a:t>
            </a:r>
          </a:p>
          <a:p xmlns:a="http://schemas.openxmlformats.org/drawingml/2006/main">
            <a:r>
              <a:t/>
            </a:r>
          </a:p>
          <a:p xmlns:a="http://schemas.openxmlformats.org/drawingml/2006/main">
            <a:r>
              <a:t>- **Student ID**: 832401309</a:t>
            </a:r>
          </a:p>
          <a:p xmlns:a="http://schemas.openxmlformats.org/drawingml/2006/main">
            <a:r>
              <a:t>- **CSDN**: [Li Haoze's csdn](https://blog.csdn.net/2603_97088533?type=blog)</a:t>
            </a:r>
          </a:p>
          <a:p xmlns:a="http://schemas.openxmlformats.org/drawingml/2006/main">
            <a:r>
              <a:t>- **Personality**: Hardworking and patient, conscientious at work</a:t>
            </a:r>
          </a:p>
          <a:p xmlns:a="http://schemas.openxmlformats.org/drawingml/2006/main">
            <a:r>
              <a:t>- **Technical Expertise**: Full-stack development</a:t>
            </a:r>
          </a:p>
          <a:p xmlns:a="http://schemas.openxmlformats.org/drawingml/2006/main">
            <a:r>
              <a:t>- **Hobbies**: Music</a:t>
            </a:r>
          </a:p>
          <a:p xmlns:a="http://schemas.openxmlformats.org/drawingml/2006/main">
            <a:r>
              <a:t>- **Role**: Frontend Development</a:t>
            </a:r>
          </a:p>
          <a:p xmlns:a="http://schemas.openxmlformats.org/drawingml/2006/main">
            <a:r>
              <a:t>- **Slogan**: Write robust code, solve real-world problems with care.</a:t>
            </a:r>
          </a:p>
          <a:p xmlns:a="http://schemas.openxmlformats.org/drawingml/2006/main">
            <a:r>
              <a:t/>
            </a:r>
          </a:p>
          <a:p xmlns:a="http://schemas.openxmlformats.org/drawingml/2006/main">
            <a:r>
              <a:t>**Member 7 | He Jinghao**</a:t>
            </a:r>
          </a:p>
          <a:p xmlns:a="http://schemas.openxmlformats.org/drawingml/2006/main">
            <a:r>
              <a:t/>
            </a:r>
          </a:p>
          <a:p xmlns:a="http://schemas.openxmlformats.org/drawingml/2006/main">
            <a:r>
              <a:t>- **Student ID**: 832401307</a:t>
            </a:r>
          </a:p>
          <a:p xmlns:a="http://schemas.openxmlformats.org/drawingml/2006/main">
            <a:r>
              <a:t>- **CSDN**: [He Jinghao's csdn](https://blog.csdn.net/2603_97055950)</a:t>
            </a:r>
          </a:p>
          <a:p xmlns:a="http://schemas.openxmlformats.org/drawingml/2006/main">
            <a:r>
              <a:t>- **Personality**: Patient, good at communication</a:t>
            </a:r>
          </a:p>
          <a:p xmlns:a="http://schemas.openxmlformats.org/drawingml/2006/main">
            <a:r>
              <a:t>- **Technical Expertise**: UI restoration, basic JavaScript interaction debugging</a:t>
            </a:r>
          </a:p>
          <a:p xmlns:a="http://schemas.openxmlformats.org/drawingml/2006/main">
            <a:r>
              <a:t>- **Hobbies**: Browsing UI design works, listening to music</a:t>
            </a:r>
          </a:p>
          <a:p xmlns:a="http://schemas.openxmlformats.org/drawingml/2006/main">
            <a:r>
              <a:t>- **Role**: Frontend Development</a:t>
            </a:r>
          </a:p>
          <a:p xmlns:a="http://schemas.openxmlformats.org/drawingml/2006/main">
            <a:r>
              <a:t>- **Slogan**: Hard work pays off; earnest labor never deceives.</a:t>
            </a:r>
          </a:p>
          <a:p xmlns:a="http://schemas.openxmlformats.org/drawingml/2006/main">
            <a:r>
              <a:t/>
            </a:r>
          </a:p>
          <a:p xmlns:a="http://schemas.openxmlformats.org/drawingml/2006/main">
            <a:r>
              <a:t>**Member 8 | Zhang Jingtian**</a:t>
            </a:r>
          </a:p>
          <a:p xmlns:a="http://schemas.openxmlformats.org/drawingml/2006/main">
            <a:r>
              <a:t/>
            </a:r>
          </a:p>
          <a:p xmlns:a="http://schemas.openxmlformats.org/drawingml/2006/main">
            <a:r>
              <a:t>- **Student ID**: 832401323</a:t>
            </a:r>
          </a:p>
          <a:p xmlns:a="http://schemas.openxmlformats.org/drawingml/2006/main">
            <a:r>
              <a:t>- **CSDN**: [Zhang Jingtian's csdn](https://blog.csdn.net/2603_97140630?type=bbs)</a:t>
            </a:r>
          </a:p>
          <a:p xmlns:a="http://schemas.openxmlformats.org/drawingml/2006/main">
            <a:r>
              <a:t>- **Personality**: Optimistic and eager to learn, accommodating</a:t>
            </a:r>
          </a:p>
          <a:p xmlns:a="http://schemas.openxmlformats.org/drawingml/2006/main">
            <a:r>
              <a:t>- **Technical Expertise**: Code debugging, function design</a:t>
            </a:r>
          </a:p>
          <a:p xmlns:a="http://schemas.openxmlformats.org/drawingml/2006/main">
            <a:r>
              <a:t>- **Hobbies**: Reading novels</a:t>
            </a:r>
          </a:p>
          <a:p xmlns:a="http://schemas.openxmlformats.org/drawingml/2006/main">
            <a:r>
              <a:t>- **Role**: Backend Development</a:t>
            </a:r>
          </a:p>
          <a:p xmlns:a="http://schemas.openxmlformats.org/drawingml/2006/main">
            <a:r>
              <a:t>- **Slogan**: Technology drives the world</a:t>
            </a:r>
          </a:p>
          <a:p xmlns:a="http://schemas.openxmlformats.org/drawingml/2006/main">
            <a:r>
              <a:t/>
            </a:r>
          </a:p>
          <a:p xmlns:a="http://schemas.openxmlformats.org/drawingml/2006/main">
            <a:r>
              <a:t>**Member 9 | Yu Chenghao**</a:t>
            </a:r>
          </a:p>
          <a:p xmlns:a="http://schemas.openxmlformats.org/drawingml/2006/main">
            <a:r>
              <a:t/>
            </a:r>
          </a:p>
          <a:p xmlns:a="http://schemas.openxmlformats.org/drawingml/2006/main">
            <a:r>
              <a:t>- **Student ID**: 832401322</a:t>
            </a:r>
          </a:p>
          <a:p xmlns:a="http://schemas.openxmlformats.org/drawingml/2006/main">
            <a:r>
              <a:t>- **CSDN**: [Yu Chenghao's csdn](https://blog.csdn.net/2601_97148386?type=blogCommunity)</a:t>
            </a:r>
          </a:p>
          <a:p xmlns:a="http://schemas.openxmlformats.org/drawingml/2006/main">
            <a:r>
              <a:t>- **Personality**: Hardworking, patient</a:t>
            </a:r>
          </a:p>
          <a:p xmlns:a="http://schemas.openxmlformats.org/drawingml/2006/main">
            <a:r>
              <a:t>- **Technical Expertise**: API development, database, service deployment</a:t>
            </a:r>
          </a:p>
          <a:p xmlns:a="http://schemas.openxmlformats.org/drawingml/2006/main">
            <a:r>
              <a:t>- **Hobbies**: Listening to music, gaming</a:t>
            </a:r>
          </a:p>
          <a:p xmlns:a="http://schemas.openxmlformats.org/drawingml/2006/main">
            <a:r>
              <a:t>- **Role**: Backend Development</a:t>
            </a:r>
          </a:p>
          <a:p xmlns:a="http://schemas.openxmlformats.org/drawingml/2006/main">
            <a:r>
              <a:t>- **Slogan**: Slow progress is still progress.</a:t>
            </a:r>
          </a:p>
          <a:p xmlns:a="http://schemas.openxmlformats.org/drawingml/2006/main">
            <a:r>
              <a:t/>
            </a:r>
          </a:p>
          <a:p xmlns:a="http://schemas.openxmlformats.org/drawingml/2006/main">
            <a:r>
              <a:t>**Member 10 | Zhang Xinyu**</a:t>
            </a:r>
          </a:p>
          <a:p xmlns:a="http://schemas.openxmlformats.org/drawingml/2006/main">
            <a:r>
              <a:t/>
            </a:r>
          </a:p>
          <a:p xmlns:a="http://schemas.openxmlformats.org/drawingml/2006/main">
            <a:r>
              <a:t>- **Student ID**: 832401324</a:t>
            </a:r>
          </a:p>
          <a:p xmlns:a="http://schemas.openxmlformats.org/drawingml/2006/main">
            <a:r>
              <a:t>- **CSDN**: [Zhang Xinyu's csdn](https://blog.csdn.net/HEBEI_Story?spm=1035.2248.3001.5343)</a:t>
            </a:r>
          </a:p>
          <a:p xmlns:a="http://schemas.openxmlformats.org/drawingml/2006/main">
            <a:r>
              <a:t>- **Personality**: Self-motivated, detail-oriented, logical thinking, problem-solving</a:t>
            </a:r>
          </a:p>
          <a:p xmlns:a="http://schemas.openxmlformats.org/drawingml/2006/main">
            <a:r>
              <a:t>- **Technical Expertise**: API development, database design, interactive implementation</a:t>
            </a:r>
          </a:p>
          <a:p xmlns:a="http://schemas.openxmlformats.org/drawingml/2006/main">
            <a:r>
              <a:t>- **Hobbies**: Fitness, music, basketball, games</a:t>
            </a:r>
          </a:p>
          <a:p xmlns:a="http://schemas.openxmlformats.org/drawingml/2006/main">
            <a:r>
              <a:t>- **Role**: Backend Development</a:t>
            </a:r>
          </a:p>
          <a:p xmlns:a="http://schemas.openxmlformats.org/drawingml/2006/main">
            <a:r>
              <a:t>- **Slogan**: Keep thinking, keep building.</a:t>
            </a:r>
          </a:p>
          <a:p xmlns:a="http://schemas.openxmlformats.org/drawingml/2006/main">
            <a:r>
              <a:t/>
            </a:r>
          </a:p>
          <a:p xmlns:a="http://schemas.openxmlformats.org/drawingml/2006/main">
            <a:r>
              <a:t>**Member 11 | Xu Boyu**</a:t>
            </a:r>
          </a:p>
          <a:p xmlns:a="http://schemas.openxmlformats.org/drawingml/2006/main">
            <a:r>
              <a:t/>
            </a:r>
          </a:p>
          <a:p xmlns:a="http://schemas.openxmlformats.org/drawingml/2006/main">
            <a:r>
              <a:t>- **Student ID**: 832401320</a:t>
            </a:r>
          </a:p>
          <a:p xmlns:a="http://schemas.openxmlformats.org/drawingml/2006/main">
            <a:r>
              <a:t>- **CSDN**: [Xu Boyu's csdn](https://blog.csdn.net/2401_87119205?type=blog)</a:t>
            </a:r>
          </a:p>
          <a:p xmlns:a="http://schemas.openxmlformats.org/drawingml/2006/main">
            <a:r>
              <a:t>- **Personality**: Diligent and patient, with a steady, detail-oriented approach to work</a:t>
            </a:r>
          </a:p>
          <a:p xmlns:a="http://schemas.openxmlformats.org/drawingml/2006/main">
            <a:r>
              <a:t>- **Technical Expertise**: API development, database design, service deployment</a:t>
            </a:r>
          </a:p>
          <a:p xmlns:a="http://schemas.openxmlformats.org/drawingml/2006/main">
            <a:r>
              <a:t>- **Hobbies**: Sleeping</a:t>
            </a:r>
          </a:p>
          <a:p xmlns:a="http://schemas.openxmlformats.org/drawingml/2006/main">
            <a:r>
              <a:t>- **Role**: Backend Development</a:t>
            </a:r>
          </a:p>
          <a:p xmlns:a="http://schemas.openxmlformats.org/drawingml/2006/main">
            <a:r>
              <a:t>- **Slogan**: Know, Start, Keep, Build, Learn.</a:t>
            </a:r>
          </a:p>
          <a:p xmlns:a="http://schemas.openxmlformats.org/drawingml/2006/main">
            <a:r>
              <a:t/>
            </a:r>
          </a:p>
          <a:p xmlns:a="http://schemas.openxmlformats.org/drawingml/2006/main">
            <a:r>
              <a:t>**Member 12 | Cai Yaohua**</a:t>
            </a:r>
          </a:p>
          <a:p xmlns:a="http://schemas.openxmlformats.org/drawingml/2006/main">
            <a:r>
              <a:t/>
            </a:r>
          </a:p>
          <a:p xmlns:a="http://schemas.openxmlformats.org/drawingml/2006/main">
            <a:r>
              <a:t>- **Student ID**: 832401302</a:t>
            </a:r>
          </a:p>
          <a:p xmlns:a="http://schemas.openxmlformats.org/drawingml/2006/main">
            <a:r>
              <a:t>- **CSDN**: [Cai Yaohua's csdn](https://blog.csdn.net/2401_88085295?type=blog)</a:t>
            </a:r>
          </a:p>
          <a:p xmlns:a="http://schemas.openxmlformats.org/drawingml/2006/main">
            <a:r>
              <a:t>- **Personality**: Good at communication, patient in debugging, strong teamwork spirit</a:t>
            </a:r>
          </a:p>
          <a:p xmlns:a="http://schemas.openxmlformats.org/drawingml/2006/main">
            <a:r>
              <a:t>- **Technical Expertise**: C language, Python, data structures</a:t>
            </a:r>
          </a:p>
          <a:p xmlns:a="http://schemas.openxmlformats.org/drawingml/2006/main">
            <a:r>
              <a:t>- **Hobbies**: Gaming, basketball, exploring new tools</a:t>
            </a:r>
          </a:p>
          <a:p xmlns:a="http://schemas.openxmlformats.org/drawingml/2006/main">
            <a:r>
              <a:t>- **Role**: Algorithm</a:t>
            </a:r>
          </a:p>
          <a:p xmlns:a="http://schemas.openxmlformats.org/drawingml/2006/main">
            <a:r>
              <a:t>- **Slogan**: Iterate steadily, deliver reliably</a:t>
            </a:r>
          </a:p>
          <a:p xmlns:a="http://schemas.openxmlformats.org/drawingml/2006/main">
            <a:r>
              <a:t/>
            </a:r>
          </a:p>
          <a:p xmlns:a="http://schemas.openxmlformats.org/drawingml/2006/main">
            <a:r>
              <a:t>**Member 13 | Wang Shaojie**</a:t>
            </a:r>
          </a:p>
          <a:p xmlns:a="http://schemas.openxmlformats.org/drawingml/2006/main">
            <a:r>
              <a:t/>
            </a:r>
          </a:p>
          <a:p xmlns:a="http://schemas.openxmlformats.org/drawingml/2006/main">
            <a:r>
              <a:t>- **Student ID**: 832401219</a:t>
            </a:r>
          </a:p>
          <a:p xmlns:a="http://schemas.openxmlformats.org/drawingml/2006/main">
            <a:r>
              <a:t>- **CSDN**: [Wang Shaojie's csdn](https://blog.csdn.net/2601_97073737)</a:t>
            </a:r>
          </a:p>
          <a:p xmlns:a="http://schemas.openxmlformats.org/drawingml/2006/main">
            <a:r>
              <a:t>- **Personality**: Careful and rigorous, patient, responsible</a:t>
            </a:r>
          </a:p>
          <a:p xmlns:a="http://schemas.openxmlformats.org/drawingml/2006/main">
            <a:r>
              <a:t>- **Technical Expertise**: Functional testing and test case design</a:t>
            </a:r>
          </a:p>
          <a:p xmlns:a="http://schemas.openxmlformats.org/drawingml/2006/main">
            <a:r>
              <a:t>- **Hobbies**: Sports, listening to music</a:t>
            </a:r>
          </a:p>
          <a:p xmlns:a="http://schemas.openxmlformats.org/drawingml/2006/main">
            <a:r>
              <a:t>- **Role**: Testing</a:t>
            </a:r>
          </a:p>
          <a:p xmlns:a="http://schemas.openxmlformats.org/drawingml/2006/main">
            <a:r>
              <a:t>- **Slogan**: Quality is not an act, it is a habit.</a:t>
            </a:r>
          </a:p>
          <a:p xmlns:a="http://schemas.openxmlformats.org/drawingml/2006/main">
            <a:r>
              <a:t/>
            </a:r>
          </a:p>
          <a:p xmlns:a="http://schemas.openxmlformats.org/drawingml/2006/main">
            <a:r>
              <a:t>### 1.3 Team Vision</a:t>
            </a:r>
          </a:p>
          <a:p xmlns:a="http://schemas.openxmlformats.org/drawingml/2006/main">
            <a:r>
              <a:t/>
            </a:r>
          </a:p>
          <a:p xmlns:a="http://schemas.openxmlformats.org/drawingml/2006/main">
            <a:r>
              <a:t>We chose the Sports Buddy platform because of a real pain point: **students want to exercise, but it is hard to find partners who match in time, skill and location, and who show up.**</a:t>
            </a:r>
          </a:p>
          <a:p xmlns:a="http://schemas.openxmlformats.org/drawingml/2006/main">
            <a:r>
              <a:t/>
            </a:r>
          </a:p>
          <a:p xmlns:a="http://schemas.openxmlformats.org/drawingml/2006/main">
            <a:r>
              <a:t>Our vision can be summed up in three words — **"约得到，约得好，约得准"** — buddy up, easily; buddy up, well; buddy up, precisely:</a:t>
            </a:r>
          </a:p>
          <a:p xmlns:a="http://schemas.openxmlformats.org/drawingml/2006/main">
            <a:r>
              <a:t/>
            </a:r>
          </a:p>
          <a:p xmlns:a="http://schemas.openxmlformats.org/drawingml/2006/main">
            <a:r>
              <a:t>1. **Buddy up, easily (约得到)**: with activity creation, browsing and sign-up, anyone who wants to exercise can always find someone to go with, turning "wanting to exercise" into "actually exercising".</a:t>
            </a:r>
          </a:p>
          <a:p xmlns:a="http://schemas.openxmlformats.org/drawingml/2006/main">
            <a:r>
              <a:t/>
            </a:r>
          </a:p>
          <a:p xmlns:a="http://schemas.openxmlformats.org/drawingml/2006/main">
            <a:r>
              <a:t>2. **Buddy up, well (约得好)**: the reliability score and mutual reviews reduce no-shows and skill mismatches, so the small frustrations of group sports become fewer and fewer.</a:t>
            </a:r>
          </a:p>
          <a:p xmlns:a="http://schemas.openxmlformats.org/drawingml/2006/main">
            <a:r>
              <a:t/>
            </a:r>
          </a:p>
          <a:p xmlns:a="http://schemas.openxmlformats.org/drawingml/2006/main">
            <a:r>
              <a:t>3. **Buddy up, precisely (约得准)**: smart matching and one-line activity creation connect you with the right partner — the right time, the right skill level, the right place.</a:t>
            </a:r>
          </a:p>
          <a:p xmlns:a="http://schemas.openxmlformats.org/drawingml/2006/main">
            <a:r>
              <a:t/>
            </a:r>
          </a:p>
          <a:p xmlns:a="http://schemas.openxmlformats.org/drawingml/2006/main">
            <a:r>
              <a:t>We don't pursue being large and all-inclusive; instead we **first make one campus truly usable**, build a product that "really works and people want to use", and later extend it to more universities, societies and communities.</a:t>
            </a:r>
          </a:p>
          <a:p xmlns:a="http://schemas.openxmlformats.org/drawingml/2006/main">
            <a:r>
              <a:t/>
            </a:r>
          </a:p>
          <a:p xmlns:a="http://schemas.openxmlformats.org/drawingml/2006/main">
            <a:r>
              <a:t>### 1.4 Team Photo</a:t>
            </a:r>
          </a:p>
          <a:p xmlns:a="http://schemas.openxmlformats.org/drawingml/2006/main">
            <a:r>
              <a:t/>
            </a:r>
          </a:p>
          <a:p xmlns:a="http://schemas.openxmlformats.org/drawingml/2006/main">
            <a:r>
              <a:t>![Team Photo](https://i-blog.csdnimg.cn/communtity/8bbe7087dda344cba2f1cd9fe7ea5c54.jpeg)</a:t>
            </a:r>
          </a:p>
          <a:p xmlns:a="http://schemas.openxmlformats.org/drawingml/2006/main">
            <a:r>
              <a:t/>
            </a:r>
          </a:p>
          <a:p xmlns:a="http://schemas.openxmlformats.org/drawingml/2006/main">
            <a:r>
              <a:t>### 1.5 Team Logo</a:t>
            </a:r>
          </a:p>
          <a:p xmlns:a="http://schemas.openxmlformats.org/drawingml/2006/main">
            <a:r>
              <a:t/>
            </a:r>
          </a:p>
          <a:p xmlns:a="http://schemas.openxmlformats.org/drawingml/2006/main">
            <a:r>
              <a:t>![Team Logo](https://i-blog.csdnimg.cn/communtity/2c168e7537e24ca18b60b31cb3b703d5.jpeg)</a:t>
            </a:r>
          </a:p>
          <a:p xmlns:a="http://schemas.openxmlformats.org/drawingml/2006/main">
            <a:r>
              <a:t/>
            </a:r>
          </a:p>
          <a:p xmlns:a="http://schemas.openxmlformats.org/drawingml/2006/main">
            <a:r>
              <a:t>The Falcons logo is built on the outline of a diving falcon's wings, blending the falcon's sharpness and boldness with a confident, vivid anthropomorphic image. The warm-gold wings symbolize glory and speed; the asymmetrical eyes signify insight into the target and composure in the face of challenges; the bright smile represents the team's optimism and cohesion. Overall, it conveys the Falcon spirit: firm goals, swift breakthroughs and unity in moving forward — keeping passion and confidence through every challenge.</a:t>
            </a:r>
          </a:p>
          <a:p xmlns:a="http://schemas.openxmlformats.org/drawingml/2006/main">
            <a:r>
              <a:t/>
            </a:r>
          </a:p>
          <a:p xmlns:a="http://schemas.openxmlformats.org/drawingml/2006/main">
            <a:r>
              <a:t>---</a:t>
            </a:r>
          </a:p>
          <a:p xmlns:a="http://schemas.openxmlformats.org/drawingml/2006/main">
            <a:r>
              <a:t/>
            </a:r>
          </a:p>
          <a:p xmlns:a="http://schemas.openxmlformats.org/drawingml/2006/main">
            <a:r>
              <a:t>Logo: user-provided original JPEG. Team photo is included in the opening team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 Huang Zhiyuan — Team Lead**</a:t>
            </a:r>
          </a:p>
          <a:p xmlns:a="http://schemas.openxmlformats.org/drawingml/2006/main">
            <a:r>
              <a:t/>
            </a:r>
          </a:p>
          <a:p xmlns:a="http://schemas.openxmlformats.org/drawingml/2006/main">
            <a:r>
              <a:t>- **Student ID**: 832401112</a:t>
            </a:r>
          </a:p>
          <a:p xmlns:a="http://schemas.openxmlformats.org/drawingml/2006/main">
            <a:r>
              <a:t>- **CSDN**: [Huang Zhiyuan's csdn](https://blog.csdn.net/weixin_61182186)</a:t>
            </a:r>
          </a:p>
          <a:p xmlns:a="http://schemas.openxmlformats.org/drawingml/2006/main">
            <a:r>
              <a:t>- **Personality**: Responsible, well-organized, and good at communication and coordination; focused on keeping a steady pace and following through on tasks</a:t>
            </a:r>
          </a:p>
          <a:p xmlns:a="http://schemas.openxmlformats.org/drawingml/2006/main">
            <a:r>
              <a:t>- **Technical Expertise**: Scheduling and progress control, project management; JavaWeb backend development and MySQL database design</a:t>
            </a:r>
          </a:p>
          <a:p xmlns:a="http://schemas.openxmlformats.org/drawingml/2006/main">
            <a:r>
              <a:t>- **Hobbies**: Sports (basketball, etc.)</a:t>
            </a:r>
          </a:p>
          <a:p xmlns:a="http://schemas.openxmlformats.org/drawingml/2006/main">
            <a:r>
              <a:t>- **Role**: Project Management (Team Lead)</a:t>
            </a:r>
          </a:p>
          <a:p xmlns:a="http://schemas.openxmlformats.org/drawingml/2006/main">
            <a:r>
              <a:t>- **Slogan**: Never stop</a:t>
            </a:r>
          </a:p>
          <a:p xmlns:a="http://schemas.openxmlformats.org/drawingml/2006/main">
            <a:r>
              <a:t/>
            </a:r>
          </a:p>
          <a:p xmlns:a="http://schemas.openxmlformats.org/drawingml/2006/main">
            <a:r>
              <a:t/>
            </a:r>
          </a:p>
          <a:p xmlns:a="http://schemas.openxmlformats.org/drawingml/2006/main">
            <a:r>
              <a:t>**Member 2 | Zhang Zile**</a:t>
            </a:r>
          </a:p>
          <a:p xmlns:a="http://schemas.openxmlformats.org/drawingml/2006/main">
            <a:r>
              <a:t/>
            </a:r>
          </a:p>
          <a:p xmlns:a="http://schemas.openxmlformats.org/drawingml/2006/main">
            <a:r>
              <a:t>- **Student ID**: 832401325</a:t>
            </a:r>
          </a:p>
          <a:p xmlns:a="http://schemas.openxmlformats.org/drawingml/2006/main">
            <a:r>
              <a:t>- **CSDN**: [Zhang Zile's csdn](https://blog.csdn.net/m0_61183889)</a:t>
            </a:r>
          </a:p>
          <a:p xmlns:a="http://schemas.openxmlformats.org/drawingml/2006/main">
            <a:r>
              <a:t>- **Personality**: Optimistic</a:t>
            </a:r>
          </a:p>
          <a:p xmlns:a="http://schemas.openxmlformats.org/drawingml/2006/main">
            <a:r>
              <a:t>- **Technical Expertise**: Full-stack development</a:t>
            </a:r>
          </a:p>
          <a:p xmlns:a="http://schemas.openxmlformats.org/drawingml/2006/main">
            <a:r>
              <a:t>- **Hobbies**: Music, video games, F1</a:t>
            </a:r>
          </a:p>
          <a:p xmlns:a="http://schemas.openxmlformats.org/drawingml/2006/main">
            <a:r>
              <a:t>- **Role**: Product Requirements</a:t>
            </a:r>
          </a:p>
          <a:p xmlns:a="http://schemas.openxmlformats.org/drawingml/2006/main">
            <a:r>
              <a:t>- **Slogan**: Simply, Lovely.</a:t>
            </a:r>
          </a:p>
          <a:p xmlns:a="http://schemas.openxmlformats.org/drawingml/2006/main">
            <a:r>
              <a:t/>
            </a:r>
          </a:p>
          <a:p xmlns:a="http://schemas.openxmlformats.org/drawingml/2006/main">
            <a:r>
              <a:t/>
            </a:r>
          </a:p>
          <a:p xmlns:a="http://schemas.openxmlformats.org/drawingml/2006/main">
            <a:r>
              <a:t>**Member 3 | Ye Yifan**</a:t>
            </a:r>
          </a:p>
          <a:p xmlns:a="http://schemas.openxmlformats.org/drawingml/2006/main">
            <a:r>
              <a:t/>
            </a:r>
          </a:p>
          <a:p xmlns:a="http://schemas.openxmlformats.org/drawingml/2006/main">
            <a:r>
              <a:t>- **Student ID**: 832401321</a:t>
            </a:r>
          </a:p>
          <a:p xmlns:a="http://schemas.openxmlformats.org/drawingml/2006/main">
            <a:r>
              <a:t>- **CSDN**: [Ye Yifan's csdn](https://blog.csdn.net/2401_88098790?type=blog)</a:t>
            </a:r>
          </a:p>
          <a:p xmlns:a="http://schemas.openxmlformats.org/drawingml/2006/main">
            <a:r>
              <a:t>- **Personality**: Optimistic and eager to learn, proactive and enterprising</a:t>
            </a:r>
          </a:p>
          <a:p xmlns:a="http://schemas.openxmlformats.org/drawingml/2006/main">
            <a:r>
              <a:t>- **Technical Expertise**: Data design, page layout, functional research</a:t>
            </a:r>
          </a:p>
          <a:p xmlns:a="http://schemas.openxmlformats.org/drawingml/2006/main">
            <a:r>
              <a:t>- **Hobbies**: Computer games</a:t>
            </a:r>
          </a:p>
          <a:p xmlns:a="http://schemas.openxmlformats.org/drawingml/2006/main">
            <a:r>
              <a:t>- **Role**: Product Requirements</a:t>
            </a:r>
          </a:p>
          <a:p xmlns:a="http://schemas.openxmlformats.org/drawingml/2006/main">
            <a:r>
              <a:t>- **Slogan**: Your opponent's always been somebody else you would've known</a:t>
            </a:r>
          </a:p>
          <a:p xmlns:a="http://schemas.openxmlformats.org/drawingml/2006/main">
            <a:r>
              <a:t/>
            </a:r>
          </a:p>
          <a:p xmlns:a="http://schemas.openxmlformats.org/drawingml/2006/main">
            <a:r>
              <a:t/>
            </a:r>
          </a:p>
          <a:p xmlns:a="http://schemas.openxmlformats.org/drawingml/2006/main">
            <a:r>
              <a:t>**Member 4 | Lin Zijun**</a:t>
            </a:r>
          </a:p>
          <a:p xmlns:a="http://schemas.openxmlformats.org/drawingml/2006/main">
            <a:r>
              <a:t/>
            </a:r>
          </a:p>
          <a:p xmlns:a="http://schemas.openxmlformats.org/drawingml/2006/main">
            <a:r>
              <a:t>- **Student ID**: 832401311</a:t>
            </a:r>
          </a:p>
          <a:p xmlns:a="http://schemas.openxmlformats.org/drawingml/2006/main">
            <a:r>
              <a:t>- **CSDN**: [Lin Zijun's csdn](https://blog.csdn.net/2401_88072365?spm=1010.2135.3001.5343)</a:t>
            </a:r>
          </a:p>
          <a:p xmlns:a="http://schemas.openxmlformats.org/drawingml/2006/main">
            <a:r>
              <a:t>- **Personality**: Careful, patient</a:t>
            </a:r>
          </a:p>
          <a:p xmlns:a="http://schemas.openxmlformats.org/drawingml/2006/main">
            <a:r>
              <a:t>- **Technical Expertise**: API development, database, page layout</a:t>
            </a:r>
          </a:p>
          <a:p xmlns:a="http://schemas.openxmlformats.org/drawingml/2006/main">
            <a:r>
              <a:t>- **Hobbies**: Singing, gaming</a:t>
            </a:r>
          </a:p>
          <a:p xmlns:a="http://schemas.openxmlformats.org/drawingml/2006/main">
            <a:r>
              <a:t>- **Role**: Frontend Development</a:t>
            </a:r>
          </a:p>
          <a:p xmlns:a="http://schemas.openxmlformats.org/drawingml/2006/main">
            <a:r>
              <a:t>- **Slogan**: Patient is the key to life.</a:t>
            </a:r>
          </a:p>
          <a:p xmlns:a="http://schemas.openxmlformats.org/drawingml/2006/main">
            <a:r>
              <a:t/>
            </a:r>
          </a:p>
          <a:p xmlns:a="http://schemas.openxmlformats.org/drawingml/2006/main">
            <a:r>
              <a:t/>
            </a:r>
          </a:p>
          <a:p xmlns:a="http://schemas.openxmlformats.org/drawingml/2006/main">
            <a:r>
              <a:t>**Member 5 | Li Zhenhao**</a:t>
            </a:r>
          </a:p>
          <a:p xmlns:a="http://schemas.openxmlformats.org/drawingml/2006/main">
            <a:r>
              <a:t/>
            </a:r>
          </a:p>
          <a:p xmlns:a="http://schemas.openxmlformats.org/drawingml/2006/main">
            <a:r>
              <a:t>- **Student ID**: 832401310</a:t>
            </a:r>
          </a:p>
          <a:p xmlns:a="http://schemas.openxmlformats.org/drawingml/2006/main">
            <a:r>
              <a:t>- **CSDN**: [Li Zhenhao's csdn](https://blog.csdn.net/outs_tand_ing?type=blog)</a:t>
            </a:r>
          </a:p>
          <a:p xmlns:a="http://schemas.openxmlformats.org/drawingml/2006/main">
            <a:r>
              <a:t>- **Personality**: Diligent, careful</a:t>
            </a:r>
          </a:p>
          <a:p xmlns:a="http://schemas.openxmlformats.org/drawingml/2006/main">
            <a:r>
              <a:t>- **Technical Expertise**: Page layout, component development, interactive implementation</a:t>
            </a:r>
          </a:p>
          <a:p xmlns:a="http://schemas.openxmlformats.org/drawingml/2006/main">
            <a:r>
              <a:t>- **Hobbies**: Listening to music, playing basketball</a:t>
            </a:r>
          </a:p>
          <a:p xmlns:a="http://schemas.openxmlformats.org/drawingml/2006/main">
            <a:r>
              <a:t>- **Role**: Frontend Development</a:t>
            </a:r>
          </a:p>
          <a:p xmlns:a="http://schemas.openxmlformats.org/drawingml/2006/main">
            <a:r>
              <a:t>- **Slogan**: Keep trying and make constant breakthroughs</a:t>
            </a:r>
          </a:p>
          <a:p xmlns:a="http://schemas.openxmlformats.org/drawingml/2006/main">
            <a:r>
              <a:t/>
            </a:r>
          </a:p>
          <a:p xmlns:a="http://schemas.openxmlformats.org/drawingml/2006/main">
            <a:r>
              <a:t/>
            </a:r>
          </a:p>
          <a:p xmlns:a="http://schemas.openxmlformats.org/drawingml/2006/main">
            <a:r>
              <a:t>**Member 6 | Li Haoze**</a:t>
            </a:r>
          </a:p>
          <a:p xmlns:a="http://schemas.openxmlformats.org/drawingml/2006/main">
            <a:r>
              <a:t/>
            </a:r>
          </a:p>
          <a:p xmlns:a="http://schemas.openxmlformats.org/drawingml/2006/main">
            <a:r>
              <a:t>- **Student ID**: 832401309</a:t>
            </a:r>
          </a:p>
          <a:p xmlns:a="http://schemas.openxmlformats.org/drawingml/2006/main">
            <a:r>
              <a:t>- **CSDN**: [Li Haoze's csdn](https://blog.csdn.net/2603_97088533?type=blog)</a:t>
            </a:r>
          </a:p>
          <a:p xmlns:a="http://schemas.openxmlformats.org/drawingml/2006/main">
            <a:r>
              <a:t>- **Personality**: Hardworking and patient, conscientious at work</a:t>
            </a:r>
          </a:p>
          <a:p xmlns:a="http://schemas.openxmlformats.org/drawingml/2006/main">
            <a:r>
              <a:t>- **Technical Expertise**: Full-stack development</a:t>
            </a:r>
          </a:p>
          <a:p xmlns:a="http://schemas.openxmlformats.org/drawingml/2006/main">
            <a:r>
              <a:t>- **Hobbies**: Music</a:t>
            </a:r>
          </a:p>
          <a:p xmlns:a="http://schemas.openxmlformats.org/drawingml/2006/main">
            <a:r>
              <a:t>- **Role**: Frontend Development</a:t>
            </a:r>
          </a:p>
          <a:p xmlns:a="http://schemas.openxmlformats.org/drawingml/2006/main">
            <a:r>
              <a:t>- **Slogan**: Write robust code, solve real-world problems with care.</a:t>
            </a:r>
          </a:p>
          <a:p xmlns:a="http://schemas.openxmlformats.org/drawingml/2006/main">
            <a:r>
              <a:t/>
            </a:r>
          </a:p>
          <a:p xmlns:a="http://schemas.openxmlformats.org/drawingml/2006/main">
            <a:r>
              <a:t/>
            </a:r>
          </a:p>
          <a:p xmlns:a="http://schemas.openxmlformats.org/drawingml/2006/main">
            <a:r>
              <a:t>**Member 7 | He Jinghao**</a:t>
            </a:r>
          </a:p>
          <a:p xmlns:a="http://schemas.openxmlformats.org/drawingml/2006/main">
            <a:r>
              <a:t/>
            </a:r>
          </a:p>
          <a:p xmlns:a="http://schemas.openxmlformats.org/drawingml/2006/main">
            <a:r>
              <a:t>- **Student ID**: 832401307</a:t>
            </a:r>
          </a:p>
          <a:p xmlns:a="http://schemas.openxmlformats.org/drawingml/2006/main">
            <a:r>
              <a:t>- **CSDN**: [He Jinghao's csdn](https://blog.csdn.net/2603_97055950)</a:t>
            </a:r>
          </a:p>
          <a:p xmlns:a="http://schemas.openxmlformats.org/drawingml/2006/main">
            <a:r>
              <a:t>- **Personality**: Patient, good at communication</a:t>
            </a:r>
          </a:p>
          <a:p xmlns:a="http://schemas.openxmlformats.org/drawingml/2006/main">
            <a:r>
              <a:t>- **Technical Expertise**: UI restoration, basic JavaScript interaction debugging</a:t>
            </a:r>
          </a:p>
          <a:p xmlns:a="http://schemas.openxmlformats.org/drawingml/2006/main">
            <a:r>
              <a:t>- **Hobbies**: Browsing UI design works, listening to music</a:t>
            </a:r>
          </a:p>
          <a:p xmlns:a="http://schemas.openxmlformats.org/drawingml/2006/main">
            <a:r>
              <a:t>- **Role**: Frontend Development</a:t>
            </a:r>
          </a:p>
          <a:p xmlns:a="http://schemas.openxmlformats.org/drawingml/2006/main">
            <a:r>
              <a:t>- **Slogan**: Hard work pays off; earnest labor never deceives.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8 | Zhang Jingtian**</a:t>
            </a:r>
          </a:p>
          <a:p xmlns:a="http://schemas.openxmlformats.org/drawingml/2006/main">
            <a:r>
              <a:t/>
            </a:r>
          </a:p>
          <a:p xmlns:a="http://schemas.openxmlformats.org/drawingml/2006/main">
            <a:r>
              <a:t>- **Student ID**: 832401323</a:t>
            </a:r>
          </a:p>
          <a:p xmlns:a="http://schemas.openxmlformats.org/drawingml/2006/main">
            <a:r>
              <a:t>- **CSDN**: [Zhang Jingtian's csdn](https://blog.csdn.net/2603_97140630?type=bbs)</a:t>
            </a:r>
          </a:p>
          <a:p xmlns:a="http://schemas.openxmlformats.org/drawingml/2006/main">
            <a:r>
              <a:t>- **Personality**: Optimistic and eager to learn, accommodating</a:t>
            </a:r>
          </a:p>
          <a:p xmlns:a="http://schemas.openxmlformats.org/drawingml/2006/main">
            <a:r>
              <a:t>- **Technical Expertise**: Code debugging, function design</a:t>
            </a:r>
          </a:p>
          <a:p xmlns:a="http://schemas.openxmlformats.org/drawingml/2006/main">
            <a:r>
              <a:t>- **Hobbies**: Reading novels</a:t>
            </a:r>
          </a:p>
          <a:p xmlns:a="http://schemas.openxmlformats.org/drawingml/2006/main">
            <a:r>
              <a:t>- **Role**: Backend Development</a:t>
            </a:r>
          </a:p>
          <a:p xmlns:a="http://schemas.openxmlformats.org/drawingml/2006/main">
            <a:r>
              <a:t>- **Slogan**: Technology drives the world</a:t>
            </a:r>
          </a:p>
          <a:p xmlns:a="http://schemas.openxmlformats.org/drawingml/2006/main">
            <a:r>
              <a:t/>
            </a:r>
          </a:p>
          <a:p xmlns:a="http://schemas.openxmlformats.org/drawingml/2006/main">
            <a:r>
              <a:t/>
            </a:r>
          </a:p>
          <a:p xmlns:a="http://schemas.openxmlformats.org/drawingml/2006/main">
            <a:r>
              <a:t>**Member 9 | Yu Chenghao**</a:t>
            </a:r>
          </a:p>
          <a:p xmlns:a="http://schemas.openxmlformats.org/drawingml/2006/main">
            <a:r>
              <a:t/>
            </a:r>
          </a:p>
          <a:p xmlns:a="http://schemas.openxmlformats.org/drawingml/2006/main">
            <a:r>
              <a:t>- **Student ID**: 832401322</a:t>
            </a:r>
          </a:p>
          <a:p xmlns:a="http://schemas.openxmlformats.org/drawingml/2006/main">
            <a:r>
              <a:t>- **CSDN**: [Yu Chenghao's csdn](https://blog.csdn.net/2601_97148386?type=blogCommunity)</a:t>
            </a:r>
          </a:p>
          <a:p xmlns:a="http://schemas.openxmlformats.org/drawingml/2006/main">
            <a:r>
              <a:t>- **Personality**: Hardworking, patient</a:t>
            </a:r>
          </a:p>
          <a:p xmlns:a="http://schemas.openxmlformats.org/drawingml/2006/main">
            <a:r>
              <a:t>- **Technical Expertise**: API development, database, service deployment</a:t>
            </a:r>
          </a:p>
          <a:p xmlns:a="http://schemas.openxmlformats.org/drawingml/2006/main">
            <a:r>
              <a:t>- **Hobbies**: Listening to music, gaming</a:t>
            </a:r>
          </a:p>
          <a:p xmlns:a="http://schemas.openxmlformats.org/drawingml/2006/main">
            <a:r>
              <a:t>- **Role**: Backend Development</a:t>
            </a:r>
          </a:p>
          <a:p xmlns:a="http://schemas.openxmlformats.org/drawingml/2006/main">
            <a:r>
              <a:t>- **Slogan**: Slow progress is still progress.</a:t>
            </a:r>
          </a:p>
          <a:p xmlns:a="http://schemas.openxmlformats.org/drawingml/2006/main">
            <a:r>
              <a:t/>
            </a:r>
          </a:p>
          <a:p xmlns:a="http://schemas.openxmlformats.org/drawingml/2006/main">
            <a:r>
              <a:t/>
            </a:r>
          </a:p>
          <a:p xmlns:a="http://schemas.openxmlformats.org/drawingml/2006/main">
            <a:r>
              <a:t>**Member 10 | Zhang Xinyu**</a:t>
            </a:r>
          </a:p>
          <a:p xmlns:a="http://schemas.openxmlformats.org/drawingml/2006/main">
            <a:r>
              <a:t/>
            </a:r>
          </a:p>
          <a:p xmlns:a="http://schemas.openxmlformats.org/drawingml/2006/main">
            <a:r>
              <a:t>- **Student ID**: 832401324</a:t>
            </a:r>
          </a:p>
          <a:p xmlns:a="http://schemas.openxmlformats.org/drawingml/2006/main">
            <a:r>
              <a:t>- **CSDN**: [Zhang Xinyu's csdn](https://blog.csdn.net/HEBEI_Story?spm=1035.2248.3001.5343)</a:t>
            </a:r>
          </a:p>
          <a:p xmlns:a="http://schemas.openxmlformats.org/drawingml/2006/main">
            <a:r>
              <a:t>- **Personality**: Self-motivated, detail-oriented, logical thinking, problem-solving</a:t>
            </a:r>
          </a:p>
          <a:p xmlns:a="http://schemas.openxmlformats.org/drawingml/2006/main">
            <a:r>
              <a:t>- **Technical Expertise**: API development, database design, interactive implementation</a:t>
            </a:r>
          </a:p>
          <a:p xmlns:a="http://schemas.openxmlformats.org/drawingml/2006/main">
            <a:r>
              <a:t>- **Hobbies**: Fitness, music, basketball, games</a:t>
            </a:r>
          </a:p>
          <a:p xmlns:a="http://schemas.openxmlformats.org/drawingml/2006/main">
            <a:r>
              <a:t>- **Role**: Backend Development</a:t>
            </a:r>
          </a:p>
          <a:p xmlns:a="http://schemas.openxmlformats.org/drawingml/2006/main">
            <a:r>
              <a:t>- **Slogan**: Keep thinking, keep building.</a:t>
            </a:r>
          </a:p>
          <a:p xmlns:a="http://schemas.openxmlformats.org/drawingml/2006/main">
            <a:r>
              <a:t/>
            </a:r>
          </a:p>
          <a:p xmlns:a="http://schemas.openxmlformats.org/drawingml/2006/main">
            <a:r>
              <a:t/>
            </a:r>
          </a:p>
          <a:p xmlns:a="http://schemas.openxmlformats.org/drawingml/2006/main">
            <a:r>
              <a:t>**Member 11 | Xu Boyu**</a:t>
            </a:r>
          </a:p>
          <a:p xmlns:a="http://schemas.openxmlformats.org/drawingml/2006/main">
            <a:r>
              <a:t/>
            </a:r>
          </a:p>
          <a:p xmlns:a="http://schemas.openxmlformats.org/drawingml/2006/main">
            <a:r>
              <a:t>- **Student ID**: 832401320</a:t>
            </a:r>
          </a:p>
          <a:p xmlns:a="http://schemas.openxmlformats.org/drawingml/2006/main">
            <a:r>
              <a:t>- **CSDN**: [Xu Boyu's csdn](https://blog.csdn.net/2401_87119205?type=blog)</a:t>
            </a:r>
          </a:p>
          <a:p xmlns:a="http://schemas.openxmlformats.org/drawingml/2006/main">
            <a:r>
              <a:t>- **Personality**: Diligent and patient, with a steady, detail-oriented approach to work</a:t>
            </a:r>
          </a:p>
          <a:p xmlns:a="http://schemas.openxmlformats.org/drawingml/2006/main">
            <a:r>
              <a:t>- **Technical Expertise**: API development, database design, service deployment</a:t>
            </a:r>
          </a:p>
          <a:p xmlns:a="http://schemas.openxmlformats.org/drawingml/2006/main">
            <a:r>
              <a:t>- **Hobbies**: Sleeping</a:t>
            </a:r>
          </a:p>
          <a:p xmlns:a="http://schemas.openxmlformats.org/drawingml/2006/main">
            <a:r>
              <a:t>- **Role**: Backend Development</a:t>
            </a:r>
          </a:p>
          <a:p xmlns:a="http://schemas.openxmlformats.org/drawingml/2006/main">
            <a:r>
              <a:t>- **Slogan**: Know, Start, Keep, Build, Learn.</a:t>
            </a:r>
          </a:p>
          <a:p xmlns:a="http://schemas.openxmlformats.org/drawingml/2006/main">
            <a:r>
              <a:t/>
            </a:r>
          </a:p>
          <a:p xmlns:a="http://schemas.openxmlformats.org/drawingml/2006/main">
            <a:r>
              <a:t/>
            </a:r>
          </a:p>
          <a:p xmlns:a="http://schemas.openxmlformats.org/drawingml/2006/main">
            <a:r>
              <a:t>**Member 12 | Cai Yaohua**</a:t>
            </a:r>
          </a:p>
          <a:p xmlns:a="http://schemas.openxmlformats.org/drawingml/2006/main">
            <a:r>
              <a:t/>
            </a:r>
          </a:p>
          <a:p xmlns:a="http://schemas.openxmlformats.org/drawingml/2006/main">
            <a:r>
              <a:t>- **Student ID**: 832401302</a:t>
            </a:r>
          </a:p>
          <a:p xmlns:a="http://schemas.openxmlformats.org/drawingml/2006/main">
            <a:r>
              <a:t>- **CSDN**: [Cai Yaohua's csdn](https://blog.csdn.net/2401_88085295?type=blog)</a:t>
            </a:r>
          </a:p>
          <a:p xmlns:a="http://schemas.openxmlformats.org/drawingml/2006/main">
            <a:r>
              <a:t>- **Personality**: Good at communication, patient in debugging, strong teamwork spirit</a:t>
            </a:r>
          </a:p>
          <a:p xmlns:a="http://schemas.openxmlformats.org/drawingml/2006/main">
            <a:r>
              <a:t>- **Technical Expertise**: C language, Python, data structures</a:t>
            </a:r>
          </a:p>
          <a:p xmlns:a="http://schemas.openxmlformats.org/drawingml/2006/main">
            <a:r>
              <a:t>- **Hobbies**: Gaming, basketball, exploring new tools</a:t>
            </a:r>
          </a:p>
          <a:p xmlns:a="http://schemas.openxmlformats.org/drawingml/2006/main">
            <a:r>
              <a:t>- **Role**: Algorithm</a:t>
            </a:r>
          </a:p>
          <a:p xmlns:a="http://schemas.openxmlformats.org/drawingml/2006/main">
            <a:r>
              <a:t>- **Slogan**: Iterate steadily, deliver reliably</a:t>
            </a:r>
          </a:p>
          <a:p xmlns:a="http://schemas.openxmlformats.org/drawingml/2006/main">
            <a:r>
              <a:t/>
            </a:r>
          </a:p>
          <a:p xmlns:a="http://schemas.openxmlformats.org/drawingml/2006/main">
            <a:r>
              <a:t/>
            </a:r>
          </a:p>
          <a:p xmlns:a="http://schemas.openxmlformats.org/drawingml/2006/main">
            <a:r>
              <a:t>**Member 13 | Wang Shaojie**</a:t>
            </a:r>
          </a:p>
          <a:p xmlns:a="http://schemas.openxmlformats.org/drawingml/2006/main">
            <a:r>
              <a:t/>
            </a:r>
          </a:p>
          <a:p xmlns:a="http://schemas.openxmlformats.org/drawingml/2006/main">
            <a:r>
              <a:t>- **Student ID**: 832401219</a:t>
            </a:r>
          </a:p>
          <a:p xmlns:a="http://schemas.openxmlformats.org/drawingml/2006/main">
            <a:r>
              <a:t>- **CSDN**: [Wang Shaojie's csdn](https://blog.csdn.net/2601_97073737)</a:t>
            </a:r>
          </a:p>
          <a:p xmlns:a="http://schemas.openxmlformats.org/drawingml/2006/main">
            <a:r>
              <a:t>- **Personality**: Careful and rigorous, patient, responsible</a:t>
            </a:r>
          </a:p>
          <a:p xmlns:a="http://schemas.openxmlformats.org/drawingml/2006/main">
            <a:r>
              <a:t>- **Technical Expertise**: Functional testing and test case design</a:t>
            </a:r>
          </a:p>
          <a:p xmlns:a="http://schemas.openxmlformats.org/drawingml/2006/main">
            <a:r>
              <a:t>- **Hobbies**: Sports, listening to music</a:t>
            </a:r>
          </a:p>
          <a:p xmlns:a="http://schemas.openxmlformats.org/drawingml/2006/main">
            <a:r>
              <a:t>- **Role**: Testing</a:t>
            </a:r>
          </a:p>
          <a:p xmlns:a="http://schemas.openxmlformats.org/drawingml/2006/main">
            <a:r>
              <a:t>- **Slogan**: Quality is not an act, it is a habit.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4. Project Division of Labor</a:t>
            </a:r>
          </a:p>
          <a:p xmlns:a="http://schemas.openxmlformats.org/drawingml/2006/main">
            <a:r>
              <a:t/>
            </a:r>
          </a:p>
          <a:p xmlns:a="http://schemas.openxmlformats.org/drawingml/2006/main">
            <a:r>
              <a:t/>
            </a:r>
          </a:p>
          <a:p xmlns:a="http://schemas.openxmlformats.org/drawingml/2006/main">
            <a:r>
              <a:t/>
            </a:r>
          </a:p>
          <a:p xmlns:a="http://schemas.openxmlformats.org/drawingml/2006/main">
            <a:r>
              <a:t>### 4.1 Group Overview</a:t>
            </a:r>
          </a:p>
          <a:p xmlns:a="http://schemas.openxmlformats.org/drawingml/2006/main">
            <a:r>
              <a:t/>
            </a:r>
          </a:p>
          <a:p xmlns:a="http://schemas.openxmlformats.org/drawingml/2006/main">
            <a:r>
              <a:t>| Group | Members | Main Responsibilities |</a:t>
            </a:r>
          </a:p>
          <a:p xmlns:a="http://schemas.openxmlformats.org/drawingml/2006/main">
            <a:r>
              <a:t>| --- | --- | --- |</a:t>
            </a:r>
          </a:p>
          <a:p xmlns:a="http://schemas.openxmlformats.org/drawingml/2006/main">
            <a:r>
              <a:t>| Project Management | Huang Zhiyuan (Team Lead) | Scheduling, coordination, risk &amp; progress tracking, external communication |</a:t>
            </a:r>
          </a:p>
          <a:p xmlns:a="http://schemas.openxmlformats.org/drawingml/2006/main">
            <a:r>
              <a:t>| Product Requirements | Zhang Zile, Ye Yifan | User research, use cases &amp; requirements specification, prototyping |</a:t>
            </a:r>
          </a:p>
          <a:p xmlns:a="http://schemas.openxmlformats.org/drawingml/2006/main">
            <a:r>
              <a:t>| Frontend Development | Lin Zijun, Li Zhenhao, Li Haoze, He Jinghao | Pages &amp; interaction implementation, also UI design |</a:t>
            </a:r>
          </a:p>
          <a:p xmlns:a="http://schemas.openxmlformats.org/drawingml/2006/main">
            <a:r>
              <a:t>| Backend Development | Zhang Jingtian, Yu Chenghao, Zhang Xinyu, Xu Boyu | APIs, database, service deployment |</a:t>
            </a:r>
          </a:p>
          <a:p xmlns:a="http://schemas.openxmlformats.org/drawingml/2006/main">
            <a:r>
              <a:t>| Algorithm | Cai Yaohua | Activity matching, reliability scoring, LLM integration |</a:t>
            </a:r>
          </a:p>
          <a:p xmlns:a="http://schemas.openxmlformats.org/drawingml/2006/main">
            <a:r>
              <a:t>| Testing | Wang Shaojie | Test cases, defect management, release acceptance |</a:t>
            </a:r>
          </a:p>
          <a:p xmlns:a="http://schemas.openxmlformats.org/drawingml/2006/main">
            <a:r>
              <a:t/>
            </a:r>
          </a:p>
          <a:p xmlns:a="http://schemas.openxmlformats.org/drawingml/2006/main">
            <a:r>
              <a:t>### 4.2 Contribution Ratio</a:t>
            </a:r>
          </a:p>
          <a:p xmlns:a="http://schemas.openxmlformats.org/drawingml/2006/main">
            <a:r>
              <a:t/>
            </a:r>
          </a:p>
          <a:p xmlns:a="http://schemas.openxmlformats.org/drawingml/2006/main">
            <a:r>
              <a:t>All 13 members share an equal estimated contribution — **about 7.7% each, totaling 100%**. This is an **estimated** ratio; the actual score will be adjusted based on each member's cumulative performance across iterations (see the Performance Assessment section).</a:t>
            </a:r>
          </a:p>
          <a:p xmlns:a="http://schemas.openxmlformats.org/drawingml/2006/main">
            <a:r>
              <a:t/>
            </a:r>
          </a:p>
          <a:p xmlns:a="http://schemas.openxmlformats.org/drawingml/2006/main">
            <a:r>
              <a:t>| Student ID | Work Description | Contribution |</a:t>
            </a:r>
          </a:p>
          <a:p xmlns:a="http://schemas.openxmlformats.org/drawingml/2006/main">
            <a:r>
              <a:t>| --- | --- | --- |</a:t>
            </a:r>
          </a:p>
          <a:p xmlns:a="http://schemas.openxmlformats.org/drawingml/2006/main">
            <a:r>
              <a:t>| 832401112 | Huang Zhiyuan — Project Management (Team Lead): scheduling, coordination, risk &amp; progress tracking, external communication | 7.7% |</a:t>
            </a:r>
          </a:p>
          <a:p xmlns:a="http://schemas.openxmlformats.org/drawingml/2006/main">
            <a:r>
              <a:t>| 832401325 | Zhang Zile — Product Requirements: user research, use cases &amp; requirements specification | 7.7% |</a:t>
            </a:r>
          </a:p>
          <a:p xmlns:a="http://schemas.openxmlformats.org/drawingml/2006/main">
            <a:r>
              <a:t>| 832401321 | Ye Yifan — Product Requirements: data design, prototyping, functional research | 7.7% |</a:t>
            </a:r>
          </a:p>
          <a:p xmlns:a="http://schemas.openxmlformats.org/drawingml/2006/main">
            <a:r>
              <a:t>| 832401311 | Lin Zijun — Frontend Development: pages, UI, interaction | 7.7% |</a:t>
            </a:r>
          </a:p>
          <a:p xmlns:a="http://schemas.openxmlformats.org/drawingml/2006/main">
            <a:r>
              <a:t>| 832401310 | Li Zhenhao — Frontend Development: page layout, component development | 7.7% |</a:t>
            </a:r>
          </a:p>
          <a:p xmlns:a="http://schemas.openxmlformats.org/drawingml/2006/main">
            <a:r>
              <a:t>| 832401309 | Li Haoze — Frontend Development: pages, UI, interaction | 7.7% |</a:t>
            </a:r>
          </a:p>
          <a:p xmlns:a="http://schemas.openxmlformats.org/drawingml/2006/main">
            <a:r>
              <a:t>| 832401307 | He Jinghao — Frontend Development: UI restoration, interaction debugging | 7.7% |</a:t>
            </a:r>
          </a:p>
          <a:p xmlns:a="http://schemas.openxmlformats.org/drawingml/2006/main">
            <a:r>
              <a:t>| 832401323 | Zhang Jingtian — Backend Development: APIs, database, deployment | 7.7% |</a:t>
            </a:r>
          </a:p>
          <a:p xmlns:a="http://schemas.openxmlformats.org/drawingml/2006/main">
            <a:r>
              <a:t>| 832401322 | Yu Chenghao — Backend Development: APIs, database, deployment | 7.7% |</a:t>
            </a:r>
          </a:p>
          <a:p xmlns:a="http://schemas.openxmlformats.org/drawingml/2006/main">
            <a:r>
              <a:t>| 832401324 | Zhang Xinyu — Backend Development: APIs, database, deployment | 7.7% |</a:t>
            </a:r>
          </a:p>
          <a:p xmlns:a="http://schemas.openxmlformats.org/drawingml/2006/main">
            <a:r>
              <a:t>| 832401320 | Xu Boyu — Backend Development: APIs, database, deployment | 7.7% |</a:t>
            </a:r>
          </a:p>
          <a:p xmlns:a="http://schemas.openxmlformats.org/drawingml/2006/main">
            <a:r>
              <a:t>| 832401302 | Cai Yaohua — Algorithm: activity matching, reliability scoring, LLM integration | 7.7% |</a:t>
            </a:r>
          </a:p>
          <a:p xmlns:a="http://schemas.openxmlformats.org/drawingml/2006/main">
            <a:r>
              <a:t>| 832401219 | Wang Shaojie — Testing: test cases, defect management, release acceptance | 7.7% |</a:t>
            </a:r>
          </a:p>
          <a:p xmlns:a="http://schemas.openxmlformats.org/drawingml/2006/main">
            <a:r>
              <a:t/>
            </a:r>
          </a:p>
          <a:p xmlns:a="http://schemas.openxmlformats.org/drawingml/2006/main">
            <a:r>
              <a: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photo supplied in the updated Markdown. Source: https://i-blog.csdnimg.cn/communtity/8bbe7087dda344cba2f1cd9fe7ea5c54.jpeg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1. Team Introduction</a:t>
            </a:r>
          </a:p>
          <a:p xmlns:a="http://schemas.openxmlformats.org/drawingml/2006/main">
            <a:r>
              <a:t/>
            </a:r>
          </a:p>
          <a:p xmlns:a="http://schemas.openxmlformats.org/drawingml/2006/main">
            <a:r>
              <a:t/>
            </a:r>
          </a:p>
          <a:p xmlns:a="http://schemas.openxmlformats.org/drawingml/2006/main">
            <a:r>
              <a:t/>
            </a:r>
          </a:p>
          <a:p xmlns:a="http://schemas.openxmlformats.org/drawingml/2006/main">
            <a:r>
              <a:t>### 1.1 Team Name &amp; Meaning</a:t>
            </a:r>
          </a:p>
          <a:p xmlns:a="http://schemas.openxmlformats.org/drawingml/2006/main">
            <a:r>
              <a:t/>
            </a:r>
          </a:p>
          <a:p xmlns:a="http://schemas.openxmlformats.org/drawingml/2006/main">
            <a:r>
              <a:t>**Team Name: Falcons**</a:t>
            </a:r>
          </a:p>
          <a:p xmlns:a="http://schemas.openxmlformats.org/drawingml/2006/main">
            <a:r>
              <a:t/>
            </a:r>
          </a:p>
          <a:p xmlns:a="http://schemas.openxmlformats.org/drawingml/2006/main">
            <a:r>
              <a:t>Falcons have sharp eyes and strike swiftly — once a target is locked, they go all out; some falcon species are even known for cooperative hunting. Our project "Sports Buddy" is exactly about spotting the real pain point — *wanting to exercise but having no one to team up with* — and helping everyone quickly and precisely get into the right game.</a:t>
            </a:r>
          </a:p>
          <a:p xmlns:a="http://schemas.openxmlformats.org/drawingml/2006/main">
            <a:r>
              <a:t/>
            </a:r>
          </a:p>
          <a:p xmlns:a="http://schemas.openxmlformats.org/drawingml/2006/main">
            <a:r>
              <a:t>**Team Slogan**: *Buddy up — easily, well, precisely.*</a:t>
            </a:r>
          </a:p>
          <a:p xmlns:a="http://schemas.openxmlformats.org/drawingml/2006/main">
            <a:r>
              <a:t/>
            </a:r>
          </a:p>
          <a:p xmlns:a="http://schemas.openxmlformats.org/drawingml/2006/main">
            <a:r>
              <a:t>### 1.2 Team Members</a:t>
            </a:r>
          </a:p>
          <a:p xmlns:a="http://schemas.openxmlformats.org/drawingml/2006/main">
            <a:r>
              <a:t/>
            </a:r>
          </a:p>
          <a:p xmlns:a="http://schemas.openxmlformats.org/drawingml/2006/main">
            <a:r>
              <a:t>13 members in total, with 1 team leader; divided into six groups by role: Project Management, Product Requirements, Frontend Development, Backend Development, Algorithm, and Testing.</a:t>
            </a:r>
          </a:p>
          <a:p xmlns:a="http://schemas.openxmlformats.org/drawingml/2006/main">
            <a:r>
              <a:t/>
            </a:r>
          </a:p>
          <a:p xmlns:a="http://schemas.openxmlformats.org/drawingml/2006/main">
            <a:r>
              <a:t>**Member 1 | Huang Zhiyuan — Team Lead**</a:t>
            </a:r>
          </a:p>
          <a:p xmlns:a="http://schemas.openxmlformats.org/drawingml/2006/main">
            <a:r>
              <a:t/>
            </a:r>
          </a:p>
          <a:p xmlns:a="http://schemas.openxmlformats.org/drawingml/2006/main">
            <a:r>
              <a:t>- **Student ID**: 832401112</a:t>
            </a:r>
          </a:p>
          <a:p xmlns:a="http://schemas.openxmlformats.org/drawingml/2006/main">
            <a:r>
              <a:t>- **CSDN**: [Huang Zhiyuan's csdn](https://blog.csdn.net/weixin_61182186)</a:t>
            </a:r>
          </a:p>
          <a:p xmlns:a="http://schemas.openxmlformats.org/drawingml/2006/main">
            <a:r>
              <a:t>- **Personality**: Responsible, well-organized, and good at communication and coordination; focused on keeping a steady pace and following through on tasks</a:t>
            </a:r>
          </a:p>
          <a:p xmlns:a="http://schemas.openxmlformats.org/drawingml/2006/main">
            <a:r>
              <a:t>- **Technical Expertise**: Scheduling and progress control, project management; JavaWeb backend development and MySQL database design</a:t>
            </a:r>
          </a:p>
          <a:p xmlns:a="http://schemas.openxmlformats.org/drawingml/2006/main">
            <a:r>
              <a:t>- **Hobbies**: Sports (basketball, etc.)</a:t>
            </a:r>
          </a:p>
          <a:p xmlns:a="http://schemas.openxmlformats.org/drawingml/2006/main">
            <a:r>
              <a:t>- **Role**: Project Management (Team Lead)</a:t>
            </a:r>
          </a:p>
          <a:p xmlns:a="http://schemas.openxmlformats.org/drawingml/2006/main">
            <a:r>
              <a:t>- **Slogan**: Never stop</a:t>
            </a:r>
          </a:p>
          <a:p xmlns:a="http://schemas.openxmlformats.org/drawingml/2006/main">
            <a:r>
              <a:t/>
            </a:r>
          </a:p>
          <a:p xmlns:a="http://schemas.openxmlformats.org/drawingml/2006/main">
            <a:r>
              <a:t>**Member 2 | Zhang Zile**</a:t>
            </a:r>
          </a:p>
          <a:p xmlns:a="http://schemas.openxmlformats.org/drawingml/2006/main">
            <a:r>
              <a:t/>
            </a:r>
          </a:p>
          <a:p xmlns:a="http://schemas.openxmlformats.org/drawingml/2006/main">
            <a:r>
              <a:t>- **Student ID**: 832401325</a:t>
            </a:r>
          </a:p>
          <a:p xmlns:a="http://schemas.openxmlformats.org/drawingml/2006/main">
            <a:r>
              <a:t>- **CSDN**: [Zhang Zile's csdn](https://blog.csdn.net/m0_61183889)</a:t>
            </a:r>
          </a:p>
          <a:p xmlns:a="http://schemas.openxmlformats.org/drawingml/2006/main">
            <a:r>
              <a:t>- **Personality**: Optimistic</a:t>
            </a:r>
          </a:p>
          <a:p xmlns:a="http://schemas.openxmlformats.org/drawingml/2006/main">
            <a:r>
              <a:t>- **Technical Expertise**: Full-stack development</a:t>
            </a:r>
          </a:p>
          <a:p xmlns:a="http://schemas.openxmlformats.org/drawingml/2006/main">
            <a:r>
              <a:t>- **Hobbies**: Music, video games, F1</a:t>
            </a:r>
          </a:p>
          <a:p xmlns:a="http://schemas.openxmlformats.org/drawingml/2006/main">
            <a:r>
              <a:t>- **Role**: Product Requirements</a:t>
            </a:r>
          </a:p>
          <a:p xmlns:a="http://schemas.openxmlformats.org/drawingml/2006/main">
            <a:r>
              <a:t>- **Slogan**: Simply, Lovely.</a:t>
            </a:r>
          </a:p>
          <a:p xmlns:a="http://schemas.openxmlformats.org/drawingml/2006/main">
            <a:r>
              <a:t/>
            </a:r>
          </a:p>
          <a:p xmlns:a="http://schemas.openxmlformats.org/drawingml/2006/main">
            <a:r>
              <a:t>**Member 3 | Ye Yifan**</a:t>
            </a:r>
          </a:p>
          <a:p xmlns:a="http://schemas.openxmlformats.org/drawingml/2006/main">
            <a:r>
              <a:t/>
            </a:r>
          </a:p>
          <a:p xmlns:a="http://schemas.openxmlformats.org/drawingml/2006/main">
            <a:r>
              <a:t>- **Student ID**: 832401321</a:t>
            </a:r>
          </a:p>
          <a:p xmlns:a="http://schemas.openxmlformats.org/drawingml/2006/main">
            <a:r>
              <a:t>- **CSDN**: [Ye Yifan's csdn](https://blog.csdn.net/2401_88098790?type=blog)</a:t>
            </a:r>
          </a:p>
          <a:p xmlns:a="http://schemas.openxmlformats.org/drawingml/2006/main">
            <a:r>
              <a:t>- **Personality**: Optimistic and eager to learn, proactive and enterprising</a:t>
            </a:r>
          </a:p>
          <a:p xmlns:a="http://schemas.openxmlformats.org/drawingml/2006/main">
            <a:r>
              <a:t>- **Technical Expertise**: Data design, page layout, functional research</a:t>
            </a:r>
          </a:p>
          <a:p xmlns:a="http://schemas.openxmlformats.org/drawingml/2006/main">
            <a:r>
              <a:t>- **Hobbies**: Computer games</a:t>
            </a:r>
          </a:p>
          <a:p xmlns:a="http://schemas.openxmlformats.org/drawingml/2006/main">
            <a:r>
              <a:t>- **Role**: Product Requirements</a:t>
            </a:r>
          </a:p>
          <a:p xmlns:a="http://schemas.openxmlformats.org/drawingml/2006/main">
            <a:r>
              <a:t>- **Slogan**: Your opponent's always been somebody else you would've known</a:t>
            </a:r>
          </a:p>
          <a:p xmlns:a="http://schemas.openxmlformats.org/drawingml/2006/main">
            <a:r>
              <a:t/>
            </a:r>
          </a:p>
          <a:p xmlns:a="http://schemas.openxmlformats.org/drawingml/2006/main">
            <a:r>
              <a:t>**Member 4 | Lin Zijun**</a:t>
            </a:r>
          </a:p>
          <a:p xmlns:a="http://schemas.openxmlformats.org/drawingml/2006/main">
            <a:r>
              <a:t/>
            </a:r>
          </a:p>
          <a:p xmlns:a="http://schemas.openxmlformats.org/drawingml/2006/main">
            <a:r>
              <a:t>- **Student ID**: 832401311</a:t>
            </a:r>
          </a:p>
          <a:p xmlns:a="http://schemas.openxmlformats.org/drawingml/2006/main">
            <a:r>
              <a:t>- **CSDN**: [Lin Zijun's csdn](https://blog.csdn.net/2401_88072365?spm=1010.2135.3001.5343)</a:t>
            </a:r>
          </a:p>
          <a:p xmlns:a="http://schemas.openxmlformats.org/drawingml/2006/main">
            <a:r>
              <a:t>- **Personality**: Careful, patient</a:t>
            </a:r>
          </a:p>
          <a:p xmlns:a="http://schemas.openxmlformats.org/drawingml/2006/main">
            <a:r>
              <a:t>- **Technical Expertise**: API development, database, page layout</a:t>
            </a:r>
          </a:p>
          <a:p xmlns:a="http://schemas.openxmlformats.org/drawingml/2006/main">
            <a:r>
              <a:t>- **Hobbies**: Singing, gaming</a:t>
            </a:r>
          </a:p>
          <a:p xmlns:a="http://schemas.openxmlformats.org/drawingml/2006/main">
            <a:r>
              <a:t>- **Role**: Frontend Development</a:t>
            </a:r>
          </a:p>
          <a:p xmlns:a="http://schemas.openxmlformats.org/drawingml/2006/main">
            <a:r>
              <a:t>- **Slogan**: Patient is the key to life.</a:t>
            </a:r>
          </a:p>
          <a:p xmlns:a="http://schemas.openxmlformats.org/drawingml/2006/main">
            <a:r>
              <a:t/>
            </a:r>
          </a:p>
          <a:p xmlns:a="http://schemas.openxmlformats.org/drawingml/2006/main">
            <a:r>
              <a:t>**Member 5 | Li Zhenhao**</a:t>
            </a:r>
          </a:p>
          <a:p xmlns:a="http://schemas.openxmlformats.org/drawingml/2006/main">
            <a:r>
              <a:t/>
            </a:r>
          </a:p>
          <a:p xmlns:a="http://schemas.openxmlformats.org/drawingml/2006/main">
            <a:r>
              <a:t>- **Student ID**: 832401310</a:t>
            </a:r>
          </a:p>
          <a:p xmlns:a="http://schemas.openxmlformats.org/drawingml/2006/main">
            <a:r>
              <a:t>- **CSDN**: [Li Zhenhao's csdn](https://blog.csdn.net/outs_tand_ing?type=blog)</a:t>
            </a:r>
          </a:p>
          <a:p xmlns:a="http://schemas.openxmlformats.org/drawingml/2006/main">
            <a:r>
              <a:t>- **Personality**: Diligent, careful</a:t>
            </a:r>
          </a:p>
          <a:p xmlns:a="http://schemas.openxmlformats.org/drawingml/2006/main">
            <a:r>
              <a:t>- **Technical Expertise**: Page layout, component development, interactive implementation</a:t>
            </a:r>
          </a:p>
          <a:p xmlns:a="http://schemas.openxmlformats.org/drawingml/2006/main">
            <a:r>
              <a:t>- **Hobbies**: Listening to music, playing basketball</a:t>
            </a:r>
          </a:p>
          <a:p xmlns:a="http://schemas.openxmlformats.org/drawingml/2006/main">
            <a:r>
              <a:t>- **Role**: Frontend Development</a:t>
            </a:r>
          </a:p>
          <a:p xmlns:a="http://schemas.openxmlformats.org/drawingml/2006/main">
            <a:r>
              <a:t>- **Slogan**: Keep trying and make constant breakthroughs</a:t>
            </a:r>
          </a:p>
          <a:p xmlns:a="http://schemas.openxmlformats.org/drawingml/2006/main">
            <a:r>
              <a:t/>
            </a:r>
          </a:p>
          <a:p xmlns:a="http://schemas.openxmlformats.org/drawingml/2006/main">
            <a:r>
              <a:t>**Member 6 | Li Haoze**</a:t>
            </a:r>
          </a:p>
          <a:p xmlns:a="http://schemas.openxmlformats.org/drawingml/2006/main">
            <a:r>
              <a:t/>
            </a:r>
          </a:p>
          <a:p xmlns:a="http://schemas.openxmlformats.org/drawingml/2006/main">
            <a:r>
              <a:t>- **Student ID**: 832401309</a:t>
            </a:r>
          </a:p>
          <a:p xmlns:a="http://schemas.openxmlformats.org/drawingml/2006/main">
            <a:r>
              <a:t>- **CSDN**: [Li Haoze's csdn](https://blog.csdn.net/2603_97088533?type=blog)</a:t>
            </a:r>
          </a:p>
          <a:p xmlns:a="http://schemas.openxmlformats.org/drawingml/2006/main">
            <a:r>
              <a:t>- **Personality**: Hardworking and patient, conscientious at work</a:t>
            </a:r>
          </a:p>
          <a:p xmlns:a="http://schemas.openxmlformats.org/drawingml/2006/main">
            <a:r>
              <a:t>- **Technical Expertise**: Full-stack development</a:t>
            </a:r>
          </a:p>
          <a:p xmlns:a="http://schemas.openxmlformats.org/drawingml/2006/main">
            <a:r>
              <a:t>- **Hobbies**: Music</a:t>
            </a:r>
          </a:p>
          <a:p xmlns:a="http://schemas.openxmlformats.org/drawingml/2006/main">
            <a:r>
              <a:t>- **Role**: Frontend Development</a:t>
            </a:r>
          </a:p>
          <a:p xmlns:a="http://schemas.openxmlformats.org/drawingml/2006/main">
            <a:r>
              <a:t>- **Slogan**: Write robust code, solve real-world problems with care.</a:t>
            </a:r>
          </a:p>
          <a:p xmlns:a="http://schemas.openxmlformats.org/drawingml/2006/main">
            <a:r>
              <a:t/>
            </a:r>
          </a:p>
          <a:p xmlns:a="http://schemas.openxmlformats.org/drawingml/2006/main">
            <a:r>
              <a:t>**Member 7 | He Jinghao**</a:t>
            </a:r>
          </a:p>
          <a:p xmlns:a="http://schemas.openxmlformats.org/drawingml/2006/main">
            <a:r>
              <a:t/>
            </a:r>
          </a:p>
          <a:p xmlns:a="http://schemas.openxmlformats.org/drawingml/2006/main">
            <a:r>
              <a:t>- **Student ID**: 832401307</a:t>
            </a:r>
          </a:p>
          <a:p xmlns:a="http://schemas.openxmlformats.org/drawingml/2006/main">
            <a:r>
              <a:t>- **CSDN**: [He Jinghao's csdn](https://blog.csdn.net/2603_97055950)</a:t>
            </a:r>
          </a:p>
          <a:p xmlns:a="http://schemas.openxmlformats.org/drawingml/2006/main">
            <a:r>
              <a:t>- **Personality**: Patient, good at communication</a:t>
            </a:r>
          </a:p>
          <a:p xmlns:a="http://schemas.openxmlformats.org/drawingml/2006/main">
            <a:r>
              <a:t>- **Technical Expertise**: UI restoration, basic JavaScript interaction debugging</a:t>
            </a:r>
          </a:p>
          <a:p xmlns:a="http://schemas.openxmlformats.org/drawingml/2006/main">
            <a:r>
              <a:t>- **Hobbies**: Browsing UI design works, listening to music</a:t>
            </a:r>
          </a:p>
          <a:p xmlns:a="http://schemas.openxmlformats.org/drawingml/2006/main">
            <a:r>
              <a:t>- **Role**: Frontend Development</a:t>
            </a:r>
          </a:p>
          <a:p xmlns:a="http://schemas.openxmlformats.org/drawingml/2006/main">
            <a:r>
              <a:t>- **Slogan**: Hard work pays off; earnest labor never deceives.</a:t>
            </a:r>
          </a:p>
          <a:p xmlns:a="http://schemas.openxmlformats.org/drawingml/2006/main">
            <a:r>
              <a:t/>
            </a:r>
          </a:p>
          <a:p xmlns:a="http://schemas.openxmlformats.org/drawingml/2006/main">
            <a:r>
              <a:t>**Member 8 | Zhang Jingtian**</a:t>
            </a:r>
          </a:p>
          <a:p xmlns:a="http://schemas.openxmlformats.org/drawingml/2006/main">
            <a:r>
              <a:t/>
            </a:r>
          </a:p>
          <a:p xmlns:a="http://schemas.openxmlformats.org/drawingml/2006/main">
            <a:r>
              <a:t>- **Student ID**: 832401323</a:t>
            </a:r>
          </a:p>
          <a:p xmlns:a="http://schemas.openxmlformats.org/drawingml/2006/main">
            <a:r>
              <a:t>- **CSDN**: [Zhang Jingtian's csdn](https://blog.csdn.net/2603_97140630?type=bbs)</a:t>
            </a:r>
          </a:p>
          <a:p xmlns:a="http://schemas.openxmlformats.org/drawingml/2006/main">
            <a:r>
              <a:t>- **Personality**: Optimistic and eager to learn, accommodating</a:t>
            </a:r>
          </a:p>
          <a:p xmlns:a="http://schemas.openxmlformats.org/drawingml/2006/main">
            <a:r>
              <a:t>- **Technical Expertise**: Code debugging, function design</a:t>
            </a:r>
          </a:p>
          <a:p xmlns:a="http://schemas.openxmlformats.org/drawingml/2006/main">
            <a:r>
              <a:t>- **Hobbies**: Reading novels</a:t>
            </a:r>
          </a:p>
          <a:p xmlns:a="http://schemas.openxmlformats.org/drawingml/2006/main">
            <a:r>
              <a:t>- **Role**: Backend Development</a:t>
            </a:r>
          </a:p>
          <a:p xmlns:a="http://schemas.openxmlformats.org/drawingml/2006/main">
            <a:r>
              <a:t>- **Slogan**: Technology drives the world</a:t>
            </a:r>
          </a:p>
          <a:p xmlns:a="http://schemas.openxmlformats.org/drawingml/2006/main">
            <a:r>
              <a:t/>
            </a:r>
          </a:p>
          <a:p xmlns:a="http://schemas.openxmlformats.org/drawingml/2006/main">
            <a:r>
              <a:t>**Member 9 | Yu Chenghao**</a:t>
            </a:r>
          </a:p>
          <a:p xmlns:a="http://schemas.openxmlformats.org/drawingml/2006/main">
            <a:r>
              <a:t/>
            </a:r>
          </a:p>
          <a:p xmlns:a="http://schemas.openxmlformats.org/drawingml/2006/main">
            <a:r>
              <a:t>- **Student ID**: 832401322</a:t>
            </a:r>
          </a:p>
          <a:p xmlns:a="http://schemas.openxmlformats.org/drawingml/2006/main">
            <a:r>
              <a:t>- **CSDN**: [Yu Chenghao's csdn](https://blog.csdn.net/2601_97148386?type=blogCommunity)</a:t>
            </a:r>
          </a:p>
          <a:p xmlns:a="http://schemas.openxmlformats.org/drawingml/2006/main">
            <a:r>
              <a:t>- **Personality**: Hardworking, patient</a:t>
            </a:r>
          </a:p>
          <a:p xmlns:a="http://schemas.openxmlformats.org/drawingml/2006/main">
            <a:r>
              <a:t>- **Technical Expertise**: API development, database, service deployment</a:t>
            </a:r>
          </a:p>
          <a:p xmlns:a="http://schemas.openxmlformats.org/drawingml/2006/main">
            <a:r>
              <a:t>- **Hobbies**: Listening to music, gaming</a:t>
            </a:r>
          </a:p>
          <a:p xmlns:a="http://schemas.openxmlformats.org/drawingml/2006/main">
            <a:r>
              <a:t>- **Role**: Backend Development</a:t>
            </a:r>
          </a:p>
          <a:p xmlns:a="http://schemas.openxmlformats.org/drawingml/2006/main">
            <a:r>
              <a:t>- **Slogan**: Slow progress is still progress.</a:t>
            </a:r>
          </a:p>
          <a:p xmlns:a="http://schemas.openxmlformats.org/drawingml/2006/main">
            <a:r>
              <a:t/>
            </a:r>
          </a:p>
          <a:p xmlns:a="http://schemas.openxmlformats.org/drawingml/2006/main">
            <a:r>
              <a:t>**Member 10 | Zhang Xinyu**</a:t>
            </a:r>
          </a:p>
          <a:p xmlns:a="http://schemas.openxmlformats.org/drawingml/2006/main">
            <a:r>
              <a:t/>
            </a:r>
          </a:p>
          <a:p xmlns:a="http://schemas.openxmlformats.org/drawingml/2006/main">
            <a:r>
              <a:t>- **Student ID**: 832401324</a:t>
            </a:r>
          </a:p>
          <a:p xmlns:a="http://schemas.openxmlformats.org/drawingml/2006/main">
            <a:r>
              <a:t>- **CSDN**: [Zhang Xinyu's csdn](https://blog.csdn.net/HEBEI_Story?spm=1035.2248.3001.5343)</a:t>
            </a:r>
          </a:p>
          <a:p xmlns:a="http://schemas.openxmlformats.org/drawingml/2006/main">
            <a:r>
              <a:t>- **Personality**: Self-motivated, detail-oriented, logical thinking, problem-solving</a:t>
            </a:r>
          </a:p>
          <a:p xmlns:a="http://schemas.openxmlformats.org/drawingml/2006/main">
            <a:r>
              <a:t>- **Technical Expertise**: API development, database design, interactive implementation</a:t>
            </a:r>
          </a:p>
          <a:p xmlns:a="http://schemas.openxmlformats.org/drawingml/2006/main">
            <a:r>
              <a:t>- **Hobbies**: Fitness, music, basketball, games</a:t>
            </a:r>
          </a:p>
          <a:p xmlns:a="http://schemas.openxmlformats.org/drawingml/2006/main">
            <a:r>
              <a:t>- **Role**: Backend Development</a:t>
            </a:r>
          </a:p>
          <a:p xmlns:a="http://schemas.openxmlformats.org/drawingml/2006/main">
            <a:r>
              <a:t>- **Slogan**: Keep thinking, keep building.</a:t>
            </a:r>
          </a:p>
          <a:p xmlns:a="http://schemas.openxmlformats.org/drawingml/2006/main">
            <a:r>
              <a:t/>
            </a:r>
          </a:p>
          <a:p xmlns:a="http://schemas.openxmlformats.org/drawingml/2006/main">
            <a:r>
              <a:t>**Member 11 | Xu Boyu**</a:t>
            </a:r>
          </a:p>
          <a:p xmlns:a="http://schemas.openxmlformats.org/drawingml/2006/main">
            <a:r>
              <a:t/>
            </a:r>
          </a:p>
          <a:p xmlns:a="http://schemas.openxmlformats.org/drawingml/2006/main">
            <a:r>
              <a:t>- **Student ID**: 832401320</a:t>
            </a:r>
          </a:p>
          <a:p xmlns:a="http://schemas.openxmlformats.org/drawingml/2006/main">
            <a:r>
              <a:t>- **CSDN**: [Xu Boyu's csdn](https://blog.csdn.net/2401_87119205?type=blog)</a:t>
            </a:r>
          </a:p>
          <a:p xmlns:a="http://schemas.openxmlformats.org/drawingml/2006/main">
            <a:r>
              <a:t>- **Personality**: Diligent and patient, with a steady, detail-oriented approach to work</a:t>
            </a:r>
          </a:p>
          <a:p xmlns:a="http://schemas.openxmlformats.org/drawingml/2006/main">
            <a:r>
              <a:t>- **Technical Expertise**: API development, database design, service deployment</a:t>
            </a:r>
          </a:p>
          <a:p xmlns:a="http://schemas.openxmlformats.org/drawingml/2006/main">
            <a:r>
              <a:t>- **Hobbies**: Sleeping</a:t>
            </a:r>
          </a:p>
          <a:p xmlns:a="http://schemas.openxmlformats.org/drawingml/2006/main">
            <a:r>
              <a:t>- **Role**: Backend Development</a:t>
            </a:r>
          </a:p>
          <a:p xmlns:a="http://schemas.openxmlformats.org/drawingml/2006/main">
            <a:r>
              <a:t>- **Slogan**: Know, Start, Keep, Build, Learn.</a:t>
            </a:r>
          </a:p>
          <a:p xmlns:a="http://schemas.openxmlformats.org/drawingml/2006/main">
            <a:r>
              <a:t/>
            </a:r>
          </a:p>
          <a:p xmlns:a="http://schemas.openxmlformats.org/drawingml/2006/main">
            <a:r>
              <a:t>**Member 12 | Cai Yaohua**</a:t>
            </a:r>
          </a:p>
          <a:p xmlns:a="http://schemas.openxmlformats.org/drawingml/2006/main">
            <a:r>
              <a:t/>
            </a:r>
          </a:p>
          <a:p xmlns:a="http://schemas.openxmlformats.org/drawingml/2006/main">
            <a:r>
              <a:t>- **Student ID**: 832401302</a:t>
            </a:r>
          </a:p>
          <a:p xmlns:a="http://schemas.openxmlformats.org/drawingml/2006/main">
            <a:r>
              <a:t>- **CSDN**: [Cai Yaohua's csdn](https://blog.csdn.net/2401_88085295?type=blog)</a:t>
            </a:r>
          </a:p>
          <a:p xmlns:a="http://schemas.openxmlformats.org/drawingml/2006/main">
            <a:r>
              <a:t>- **Personality**: Good at communication, patient in debugging, strong teamwork spirit</a:t>
            </a:r>
          </a:p>
          <a:p xmlns:a="http://schemas.openxmlformats.org/drawingml/2006/main">
            <a:r>
              <a:t>- **Technical Expertise**: C language, Python, data structures</a:t>
            </a:r>
          </a:p>
          <a:p xmlns:a="http://schemas.openxmlformats.org/drawingml/2006/main">
            <a:r>
              <a:t>- **Hobbies**: Gaming, basketball, exploring new tools</a:t>
            </a:r>
          </a:p>
          <a:p xmlns:a="http://schemas.openxmlformats.org/drawingml/2006/main">
            <a:r>
              <a:t>- **Role**: Algorithm</a:t>
            </a:r>
          </a:p>
          <a:p xmlns:a="http://schemas.openxmlformats.org/drawingml/2006/main">
            <a:r>
              <a:t>- **Slogan**: Iterate steadily, deliver reliably</a:t>
            </a:r>
          </a:p>
          <a:p xmlns:a="http://schemas.openxmlformats.org/drawingml/2006/main">
            <a:r>
              <a:t/>
            </a:r>
          </a:p>
          <a:p xmlns:a="http://schemas.openxmlformats.org/drawingml/2006/main">
            <a:r>
              <a:t>**Member 13 | Wang Shaojie**</a:t>
            </a:r>
          </a:p>
          <a:p xmlns:a="http://schemas.openxmlformats.org/drawingml/2006/main">
            <a:r>
              <a:t/>
            </a:r>
          </a:p>
          <a:p xmlns:a="http://schemas.openxmlformats.org/drawingml/2006/main">
            <a:r>
              <a:t>- **Student ID**: 832401219</a:t>
            </a:r>
          </a:p>
          <a:p xmlns:a="http://schemas.openxmlformats.org/drawingml/2006/main">
            <a:r>
              <a:t>- **CSDN**: [Wang Shaojie's csdn](https://blog.csdn.net/2601_97073737)</a:t>
            </a:r>
          </a:p>
          <a:p xmlns:a="http://schemas.openxmlformats.org/drawingml/2006/main">
            <a:r>
              <a:t>- **Personality**: Careful and rigorous, patient, responsible</a:t>
            </a:r>
          </a:p>
          <a:p xmlns:a="http://schemas.openxmlformats.org/drawingml/2006/main">
            <a:r>
              <a:t>- **Technical Expertise**: Functional testing and test case design</a:t>
            </a:r>
          </a:p>
          <a:p xmlns:a="http://schemas.openxmlformats.org/drawingml/2006/main">
            <a:r>
              <a:t>- **Hobbies**: Sports, listening to music</a:t>
            </a:r>
          </a:p>
          <a:p xmlns:a="http://schemas.openxmlformats.org/drawingml/2006/main">
            <a:r>
              <a:t>- **Role**: Testing</a:t>
            </a:r>
          </a:p>
          <a:p xmlns:a="http://schemas.openxmlformats.org/drawingml/2006/main">
            <a:r>
              <a:t>- **Slogan**: Quality is not an act, it is a habit.</a:t>
            </a:r>
          </a:p>
          <a:p xmlns:a="http://schemas.openxmlformats.org/drawingml/2006/main">
            <a:r>
              <a:t/>
            </a:r>
          </a:p>
          <a:p xmlns:a="http://schemas.openxmlformats.org/drawingml/2006/main">
            <a:r>
              <a:t>### 1.3 Team Vision</a:t>
            </a:r>
          </a:p>
          <a:p xmlns:a="http://schemas.openxmlformats.org/drawingml/2006/main">
            <a:r>
              <a:t/>
            </a:r>
          </a:p>
          <a:p xmlns:a="http://schemas.openxmlformats.org/drawingml/2006/main">
            <a:r>
              <a:t>We chose the Sports Buddy platform because of a real pain point: **students want to exercise, but it is hard to find partners who match in time, skill and location, and who show up.**</a:t>
            </a:r>
          </a:p>
          <a:p xmlns:a="http://schemas.openxmlformats.org/drawingml/2006/main">
            <a:r>
              <a:t/>
            </a:r>
          </a:p>
          <a:p xmlns:a="http://schemas.openxmlformats.org/drawingml/2006/main">
            <a:r>
              <a:t>Our vision can be summed up in three words — **"约得到，约得好，约得准"** — buddy up, easily; buddy up, well; buddy up, precisely:</a:t>
            </a:r>
          </a:p>
          <a:p xmlns:a="http://schemas.openxmlformats.org/drawingml/2006/main">
            <a:r>
              <a:t/>
            </a:r>
          </a:p>
          <a:p xmlns:a="http://schemas.openxmlformats.org/drawingml/2006/main">
            <a:r>
              <a:t>1. **Buddy up, easily (约得到)**: with activity creation, browsing and sign-up, anyone who wants to exercise can always find someone to go with, turning "wanting to exercise" into "actually exercising".</a:t>
            </a:r>
          </a:p>
          <a:p xmlns:a="http://schemas.openxmlformats.org/drawingml/2006/main">
            <a:r>
              <a:t/>
            </a:r>
          </a:p>
          <a:p xmlns:a="http://schemas.openxmlformats.org/drawingml/2006/main">
            <a:r>
              <a:t>2. **Buddy up, well (约得好)**: the reliability score and mutual reviews reduce no-shows and skill mismatches, so the small frustrations of group sports become fewer and fewer.</a:t>
            </a:r>
          </a:p>
          <a:p xmlns:a="http://schemas.openxmlformats.org/drawingml/2006/main">
            <a:r>
              <a:t/>
            </a:r>
          </a:p>
          <a:p xmlns:a="http://schemas.openxmlformats.org/drawingml/2006/main">
            <a:r>
              <a:t>3. **Buddy up, precisely (约得准)**: smart matching and one-line activity creation connect you with the right partner — the right time, the right skill level, the right place.</a:t>
            </a:r>
          </a:p>
          <a:p xmlns:a="http://schemas.openxmlformats.org/drawingml/2006/main">
            <a:r>
              <a:t/>
            </a:r>
          </a:p>
          <a:p xmlns:a="http://schemas.openxmlformats.org/drawingml/2006/main">
            <a:r>
              <a:t>We don't pursue being large and all-inclusive; instead we **first make one campus truly usable**, build a product that "really works and people want to use", and later extend it to more universities, societies and communities.</a:t>
            </a:r>
          </a:p>
          <a:p xmlns:a="http://schemas.openxmlformats.org/drawingml/2006/main">
            <a:r>
              <a:t/>
            </a:r>
          </a:p>
          <a:p xmlns:a="http://schemas.openxmlformats.org/drawingml/2006/main">
            <a:r>
              <a:t>### 1.4 Team Photo</a:t>
            </a:r>
          </a:p>
          <a:p xmlns:a="http://schemas.openxmlformats.org/drawingml/2006/main">
            <a:r>
              <a:t/>
            </a:r>
          </a:p>
          <a:p xmlns:a="http://schemas.openxmlformats.org/drawingml/2006/main">
            <a:r>
              <a:t>![Team Photo](https://i-blog.csdnimg.cn/communtity/8bbe7087dda344cba2f1cd9fe7ea5c54.jpeg)</a:t>
            </a:r>
          </a:p>
          <a:p xmlns:a="http://schemas.openxmlformats.org/drawingml/2006/main">
            <a:r>
              <a:t/>
            </a:r>
          </a:p>
          <a:p xmlns:a="http://schemas.openxmlformats.org/drawingml/2006/main">
            <a:r>
              <a:t>### 1.5 Team Logo</a:t>
            </a:r>
          </a:p>
          <a:p xmlns:a="http://schemas.openxmlformats.org/drawingml/2006/main">
            <a:r>
              <a:t/>
            </a:r>
          </a:p>
          <a:p xmlns:a="http://schemas.openxmlformats.org/drawingml/2006/main">
            <a:r>
              <a:t>![Team Logo](https://i-blog.csdnimg.cn/communtity/2c168e7537e24ca18b60b31cb3b703d5.jpeg)</a:t>
            </a:r>
          </a:p>
          <a:p xmlns:a="http://schemas.openxmlformats.org/drawingml/2006/main">
            <a:r>
              <a:t/>
            </a:r>
          </a:p>
          <a:p xmlns:a="http://schemas.openxmlformats.org/drawingml/2006/main">
            <a:r>
              <a:t>The Falcons logo is built on the outline of a diving falcon's wings, blending the falcon's sharpness and boldness with a confident, vivid anthropomorphic image. The warm-gold wings symbolize glory and speed; the asymmetrical eyes signify insight into the target and composure in the face of challenges; the bright smile represents the team's optimism and cohesion. Overall, it conveys the Falcon spirit: firm goals, swift breakthroughs and unity in moving forward — keeping passion and confidence through every challenge.</a:t>
            </a:r>
          </a:p>
          <a:p xmlns:a="http://schemas.openxmlformats.org/drawingml/2006/main">
            <a:r>
              <a:t/>
            </a:r>
          </a:p>
          <a:p xmlns:a="http://schemas.openxmlformats.org/drawingml/2006/main">
            <a:r>
              <a: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2. Project Introduction</a:t>
            </a:r>
          </a:p>
          <a:p xmlns:a="http://schemas.openxmlformats.org/drawingml/2006/main">
            <a:r>
              <a:t/>
            </a:r>
          </a:p>
          <a:p xmlns:a="http://schemas.openxmlformats.org/drawingml/2006/main">
            <a:r>
              <a:t/>
            </a:r>
          </a:p>
          <a:p xmlns:a="http://schemas.openxmlformats.org/drawingml/2006/main">
            <a:r>
              <a:t/>
            </a:r>
          </a:p>
          <a:p xmlns:a="http://schemas.openxmlformats.org/drawingml/2006/main">
            <a:r>
              <a:t>### 2.1 Background &amp; Reasons</a:t>
            </a:r>
          </a:p>
          <a:p xmlns:a="http://schemas.openxmlformats.org/drawingml/2006/main">
            <a:r>
              <a:t/>
            </a:r>
          </a:p>
          <a:p xmlns:a="http://schemas.openxmlformats.org/drawingml/2006/main">
            <a:r>
              <a:t>Students around us often go through this: wanting to play ball, run, or hike, but finding no one to go with; posting an invitation in a group chat, only to have it buried by other messages in minutes; finally getting enough people together, but the skill gap is too wide, or someone flakes at the last minute and the activity falls apart. We want to build a lightweight, reliable tool that turns "wanting to exercise" into "actually exercising."</a:t>
            </a:r>
          </a:p>
          <a:p xmlns:a="http://schemas.openxmlformats.org/drawingml/2006/main">
            <a:r>
              <a:t/>
            </a:r>
          </a:p>
          <a:p xmlns:a="http://schemas.openxmlformats.org/drawingml/2006/main">
            <a:r>
              <a:t>### 2.2 Project Description</a:t>
            </a:r>
          </a:p>
          <a:p xmlns:a="http://schemas.openxmlformats.org/drawingml/2006/main">
            <a:r>
              <a:t/>
            </a:r>
          </a:p>
          <a:p xmlns:a="http://schemas.openxmlformats.org/drawingml/2006/main">
            <a:r>
              <a:t>**Sports Buddy** — a sports matchmaking platform for university students, helping people who want to exercise quickly find partners who match in time, skill level and location, and who can be relied on.</a:t>
            </a:r>
          </a:p>
          <a:p xmlns:a="http://schemas.openxmlformats.org/drawingml/2006/main">
            <a:r>
              <a:t/>
            </a:r>
          </a:p>
          <a:p xmlns:a="http://schemas.openxmlformats.org/drawingml/2006/main">
            <a:r>
              <a:t>| Feature | Description |</a:t>
            </a:r>
          </a:p>
          <a:p xmlns:a="http://schemas.openxmlformats.org/drawingml/2006/main">
            <a:r>
              <a:t>| --- | --- |</a:t>
            </a:r>
          </a:p>
          <a:p xmlns:a="http://schemas.openxmlformats.org/drawingml/2006/main">
            <a:r>
              <a:t>| Create Activities | Post sports activities with time, location, headcount and skill requirements |</a:t>
            </a:r>
          </a:p>
          <a:p xmlns:a="http://schemas.openxmlformats.org/drawingml/2006/main">
            <a:r>
              <a:t>| Sign Up | Browse and join activities of interest |</a:t>
            </a:r>
          </a:p>
          <a:p xmlns:a="http://schemas.openxmlformats.org/drawingml/2006/main">
            <a:r>
              <a:t>| Check In | On-site check-in to record participation |</a:t>
            </a:r>
          </a:p>
          <a:p xmlns:a="http://schemas.openxmlformats.org/drawingml/2006/main">
            <a:r>
              <a:t>| Review | Rate each other after activities to build reputation |</a:t>
            </a:r>
          </a:p>
          <a:p xmlns:a="http://schemas.openxmlformats.org/drawingml/2006/main">
            <a:r>
              <a:t>| Reliability Score | Compute a reliability score from attendance and reviews to reduce no-shows |</a:t>
            </a:r>
          </a:p>
          <a:p xmlns:a="http://schemas.openxmlformats.org/drawingml/2006/main">
            <a:r>
              <a:t>| Smart Matching | Recommend suitable activities and partners by time, location and skill |</a:t>
            </a:r>
          </a:p>
          <a:p xmlns:a="http://schemas.openxmlformats.org/drawingml/2006/main">
            <a:r>
              <a:t>| One-line Creation | Create an activity quickly with a single natural-language sentence |</a:t>
            </a:r>
          </a:p>
          <a:p xmlns:a="http://schemas.openxmlformats.org/drawingml/2006/main">
            <a:r>
              <a:t>| Weather Tips | Provide activity suggestions based on weather |</a:t>
            </a:r>
          </a:p>
          <a:p xmlns:a="http://schemas.openxmlformats.org/drawingml/2006/main">
            <a:r>
              <a:t/>
            </a:r>
          </a:p>
          <a:p xmlns:a="http://schemas.openxmlformats.org/drawingml/2006/main">
            <a:r>
              <a:t>**Tech Stack**: [To be added — to be decided in the design phase]</a:t>
            </a:r>
          </a:p>
          <a:p xmlns:a="http://schemas.openxmlformats.org/drawingml/2006/main">
            <a:r>
              <a:t/>
            </a:r>
          </a:p>
          <a:p xmlns:a="http://schemas.openxmlformats.org/drawingml/2006/main">
            <a:r>
              <a:t>### 2.3 NABCD Analysis</a:t>
            </a:r>
          </a:p>
          <a:p xmlns:a="http://schemas.openxmlformats.org/drawingml/2006/main">
            <a:r>
              <a:t/>
            </a:r>
          </a:p>
          <a:p xmlns:a="http://schemas.openxmlformats.org/drawingml/2006/main">
            <a:r>
              <a:t>**N — Need**</a:t>
            </a:r>
          </a:p>
          <a:p xmlns:a="http://schemas.openxmlformats.org/drawingml/2006/main">
            <a:r>
              <a:t/>
            </a:r>
          </a:p>
          <a:p xmlns:a="http://schemas.openxmlformats.org/drawingml/2006/main">
            <a:r>
              <a:t>People want to exercise but can't find partners; group-chat invitations get buried and information is scattered; when people do get together, skill gaps are wide and someone often flakes. University students lack a lightweight, reliable tool for organizing sports.</a:t>
            </a:r>
          </a:p>
          <a:p xmlns:a="http://schemas.openxmlformats.org/drawingml/2006/main">
            <a:r>
              <a:t/>
            </a:r>
          </a:p>
          <a:p xmlns:a="http://schemas.openxmlformats.org/drawingml/2006/main">
            <a:r>
              <a:t>**A — Approach**</a:t>
            </a:r>
          </a:p>
          <a:p xmlns:a="http://schemas.openxmlformats.org/drawingml/2006/main">
            <a:r>
              <a:t/>
            </a:r>
          </a:p>
          <a:p xmlns:a="http://schemas.openxmlformats.org/drawingml/2006/main">
            <a:r>
              <a:t>Build a sports matchmaking platform for university students: start with activity creation, sign-up, check-in and reviews to stabilize the core flow; then add a reliability mechanism, smart matching and one-line activity creation to upgrade "can find someone" into "can find the right someone."</a:t>
            </a:r>
          </a:p>
          <a:p xmlns:a="http://schemas.openxmlformats.org/drawingml/2006/main">
            <a:r>
              <a:t/>
            </a:r>
          </a:p>
          <a:p xmlns:a="http://schemas.openxmlformats.org/drawingml/2006/main">
            <a:r>
              <a:t>**B — Benefit**</a:t>
            </a:r>
          </a:p>
          <a:p xmlns:a="http://schemas.openxmlformats.org/drawingml/2006/main">
            <a:r>
              <a:t/>
            </a:r>
          </a:p>
          <a:p xmlns:a="http://schemas.openxmlformats.org/drawingml/2006/main">
            <a:r>
              <a:t>Make it easier for students who want to exercise to find partners; reduce small frustrations like no-shows and skill mismatches; make the sports atmosphere on campus a bit more lively.</a:t>
            </a:r>
          </a:p>
          <a:p xmlns:a="http://schemas.openxmlformats.org/drawingml/2006/main">
            <a:r>
              <a:t/>
            </a:r>
          </a:p>
          <a:p xmlns:a="http://schemas.openxmlformats.org/drawingml/2006/main">
            <a:r>
              <a:t>**C — Competitors**</a:t>
            </a:r>
          </a:p>
          <a:p xmlns:a="http://schemas.openxmlformats.org/drawingml/2006/main">
            <a:r>
              <a:t/>
            </a:r>
          </a:p>
          <a:p xmlns:a="http://schemas.openxmlformats.org/drawingml/2006/main">
            <a:r>
              <a:t>| Competitor | Strength | Our Difference |</a:t>
            </a:r>
          </a:p>
          <a:p xmlns:a="http://schemas.openxmlformats.org/drawingml/2006/main">
            <a:r>
              <a:t>| --- | --- | --- |</a:t>
            </a:r>
          </a:p>
          <a:p xmlns:a="http://schemas.openxmlformats.org/drawingml/2006/main">
            <a:r>
              <a:t>| WeChat / QQ group chats | Zero barrier, everyone uses them | Messages get buried, no reliability or matching; we focus on sports matchmaking |</a:t>
            </a:r>
          </a:p>
          <a:p xmlns:a="http://schemas.openxmlformats.org/drawingml/2006/main">
            <a:r>
              <a:t>| Campus forums / confession walls | Wide reach | Messy information, no sign-up / check-in closed loop |</a:t>
            </a:r>
          </a:p>
          <a:p xmlns:a="http://schemas.openxmlformats.org/drawingml/2006/main">
            <a:r>
              <a:t>| Keep and other fitness apps | Professional, huge user base | Focus on personal workout logging, don't solve the "finding people" problem |</a:t>
            </a:r>
          </a:p>
          <a:p xmlns:a="http://schemas.openxmlformats.org/drawingml/2006/main">
            <a:r>
              <a:t>| Generic companion apps | [To be added after research] | [To be added after research] |</a:t>
            </a:r>
          </a:p>
          <a:p xmlns:a="http://schemas.openxmlformats.org/drawingml/2006/main">
            <a:r>
              <a:t/>
            </a:r>
          </a:p>
          <a:p xmlns:a="http://schemas.openxmlformats.org/drawingml/2006/main">
            <a:r>
              <a:t>**D — Delivery**</a:t>
            </a:r>
          </a:p>
          <a:p xmlns:a="http://schemas.openxmlformats.org/drawingml/2006/main">
            <a:r>
              <a:t/>
            </a:r>
          </a:p>
          <a:p xmlns:a="http://schemas.openxmlformats.org/drawingml/2006/main">
            <a:r>
              <a:t>Phase 1 delivers a minimum viable product (activity creation, sign-up, check-in, reviews) that students on one campus can actually use. Phase 2 adds reliability scores, smart matching and one-line creation. Phase 3 iterates based on trial feedback and promotes the product to other universities and clubs. Start with everyday campus sports — badminton, basketball, running, gym — then extend to class/society group activities, weekend hikes and running clubs, and later to neighboring universities and communities.</a:t>
            </a:r>
          </a:p>
          <a:p xmlns:a="http://schemas.openxmlformats.org/drawingml/2006/main">
            <a:r>
              <a:t/>
            </a:r>
          </a:p>
          <a:p xmlns:a="http://schemas.openxmlformats.org/drawingml/2006/main">
            <a:r>
              <a: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1. Team Introduction</a:t>
            </a:r>
          </a:p>
          <a:p xmlns:a="http://schemas.openxmlformats.org/drawingml/2006/main">
            <a:r>
              <a:t/>
            </a:r>
          </a:p>
          <a:p xmlns:a="http://schemas.openxmlformats.org/drawingml/2006/main">
            <a:r>
              <a:t/>
            </a:r>
          </a:p>
          <a:p xmlns:a="http://schemas.openxmlformats.org/drawingml/2006/main">
            <a:r>
              <a:t/>
            </a:r>
          </a:p>
          <a:p xmlns:a="http://schemas.openxmlformats.org/drawingml/2006/main">
            <a:r>
              <a:t>### 1.1 Team Name &amp; Meaning</a:t>
            </a:r>
          </a:p>
          <a:p xmlns:a="http://schemas.openxmlformats.org/drawingml/2006/main">
            <a:r>
              <a:t/>
            </a:r>
          </a:p>
          <a:p xmlns:a="http://schemas.openxmlformats.org/drawingml/2006/main">
            <a:r>
              <a:t>**Team Name: Falcons**</a:t>
            </a:r>
          </a:p>
          <a:p xmlns:a="http://schemas.openxmlformats.org/drawingml/2006/main">
            <a:r>
              <a:t/>
            </a:r>
          </a:p>
          <a:p xmlns:a="http://schemas.openxmlformats.org/drawingml/2006/main">
            <a:r>
              <a:t>Falcons have sharp eyes and strike swiftly — once a target is locked, they go all out; some falcon species are even known for cooperative hunting. Our project "Sports Buddy" is exactly about spotting the real pain point — *wanting to exercise but having no one to team up with* — and helping everyone quickly and precisely get into the right game.</a:t>
            </a:r>
          </a:p>
          <a:p xmlns:a="http://schemas.openxmlformats.org/drawingml/2006/main">
            <a:r>
              <a:t/>
            </a:r>
          </a:p>
          <a:p xmlns:a="http://schemas.openxmlformats.org/drawingml/2006/main">
            <a:r>
              <a:t>**Team Slogan**: *Buddy up — easily, well, precisely.*</a:t>
            </a:r>
          </a:p>
          <a:p xmlns:a="http://schemas.openxmlformats.org/drawingml/2006/main">
            <a:r>
              <a:t/>
            </a:r>
          </a:p>
          <a:p xmlns:a="http://schemas.openxmlformats.org/drawingml/2006/main">
            <a:r>
              <a:t>### 1.2 Team Members</a:t>
            </a:r>
          </a:p>
          <a:p xmlns:a="http://schemas.openxmlformats.org/drawingml/2006/main">
            <a:r>
              <a:t/>
            </a:r>
          </a:p>
          <a:p xmlns:a="http://schemas.openxmlformats.org/drawingml/2006/main">
            <a:r>
              <a:t>13 members in total, with 1 team leader; divided into six groups by role: Project Management, Product Requirements, Frontend Development, Backend Development, Algorithm, and Testing.</a:t>
            </a:r>
          </a:p>
          <a:p xmlns:a="http://schemas.openxmlformats.org/drawingml/2006/main">
            <a:r>
              <a:t/>
            </a:r>
          </a:p>
          <a:p xmlns:a="http://schemas.openxmlformats.org/drawingml/2006/main">
            <a:r>
              <a:t>**Member 1 | Huang Zhiyuan — Team Lead**</a:t>
            </a:r>
          </a:p>
          <a:p xmlns:a="http://schemas.openxmlformats.org/drawingml/2006/main">
            <a:r>
              <a:t/>
            </a:r>
          </a:p>
          <a:p xmlns:a="http://schemas.openxmlformats.org/drawingml/2006/main">
            <a:r>
              <a:t>- **Student ID**: 832401112</a:t>
            </a:r>
          </a:p>
          <a:p xmlns:a="http://schemas.openxmlformats.org/drawingml/2006/main">
            <a:r>
              <a:t>- **CSDN**: [Huang Zhiyuan's csdn](https://blog.csdn.net/weixin_61182186)</a:t>
            </a:r>
          </a:p>
          <a:p xmlns:a="http://schemas.openxmlformats.org/drawingml/2006/main">
            <a:r>
              <a:t>- **Personality**: Responsible, well-organized, and good at communication and coordination; focused on keeping a steady pace and following through on tasks</a:t>
            </a:r>
          </a:p>
          <a:p xmlns:a="http://schemas.openxmlformats.org/drawingml/2006/main">
            <a:r>
              <a:t>- **Technical Expertise**: Scheduling and progress control, project management; JavaWeb backend development and MySQL database design</a:t>
            </a:r>
          </a:p>
          <a:p xmlns:a="http://schemas.openxmlformats.org/drawingml/2006/main">
            <a:r>
              <a:t>- **Hobbies**: Sports (basketball, etc.)</a:t>
            </a:r>
          </a:p>
          <a:p xmlns:a="http://schemas.openxmlformats.org/drawingml/2006/main">
            <a:r>
              <a:t>- **Role**: Project Management (Team Lead)</a:t>
            </a:r>
          </a:p>
          <a:p xmlns:a="http://schemas.openxmlformats.org/drawingml/2006/main">
            <a:r>
              <a:t>- **Slogan**: Never stop</a:t>
            </a:r>
          </a:p>
          <a:p xmlns:a="http://schemas.openxmlformats.org/drawingml/2006/main">
            <a:r>
              <a:t/>
            </a:r>
          </a:p>
          <a:p xmlns:a="http://schemas.openxmlformats.org/drawingml/2006/main">
            <a:r>
              <a:t>**Member 2 | Zhang Zile**</a:t>
            </a:r>
          </a:p>
          <a:p xmlns:a="http://schemas.openxmlformats.org/drawingml/2006/main">
            <a:r>
              <a:t/>
            </a:r>
          </a:p>
          <a:p xmlns:a="http://schemas.openxmlformats.org/drawingml/2006/main">
            <a:r>
              <a:t>- **Student ID**: 832401325</a:t>
            </a:r>
          </a:p>
          <a:p xmlns:a="http://schemas.openxmlformats.org/drawingml/2006/main">
            <a:r>
              <a:t>- **CSDN**: [Zhang Zile's csdn](https://blog.csdn.net/m0_61183889)</a:t>
            </a:r>
          </a:p>
          <a:p xmlns:a="http://schemas.openxmlformats.org/drawingml/2006/main">
            <a:r>
              <a:t>- **Personality**: Optimistic</a:t>
            </a:r>
          </a:p>
          <a:p xmlns:a="http://schemas.openxmlformats.org/drawingml/2006/main">
            <a:r>
              <a:t>- **Technical Expertise**: Full-stack development</a:t>
            </a:r>
          </a:p>
          <a:p xmlns:a="http://schemas.openxmlformats.org/drawingml/2006/main">
            <a:r>
              <a:t>- **Hobbies**: Music, video games, F1</a:t>
            </a:r>
          </a:p>
          <a:p xmlns:a="http://schemas.openxmlformats.org/drawingml/2006/main">
            <a:r>
              <a:t>- **Role**: Product Requirements</a:t>
            </a:r>
          </a:p>
          <a:p xmlns:a="http://schemas.openxmlformats.org/drawingml/2006/main">
            <a:r>
              <a:t>- **Slogan**: Simply, Lovely.</a:t>
            </a:r>
          </a:p>
          <a:p xmlns:a="http://schemas.openxmlformats.org/drawingml/2006/main">
            <a:r>
              <a:t/>
            </a:r>
          </a:p>
          <a:p xmlns:a="http://schemas.openxmlformats.org/drawingml/2006/main">
            <a:r>
              <a:t>**Member 3 | Ye Yifan**</a:t>
            </a:r>
          </a:p>
          <a:p xmlns:a="http://schemas.openxmlformats.org/drawingml/2006/main">
            <a:r>
              <a:t/>
            </a:r>
          </a:p>
          <a:p xmlns:a="http://schemas.openxmlformats.org/drawingml/2006/main">
            <a:r>
              <a:t>- **Student ID**: 832401321</a:t>
            </a:r>
          </a:p>
          <a:p xmlns:a="http://schemas.openxmlformats.org/drawingml/2006/main">
            <a:r>
              <a:t>- **CSDN**: [Ye Yifan's csdn](https://blog.csdn.net/2401_88098790?type=blog)</a:t>
            </a:r>
          </a:p>
          <a:p xmlns:a="http://schemas.openxmlformats.org/drawingml/2006/main">
            <a:r>
              <a:t>- **Personality**: Optimistic and eager to learn, proactive and enterprising</a:t>
            </a:r>
          </a:p>
          <a:p xmlns:a="http://schemas.openxmlformats.org/drawingml/2006/main">
            <a:r>
              <a:t>- **Technical Expertise**: Data design, page layout, functional research</a:t>
            </a:r>
          </a:p>
          <a:p xmlns:a="http://schemas.openxmlformats.org/drawingml/2006/main">
            <a:r>
              <a:t>- **Hobbies**: Computer games</a:t>
            </a:r>
          </a:p>
          <a:p xmlns:a="http://schemas.openxmlformats.org/drawingml/2006/main">
            <a:r>
              <a:t>- **Role**: Product Requirements</a:t>
            </a:r>
          </a:p>
          <a:p xmlns:a="http://schemas.openxmlformats.org/drawingml/2006/main">
            <a:r>
              <a:t>- **Slogan**: Your opponent's always been somebody else you would've known</a:t>
            </a:r>
          </a:p>
          <a:p xmlns:a="http://schemas.openxmlformats.org/drawingml/2006/main">
            <a:r>
              <a:t/>
            </a:r>
          </a:p>
          <a:p xmlns:a="http://schemas.openxmlformats.org/drawingml/2006/main">
            <a:r>
              <a:t>**Member 4 | Lin Zijun**</a:t>
            </a:r>
          </a:p>
          <a:p xmlns:a="http://schemas.openxmlformats.org/drawingml/2006/main">
            <a:r>
              <a:t/>
            </a:r>
          </a:p>
          <a:p xmlns:a="http://schemas.openxmlformats.org/drawingml/2006/main">
            <a:r>
              <a:t>- **Student ID**: 832401311</a:t>
            </a:r>
          </a:p>
          <a:p xmlns:a="http://schemas.openxmlformats.org/drawingml/2006/main">
            <a:r>
              <a:t>- **CSDN**: [Lin Zijun's csdn](https://blog.csdn.net/2401_88072365?spm=1010.2135.3001.5343)</a:t>
            </a:r>
          </a:p>
          <a:p xmlns:a="http://schemas.openxmlformats.org/drawingml/2006/main">
            <a:r>
              <a:t>- **Personality**: Careful, patient</a:t>
            </a:r>
          </a:p>
          <a:p xmlns:a="http://schemas.openxmlformats.org/drawingml/2006/main">
            <a:r>
              <a:t>- **Technical Expertise**: API development, database, page layout</a:t>
            </a:r>
          </a:p>
          <a:p xmlns:a="http://schemas.openxmlformats.org/drawingml/2006/main">
            <a:r>
              <a:t>- **Hobbies**: Singing, gaming</a:t>
            </a:r>
          </a:p>
          <a:p xmlns:a="http://schemas.openxmlformats.org/drawingml/2006/main">
            <a:r>
              <a:t>- **Role**: Frontend Development</a:t>
            </a:r>
          </a:p>
          <a:p xmlns:a="http://schemas.openxmlformats.org/drawingml/2006/main">
            <a:r>
              <a:t>- **Slogan**: Patient is the key to life.</a:t>
            </a:r>
          </a:p>
          <a:p xmlns:a="http://schemas.openxmlformats.org/drawingml/2006/main">
            <a:r>
              <a:t/>
            </a:r>
          </a:p>
          <a:p xmlns:a="http://schemas.openxmlformats.org/drawingml/2006/main">
            <a:r>
              <a:t>**Member 5 | Li Zhenhao**</a:t>
            </a:r>
          </a:p>
          <a:p xmlns:a="http://schemas.openxmlformats.org/drawingml/2006/main">
            <a:r>
              <a:t/>
            </a:r>
          </a:p>
          <a:p xmlns:a="http://schemas.openxmlformats.org/drawingml/2006/main">
            <a:r>
              <a:t>- **Student ID**: 832401310</a:t>
            </a:r>
          </a:p>
          <a:p xmlns:a="http://schemas.openxmlformats.org/drawingml/2006/main">
            <a:r>
              <a:t>- **CSDN**: [Li Zhenhao's csdn](https://blog.csdn.net/outs_tand_ing?type=blog)</a:t>
            </a:r>
          </a:p>
          <a:p xmlns:a="http://schemas.openxmlformats.org/drawingml/2006/main">
            <a:r>
              <a:t>- **Personality**: Diligent, careful</a:t>
            </a:r>
          </a:p>
          <a:p xmlns:a="http://schemas.openxmlformats.org/drawingml/2006/main">
            <a:r>
              <a:t>- **Technical Expertise**: Page layout, component development, interactive implementation</a:t>
            </a:r>
          </a:p>
          <a:p xmlns:a="http://schemas.openxmlformats.org/drawingml/2006/main">
            <a:r>
              <a:t>- **Hobbies**: Listening to music, playing basketball</a:t>
            </a:r>
          </a:p>
          <a:p xmlns:a="http://schemas.openxmlformats.org/drawingml/2006/main">
            <a:r>
              <a:t>- **Role**: Frontend Development</a:t>
            </a:r>
          </a:p>
          <a:p xmlns:a="http://schemas.openxmlformats.org/drawingml/2006/main">
            <a:r>
              <a:t>- **Slogan**: Keep trying and make constant breakthroughs</a:t>
            </a:r>
          </a:p>
          <a:p xmlns:a="http://schemas.openxmlformats.org/drawingml/2006/main">
            <a:r>
              <a:t/>
            </a:r>
          </a:p>
          <a:p xmlns:a="http://schemas.openxmlformats.org/drawingml/2006/main">
            <a:r>
              <a:t>**Member 6 | Li Haoze**</a:t>
            </a:r>
          </a:p>
          <a:p xmlns:a="http://schemas.openxmlformats.org/drawingml/2006/main">
            <a:r>
              <a:t/>
            </a:r>
          </a:p>
          <a:p xmlns:a="http://schemas.openxmlformats.org/drawingml/2006/main">
            <a:r>
              <a:t>- **Student ID**: 832401309</a:t>
            </a:r>
          </a:p>
          <a:p xmlns:a="http://schemas.openxmlformats.org/drawingml/2006/main">
            <a:r>
              <a:t>- **CSDN**: [Li Haoze's csdn](https://blog.csdn.net/2603_97088533?type=blog)</a:t>
            </a:r>
          </a:p>
          <a:p xmlns:a="http://schemas.openxmlformats.org/drawingml/2006/main">
            <a:r>
              <a:t>- **Personality**: Hardworking and patient, conscientious at work</a:t>
            </a:r>
          </a:p>
          <a:p xmlns:a="http://schemas.openxmlformats.org/drawingml/2006/main">
            <a:r>
              <a:t>- **Technical Expertise**: Full-stack development</a:t>
            </a:r>
          </a:p>
          <a:p xmlns:a="http://schemas.openxmlformats.org/drawingml/2006/main">
            <a:r>
              <a:t>- **Hobbies**: Music</a:t>
            </a:r>
          </a:p>
          <a:p xmlns:a="http://schemas.openxmlformats.org/drawingml/2006/main">
            <a:r>
              <a:t>- **Role**: Frontend Development</a:t>
            </a:r>
          </a:p>
          <a:p xmlns:a="http://schemas.openxmlformats.org/drawingml/2006/main">
            <a:r>
              <a:t>- **Slogan**: Write robust code, solve real-world problems with care.</a:t>
            </a:r>
          </a:p>
          <a:p xmlns:a="http://schemas.openxmlformats.org/drawingml/2006/main">
            <a:r>
              <a:t/>
            </a:r>
          </a:p>
          <a:p xmlns:a="http://schemas.openxmlformats.org/drawingml/2006/main">
            <a:r>
              <a:t>**Member 7 | He Jinghao**</a:t>
            </a:r>
          </a:p>
          <a:p xmlns:a="http://schemas.openxmlformats.org/drawingml/2006/main">
            <a:r>
              <a:t/>
            </a:r>
          </a:p>
          <a:p xmlns:a="http://schemas.openxmlformats.org/drawingml/2006/main">
            <a:r>
              <a:t>- **Student ID**: 832401307</a:t>
            </a:r>
          </a:p>
          <a:p xmlns:a="http://schemas.openxmlformats.org/drawingml/2006/main">
            <a:r>
              <a:t>- **CSDN**: [He Jinghao's csdn](https://blog.csdn.net/2603_97055950)</a:t>
            </a:r>
          </a:p>
          <a:p xmlns:a="http://schemas.openxmlformats.org/drawingml/2006/main">
            <a:r>
              <a:t>- **Personality**: Patient, good at communication</a:t>
            </a:r>
          </a:p>
          <a:p xmlns:a="http://schemas.openxmlformats.org/drawingml/2006/main">
            <a:r>
              <a:t>- **Technical Expertise**: UI restoration, basic JavaScript interaction debugging</a:t>
            </a:r>
          </a:p>
          <a:p xmlns:a="http://schemas.openxmlformats.org/drawingml/2006/main">
            <a:r>
              <a:t>- **Hobbies**: Browsing UI design works, listening to music</a:t>
            </a:r>
          </a:p>
          <a:p xmlns:a="http://schemas.openxmlformats.org/drawingml/2006/main">
            <a:r>
              <a:t>- **Role**: Frontend Development</a:t>
            </a:r>
          </a:p>
          <a:p xmlns:a="http://schemas.openxmlformats.org/drawingml/2006/main">
            <a:r>
              <a:t>- **Slogan**: Hard work pays off; earnest labor never deceives.</a:t>
            </a:r>
          </a:p>
          <a:p xmlns:a="http://schemas.openxmlformats.org/drawingml/2006/main">
            <a:r>
              <a:t/>
            </a:r>
          </a:p>
          <a:p xmlns:a="http://schemas.openxmlformats.org/drawingml/2006/main">
            <a:r>
              <a:t>**Member 8 | Zhang Jingtian**</a:t>
            </a:r>
          </a:p>
          <a:p xmlns:a="http://schemas.openxmlformats.org/drawingml/2006/main">
            <a:r>
              <a:t/>
            </a:r>
          </a:p>
          <a:p xmlns:a="http://schemas.openxmlformats.org/drawingml/2006/main">
            <a:r>
              <a:t>- **Student ID**: 832401323</a:t>
            </a:r>
          </a:p>
          <a:p xmlns:a="http://schemas.openxmlformats.org/drawingml/2006/main">
            <a:r>
              <a:t>- **CSDN**: [Zhang Jingtian's csdn](https://blog.csdn.net/2603_97140630?type=bbs)</a:t>
            </a:r>
          </a:p>
          <a:p xmlns:a="http://schemas.openxmlformats.org/drawingml/2006/main">
            <a:r>
              <a:t>- **Personality**: Optimistic and eager to learn, accommodating</a:t>
            </a:r>
          </a:p>
          <a:p xmlns:a="http://schemas.openxmlformats.org/drawingml/2006/main">
            <a:r>
              <a:t>- **Technical Expertise**: Code debugging, function design</a:t>
            </a:r>
          </a:p>
          <a:p xmlns:a="http://schemas.openxmlformats.org/drawingml/2006/main">
            <a:r>
              <a:t>- **Hobbies**: Reading novels</a:t>
            </a:r>
          </a:p>
          <a:p xmlns:a="http://schemas.openxmlformats.org/drawingml/2006/main">
            <a:r>
              <a:t>- **Role**: Backend Development</a:t>
            </a:r>
          </a:p>
          <a:p xmlns:a="http://schemas.openxmlformats.org/drawingml/2006/main">
            <a:r>
              <a:t>- **Slogan**: Technology drives the world</a:t>
            </a:r>
          </a:p>
          <a:p xmlns:a="http://schemas.openxmlformats.org/drawingml/2006/main">
            <a:r>
              <a:t/>
            </a:r>
          </a:p>
          <a:p xmlns:a="http://schemas.openxmlformats.org/drawingml/2006/main">
            <a:r>
              <a:t>**Member 9 | Yu Chenghao**</a:t>
            </a:r>
          </a:p>
          <a:p xmlns:a="http://schemas.openxmlformats.org/drawingml/2006/main">
            <a:r>
              <a:t/>
            </a:r>
          </a:p>
          <a:p xmlns:a="http://schemas.openxmlformats.org/drawingml/2006/main">
            <a:r>
              <a:t>- **Student ID**: 832401322</a:t>
            </a:r>
          </a:p>
          <a:p xmlns:a="http://schemas.openxmlformats.org/drawingml/2006/main">
            <a:r>
              <a:t>- **CSDN**: [Yu Chenghao's csdn](https://blog.csdn.net/2601_97148386?type=blogCommunity)</a:t>
            </a:r>
          </a:p>
          <a:p xmlns:a="http://schemas.openxmlformats.org/drawingml/2006/main">
            <a:r>
              <a:t>- **Personality**: Hardworking, patient</a:t>
            </a:r>
          </a:p>
          <a:p xmlns:a="http://schemas.openxmlformats.org/drawingml/2006/main">
            <a:r>
              <a:t>- **Technical Expertise**: API development, database, service deployment</a:t>
            </a:r>
          </a:p>
          <a:p xmlns:a="http://schemas.openxmlformats.org/drawingml/2006/main">
            <a:r>
              <a:t>- **Hobbies**: Listening to music, gaming</a:t>
            </a:r>
          </a:p>
          <a:p xmlns:a="http://schemas.openxmlformats.org/drawingml/2006/main">
            <a:r>
              <a:t>- **Role**: Backend Development</a:t>
            </a:r>
          </a:p>
          <a:p xmlns:a="http://schemas.openxmlformats.org/drawingml/2006/main">
            <a:r>
              <a:t>- **Slogan**: Slow progress is still progress.</a:t>
            </a:r>
          </a:p>
          <a:p xmlns:a="http://schemas.openxmlformats.org/drawingml/2006/main">
            <a:r>
              <a:t/>
            </a:r>
          </a:p>
          <a:p xmlns:a="http://schemas.openxmlformats.org/drawingml/2006/main">
            <a:r>
              <a:t>**Member 10 | Zhang Xinyu**</a:t>
            </a:r>
          </a:p>
          <a:p xmlns:a="http://schemas.openxmlformats.org/drawingml/2006/main">
            <a:r>
              <a:t/>
            </a:r>
          </a:p>
          <a:p xmlns:a="http://schemas.openxmlformats.org/drawingml/2006/main">
            <a:r>
              <a:t>- **Student ID**: 832401324</a:t>
            </a:r>
          </a:p>
          <a:p xmlns:a="http://schemas.openxmlformats.org/drawingml/2006/main">
            <a:r>
              <a:t>- **CSDN**: [Zhang Xinyu's csdn](https://blog.csdn.net/HEBEI_Story?spm=1035.2248.3001.5343)</a:t>
            </a:r>
          </a:p>
          <a:p xmlns:a="http://schemas.openxmlformats.org/drawingml/2006/main">
            <a:r>
              <a:t>- **Personality**: Self-motivated, detail-oriented, logical thinking, problem-solving</a:t>
            </a:r>
          </a:p>
          <a:p xmlns:a="http://schemas.openxmlformats.org/drawingml/2006/main">
            <a:r>
              <a:t>- **Technical Expertise**: API development, database design, interactive implementation</a:t>
            </a:r>
          </a:p>
          <a:p xmlns:a="http://schemas.openxmlformats.org/drawingml/2006/main">
            <a:r>
              <a:t>- **Hobbies**: Fitness, music, basketball, games</a:t>
            </a:r>
          </a:p>
          <a:p xmlns:a="http://schemas.openxmlformats.org/drawingml/2006/main">
            <a:r>
              <a:t>- **Role**: Backend Development</a:t>
            </a:r>
          </a:p>
          <a:p xmlns:a="http://schemas.openxmlformats.org/drawingml/2006/main">
            <a:r>
              <a:t>- **Slogan**: Keep thinking, keep building.</a:t>
            </a:r>
          </a:p>
          <a:p xmlns:a="http://schemas.openxmlformats.org/drawingml/2006/main">
            <a:r>
              <a:t/>
            </a:r>
          </a:p>
          <a:p xmlns:a="http://schemas.openxmlformats.org/drawingml/2006/main">
            <a:r>
              <a:t>**Member 11 | Xu Boyu**</a:t>
            </a:r>
          </a:p>
          <a:p xmlns:a="http://schemas.openxmlformats.org/drawingml/2006/main">
            <a:r>
              <a:t/>
            </a:r>
          </a:p>
          <a:p xmlns:a="http://schemas.openxmlformats.org/drawingml/2006/main">
            <a:r>
              <a:t>- **Student ID**: 832401320</a:t>
            </a:r>
          </a:p>
          <a:p xmlns:a="http://schemas.openxmlformats.org/drawingml/2006/main">
            <a:r>
              <a:t>- **CSDN**: [Xu Boyu's csdn](https://blog.csdn.net/2401_87119205?type=blog)</a:t>
            </a:r>
          </a:p>
          <a:p xmlns:a="http://schemas.openxmlformats.org/drawingml/2006/main">
            <a:r>
              <a:t>- **Personality**: Diligent and patient, with a steady, detail-oriented approach to work</a:t>
            </a:r>
          </a:p>
          <a:p xmlns:a="http://schemas.openxmlformats.org/drawingml/2006/main">
            <a:r>
              <a:t>- **Technical Expertise**: API development, database design, service deployment</a:t>
            </a:r>
          </a:p>
          <a:p xmlns:a="http://schemas.openxmlformats.org/drawingml/2006/main">
            <a:r>
              <a:t>- **Hobbies**: Sleeping</a:t>
            </a:r>
          </a:p>
          <a:p xmlns:a="http://schemas.openxmlformats.org/drawingml/2006/main">
            <a:r>
              <a:t>- **Role**: Backend Development</a:t>
            </a:r>
          </a:p>
          <a:p xmlns:a="http://schemas.openxmlformats.org/drawingml/2006/main">
            <a:r>
              <a:t>- **Slogan**: Know, Start, Keep, Build, Learn.</a:t>
            </a:r>
          </a:p>
          <a:p xmlns:a="http://schemas.openxmlformats.org/drawingml/2006/main">
            <a:r>
              <a:t/>
            </a:r>
          </a:p>
          <a:p xmlns:a="http://schemas.openxmlformats.org/drawingml/2006/main">
            <a:r>
              <a:t>**Member 12 | Cai Yaohua**</a:t>
            </a:r>
          </a:p>
          <a:p xmlns:a="http://schemas.openxmlformats.org/drawingml/2006/main">
            <a:r>
              <a:t/>
            </a:r>
          </a:p>
          <a:p xmlns:a="http://schemas.openxmlformats.org/drawingml/2006/main">
            <a:r>
              <a:t>- **Student ID**: 832401302</a:t>
            </a:r>
          </a:p>
          <a:p xmlns:a="http://schemas.openxmlformats.org/drawingml/2006/main">
            <a:r>
              <a:t>- **CSDN**: [Cai Yaohua's csdn](https://blog.csdn.net/2401_88085295?type=blog)</a:t>
            </a:r>
          </a:p>
          <a:p xmlns:a="http://schemas.openxmlformats.org/drawingml/2006/main">
            <a:r>
              <a:t>- **Personality**: Good at communication, patient in debugging, strong teamwork spirit</a:t>
            </a:r>
          </a:p>
          <a:p xmlns:a="http://schemas.openxmlformats.org/drawingml/2006/main">
            <a:r>
              <a:t>- **Technical Expertise**: C language, Python, data structures</a:t>
            </a:r>
          </a:p>
          <a:p xmlns:a="http://schemas.openxmlformats.org/drawingml/2006/main">
            <a:r>
              <a:t>- **Hobbies**: Gaming, basketball, exploring new tools</a:t>
            </a:r>
          </a:p>
          <a:p xmlns:a="http://schemas.openxmlformats.org/drawingml/2006/main">
            <a:r>
              <a:t>- **Role**: Algorithm</a:t>
            </a:r>
          </a:p>
          <a:p xmlns:a="http://schemas.openxmlformats.org/drawingml/2006/main">
            <a:r>
              <a:t>- **Slogan**: Iterate steadily, deliver reliably</a:t>
            </a:r>
          </a:p>
          <a:p xmlns:a="http://schemas.openxmlformats.org/drawingml/2006/main">
            <a:r>
              <a:t/>
            </a:r>
          </a:p>
          <a:p xmlns:a="http://schemas.openxmlformats.org/drawingml/2006/main">
            <a:r>
              <a:t>**Member 13 | Wang Shaojie**</a:t>
            </a:r>
          </a:p>
          <a:p xmlns:a="http://schemas.openxmlformats.org/drawingml/2006/main">
            <a:r>
              <a:t/>
            </a:r>
          </a:p>
          <a:p xmlns:a="http://schemas.openxmlformats.org/drawingml/2006/main">
            <a:r>
              <a:t>- **Student ID**: 832401219</a:t>
            </a:r>
          </a:p>
          <a:p xmlns:a="http://schemas.openxmlformats.org/drawingml/2006/main">
            <a:r>
              <a:t>- **CSDN**: [Wang Shaojie's csdn](https://blog.csdn.net/2601_97073737)</a:t>
            </a:r>
          </a:p>
          <a:p xmlns:a="http://schemas.openxmlformats.org/drawingml/2006/main">
            <a:r>
              <a:t>- **Personality**: Careful and rigorous, patient, responsible</a:t>
            </a:r>
          </a:p>
          <a:p xmlns:a="http://schemas.openxmlformats.org/drawingml/2006/main">
            <a:r>
              <a:t>- **Technical Expertise**: Functional testing and test case design</a:t>
            </a:r>
          </a:p>
          <a:p xmlns:a="http://schemas.openxmlformats.org/drawingml/2006/main">
            <a:r>
              <a:t>- **Hobbies**: Sports, listening to music</a:t>
            </a:r>
          </a:p>
          <a:p xmlns:a="http://schemas.openxmlformats.org/drawingml/2006/main">
            <a:r>
              <a:t>- **Role**: Testing</a:t>
            </a:r>
          </a:p>
          <a:p xmlns:a="http://schemas.openxmlformats.org/drawingml/2006/main">
            <a:r>
              <a:t>- **Slogan**: Quality is not an act, it is a habit.</a:t>
            </a:r>
          </a:p>
          <a:p xmlns:a="http://schemas.openxmlformats.org/drawingml/2006/main">
            <a:r>
              <a:t/>
            </a:r>
          </a:p>
          <a:p xmlns:a="http://schemas.openxmlformats.org/drawingml/2006/main">
            <a:r>
              <a:t>### 1.3 Team Vision</a:t>
            </a:r>
          </a:p>
          <a:p xmlns:a="http://schemas.openxmlformats.org/drawingml/2006/main">
            <a:r>
              <a:t/>
            </a:r>
          </a:p>
          <a:p xmlns:a="http://schemas.openxmlformats.org/drawingml/2006/main">
            <a:r>
              <a:t>We chose the Sports Buddy platform because of a real pain point: **students want to exercise, but it is hard to find partners who match in time, skill and location, and who show up.**</a:t>
            </a:r>
          </a:p>
          <a:p xmlns:a="http://schemas.openxmlformats.org/drawingml/2006/main">
            <a:r>
              <a:t/>
            </a:r>
          </a:p>
          <a:p xmlns:a="http://schemas.openxmlformats.org/drawingml/2006/main">
            <a:r>
              <a:t>Our vision can be summed up in three words — **"约得到，约得好，约得准"** — buddy up, easily; buddy up, well; buddy up, precisely:</a:t>
            </a:r>
          </a:p>
          <a:p xmlns:a="http://schemas.openxmlformats.org/drawingml/2006/main">
            <a:r>
              <a:t/>
            </a:r>
          </a:p>
          <a:p xmlns:a="http://schemas.openxmlformats.org/drawingml/2006/main">
            <a:r>
              <a:t>1. **Buddy up, easily (约得到)**: with activity creation, browsing and sign-up, anyone who wants to exercise can always find someone to go with, turning "wanting to exercise" into "actually exercising".</a:t>
            </a:r>
          </a:p>
          <a:p xmlns:a="http://schemas.openxmlformats.org/drawingml/2006/main">
            <a:r>
              <a:t/>
            </a:r>
          </a:p>
          <a:p xmlns:a="http://schemas.openxmlformats.org/drawingml/2006/main">
            <a:r>
              <a:t>2. **Buddy up, well (约得好)**: the reliability score and mutual reviews reduce no-shows and skill mismatches, so the small frustrations of group sports become fewer and fewer.</a:t>
            </a:r>
          </a:p>
          <a:p xmlns:a="http://schemas.openxmlformats.org/drawingml/2006/main">
            <a:r>
              <a:t/>
            </a:r>
          </a:p>
          <a:p xmlns:a="http://schemas.openxmlformats.org/drawingml/2006/main">
            <a:r>
              <a:t>3. **Buddy up, precisely (约得准)**: smart matching and one-line activity creation connect you with the right partner — the right time, the right skill level, the right place.</a:t>
            </a:r>
          </a:p>
          <a:p xmlns:a="http://schemas.openxmlformats.org/drawingml/2006/main">
            <a:r>
              <a:t/>
            </a:r>
          </a:p>
          <a:p xmlns:a="http://schemas.openxmlformats.org/drawingml/2006/main">
            <a:r>
              <a:t>We don't pursue being large and all-inclusive; instead we **first make one campus truly usable**, build a product that "really works and people want to use", and later extend it to more universities, societies and communities.</a:t>
            </a:r>
          </a:p>
          <a:p xmlns:a="http://schemas.openxmlformats.org/drawingml/2006/main">
            <a:r>
              <a:t/>
            </a:r>
          </a:p>
          <a:p xmlns:a="http://schemas.openxmlformats.org/drawingml/2006/main">
            <a:r>
              <a:t>### 1.4 Team Photo</a:t>
            </a:r>
          </a:p>
          <a:p xmlns:a="http://schemas.openxmlformats.org/drawingml/2006/main">
            <a:r>
              <a:t/>
            </a:r>
          </a:p>
          <a:p xmlns:a="http://schemas.openxmlformats.org/drawingml/2006/main">
            <a:r>
              <a:t>![Team Photo](https://i-blog.csdnimg.cn/communtity/8bbe7087dda344cba2f1cd9fe7ea5c54.jpeg)</a:t>
            </a:r>
          </a:p>
          <a:p xmlns:a="http://schemas.openxmlformats.org/drawingml/2006/main">
            <a:r>
              <a:t/>
            </a:r>
          </a:p>
          <a:p xmlns:a="http://schemas.openxmlformats.org/drawingml/2006/main">
            <a:r>
              <a:t>### 1.5 Team Logo</a:t>
            </a:r>
          </a:p>
          <a:p xmlns:a="http://schemas.openxmlformats.org/drawingml/2006/main">
            <a:r>
              <a:t/>
            </a:r>
          </a:p>
          <a:p xmlns:a="http://schemas.openxmlformats.org/drawingml/2006/main">
            <a:r>
              <a:t>![Team Logo](https://i-blog.csdnimg.cn/communtity/2c168e7537e24ca18b60b31cb3b703d5.jpeg)</a:t>
            </a:r>
          </a:p>
          <a:p xmlns:a="http://schemas.openxmlformats.org/drawingml/2006/main">
            <a:r>
              <a:t/>
            </a:r>
          </a:p>
          <a:p xmlns:a="http://schemas.openxmlformats.org/drawingml/2006/main">
            <a:r>
              <a:t>The Falcons logo is built on the outline of a diving falcon's wings, blending the falcon's sharpness and boldness with a confident, vivid anthropomorphic image. The warm-gold wings symbolize glory and speed; the asymmetrical eyes signify insight into the target and composure in the face of challenges; the bright smile represents the team's optimism and cohesion. Overall, it conveys the Falcon spirit: firm goals, swift breakthroughs and unity in moving forward — keeping passion and confidence through every challenge.</a:t>
            </a:r>
          </a:p>
          <a:p xmlns:a="http://schemas.openxmlformats.org/drawingml/2006/main">
            <a:r>
              <a:t/>
            </a:r>
          </a:p>
          <a:p xmlns:a="http://schemas.openxmlformats.org/drawingml/2006/main">
            <a:r>
              <a: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2. Project Introduction</a:t>
            </a:r>
          </a:p>
          <a:p xmlns:a="http://schemas.openxmlformats.org/drawingml/2006/main">
            <a:r>
              <a:t/>
            </a:r>
          </a:p>
          <a:p xmlns:a="http://schemas.openxmlformats.org/drawingml/2006/main">
            <a:r>
              <a:t/>
            </a:r>
          </a:p>
          <a:p xmlns:a="http://schemas.openxmlformats.org/drawingml/2006/main">
            <a:r>
              <a:t/>
            </a:r>
          </a:p>
          <a:p xmlns:a="http://schemas.openxmlformats.org/drawingml/2006/main">
            <a:r>
              <a:t>### 2.1 Background &amp; Reasons</a:t>
            </a:r>
          </a:p>
          <a:p xmlns:a="http://schemas.openxmlformats.org/drawingml/2006/main">
            <a:r>
              <a:t/>
            </a:r>
          </a:p>
          <a:p xmlns:a="http://schemas.openxmlformats.org/drawingml/2006/main">
            <a:r>
              <a:t>Students around us often go through this: wanting to play ball, run, or hike, but finding no one to go with; posting an invitation in a group chat, only to have it buried by other messages in minutes; finally getting enough people together, but the skill gap is too wide, or someone flakes at the last minute and the activity falls apart. We want to build a lightweight, reliable tool that turns "wanting to exercise" into "actually exercising."</a:t>
            </a:r>
          </a:p>
          <a:p xmlns:a="http://schemas.openxmlformats.org/drawingml/2006/main">
            <a:r>
              <a:t/>
            </a:r>
          </a:p>
          <a:p xmlns:a="http://schemas.openxmlformats.org/drawingml/2006/main">
            <a:r>
              <a:t>### 2.2 Project Description</a:t>
            </a:r>
          </a:p>
          <a:p xmlns:a="http://schemas.openxmlformats.org/drawingml/2006/main">
            <a:r>
              <a:t/>
            </a:r>
          </a:p>
          <a:p xmlns:a="http://schemas.openxmlformats.org/drawingml/2006/main">
            <a:r>
              <a:t>**Sports Buddy** — a sports matchmaking platform for university students, helping people who want to exercise quickly find partners who match in time, skill level and location, and who can be relied on.</a:t>
            </a:r>
          </a:p>
          <a:p xmlns:a="http://schemas.openxmlformats.org/drawingml/2006/main">
            <a:r>
              <a:t/>
            </a:r>
          </a:p>
          <a:p xmlns:a="http://schemas.openxmlformats.org/drawingml/2006/main">
            <a:r>
              <a:t>| Feature | Description |</a:t>
            </a:r>
          </a:p>
          <a:p xmlns:a="http://schemas.openxmlformats.org/drawingml/2006/main">
            <a:r>
              <a:t>| --- | --- |</a:t>
            </a:r>
          </a:p>
          <a:p xmlns:a="http://schemas.openxmlformats.org/drawingml/2006/main">
            <a:r>
              <a:t>| Create Activities | Post sports activities with time, location, headcount and skill requirements |</a:t>
            </a:r>
          </a:p>
          <a:p xmlns:a="http://schemas.openxmlformats.org/drawingml/2006/main">
            <a:r>
              <a:t>| Sign Up | Browse and join activities of interest |</a:t>
            </a:r>
          </a:p>
          <a:p xmlns:a="http://schemas.openxmlformats.org/drawingml/2006/main">
            <a:r>
              <a:t>| Check In | On-site check-in to record participation |</a:t>
            </a:r>
          </a:p>
          <a:p xmlns:a="http://schemas.openxmlformats.org/drawingml/2006/main">
            <a:r>
              <a:t>| Review | Rate each other after activities to build reputation |</a:t>
            </a:r>
          </a:p>
          <a:p xmlns:a="http://schemas.openxmlformats.org/drawingml/2006/main">
            <a:r>
              <a:t>| Reliability Score | Compute a reliability score from attendance and reviews to reduce no-shows |</a:t>
            </a:r>
          </a:p>
          <a:p xmlns:a="http://schemas.openxmlformats.org/drawingml/2006/main">
            <a:r>
              <a:t>| Smart Matching | Recommend suitable activities and partners by time, location and skill |</a:t>
            </a:r>
          </a:p>
          <a:p xmlns:a="http://schemas.openxmlformats.org/drawingml/2006/main">
            <a:r>
              <a:t>| One-line Creation | Create an activity quickly with a single natural-language sentence |</a:t>
            </a:r>
          </a:p>
          <a:p xmlns:a="http://schemas.openxmlformats.org/drawingml/2006/main">
            <a:r>
              <a:t>| Weather Tips | Provide activity suggestions based on weather |</a:t>
            </a:r>
          </a:p>
          <a:p xmlns:a="http://schemas.openxmlformats.org/drawingml/2006/main">
            <a:r>
              <a:t/>
            </a:r>
          </a:p>
          <a:p xmlns:a="http://schemas.openxmlformats.org/drawingml/2006/main">
            <a:r>
              <a:t>**Tech Stack**: [To be added — to be decided in the design phase]</a:t>
            </a:r>
          </a:p>
          <a:p xmlns:a="http://schemas.openxmlformats.org/drawingml/2006/main">
            <a:r>
              <a:t/>
            </a:r>
          </a:p>
          <a:p xmlns:a="http://schemas.openxmlformats.org/drawingml/2006/main">
            <a:r>
              <a:t>### 2.3 NABCD Analysis</a:t>
            </a:r>
          </a:p>
          <a:p xmlns:a="http://schemas.openxmlformats.org/drawingml/2006/main">
            <a:r>
              <a:t/>
            </a:r>
          </a:p>
          <a:p xmlns:a="http://schemas.openxmlformats.org/drawingml/2006/main">
            <a:r>
              <a:t>**N — Need**</a:t>
            </a:r>
          </a:p>
          <a:p xmlns:a="http://schemas.openxmlformats.org/drawingml/2006/main">
            <a:r>
              <a:t/>
            </a:r>
          </a:p>
          <a:p xmlns:a="http://schemas.openxmlformats.org/drawingml/2006/main">
            <a:r>
              <a:t>People want to exercise but can't find partners; group-chat invitations get buried and information is scattered; when people do get together, skill gaps are wide and someone often flakes. University students lack a lightweight, reliable tool for organizing sports.</a:t>
            </a:r>
          </a:p>
          <a:p xmlns:a="http://schemas.openxmlformats.org/drawingml/2006/main">
            <a:r>
              <a:t/>
            </a:r>
          </a:p>
          <a:p xmlns:a="http://schemas.openxmlformats.org/drawingml/2006/main">
            <a:r>
              <a:t>**A — Approach**</a:t>
            </a:r>
          </a:p>
          <a:p xmlns:a="http://schemas.openxmlformats.org/drawingml/2006/main">
            <a:r>
              <a:t/>
            </a:r>
          </a:p>
          <a:p xmlns:a="http://schemas.openxmlformats.org/drawingml/2006/main">
            <a:r>
              <a:t>Build a sports matchmaking platform for university students: start with activity creation, sign-up, check-in and reviews to stabilize the core flow; then add a reliability mechanism, smart matching and one-line activity creation to upgrade "can find someone" into "can find the right someone."</a:t>
            </a:r>
          </a:p>
          <a:p xmlns:a="http://schemas.openxmlformats.org/drawingml/2006/main">
            <a:r>
              <a:t/>
            </a:r>
          </a:p>
          <a:p xmlns:a="http://schemas.openxmlformats.org/drawingml/2006/main">
            <a:r>
              <a:t>**B — Benefit**</a:t>
            </a:r>
          </a:p>
          <a:p xmlns:a="http://schemas.openxmlformats.org/drawingml/2006/main">
            <a:r>
              <a:t/>
            </a:r>
          </a:p>
          <a:p xmlns:a="http://schemas.openxmlformats.org/drawingml/2006/main">
            <a:r>
              <a:t>Make it easier for students who want to exercise to find partners; reduce small frustrations like no-shows and skill mismatches; make the sports atmosphere on campus a bit more lively.</a:t>
            </a:r>
          </a:p>
          <a:p xmlns:a="http://schemas.openxmlformats.org/drawingml/2006/main">
            <a:r>
              <a:t/>
            </a:r>
          </a:p>
          <a:p xmlns:a="http://schemas.openxmlformats.org/drawingml/2006/main">
            <a:r>
              <a:t>**C — Competitors**</a:t>
            </a:r>
          </a:p>
          <a:p xmlns:a="http://schemas.openxmlformats.org/drawingml/2006/main">
            <a:r>
              <a:t/>
            </a:r>
          </a:p>
          <a:p xmlns:a="http://schemas.openxmlformats.org/drawingml/2006/main">
            <a:r>
              <a:t>| Competitor | Strength | Our Difference |</a:t>
            </a:r>
          </a:p>
          <a:p xmlns:a="http://schemas.openxmlformats.org/drawingml/2006/main">
            <a:r>
              <a:t>| --- | --- | --- |</a:t>
            </a:r>
          </a:p>
          <a:p xmlns:a="http://schemas.openxmlformats.org/drawingml/2006/main">
            <a:r>
              <a:t>| WeChat / QQ group chats | Zero barrier, everyone uses them | Messages get buried, no reliability or matching; we focus on sports matchmaking |</a:t>
            </a:r>
          </a:p>
          <a:p xmlns:a="http://schemas.openxmlformats.org/drawingml/2006/main">
            <a:r>
              <a:t>| Campus forums / confession walls | Wide reach | Messy information, no sign-up / check-in closed loop |</a:t>
            </a:r>
          </a:p>
          <a:p xmlns:a="http://schemas.openxmlformats.org/drawingml/2006/main">
            <a:r>
              <a:t>| Keep and other fitness apps | Professional, huge user base | Focus on personal workout logging, don't solve the "finding people" problem |</a:t>
            </a:r>
          </a:p>
          <a:p xmlns:a="http://schemas.openxmlformats.org/drawingml/2006/main">
            <a:r>
              <a:t>| Generic companion apps | [To be added after research] | [To be added after research] |</a:t>
            </a:r>
          </a:p>
          <a:p xmlns:a="http://schemas.openxmlformats.org/drawingml/2006/main">
            <a:r>
              <a:t/>
            </a:r>
          </a:p>
          <a:p xmlns:a="http://schemas.openxmlformats.org/drawingml/2006/main">
            <a:r>
              <a:t>**D — Delivery**</a:t>
            </a:r>
          </a:p>
          <a:p xmlns:a="http://schemas.openxmlformats.org/drawingml/2006/main">
            <a:r>
              <a:t/>
            </a:r>
          </a:p>
          <a:p xmlns:a="http://schemas.openxmlformats.org/drawingml/2006/main">
            <a:r>
              <a:t>Phase 1 delivers a minimum viable product (activity creation, sign-up, check-in, reviews) that students on one campus can actually use. Phase 2 adds reliability scores, smart matching and one-line creation. Phase 3 iterates based on trial feedback and promotes the product to other universities and clubs. Start with everyday campus sports — badminton, basketball, running, gym — then extend to class/society group activities, weekend hikes and running clubs, and later to neighboring universities and communities.</a:t>
            </a:r>
          </a:p>
          <a:p xmlns:a="http://schemas.openxmlformats.org/drawingml/2006/main">
            <a:r>
              <a:t/>
            </a:r>
          </a:p>
          <a:p xmlns:a="http://schemas.openxmlformats.org/drawingml/2006/main">
            <a:r>
              <a: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2. Project Introduction</a:t>
            </a:r>
          </a:p>
          <a:p xmlns:a="http://schemas.openxmlformats.org/drawingml/2006/main">
            <a:r>
              <a:t/>
            </a:r>
          </a:p>
          <a:p xmlns:a="http://schemas.openxmlformats.org/drawingml/2006/main">
            <a:r>
              <a:t/>
            </a:r>
          </a:p>
          <a:p xmlns:a="http://schemas.openxmlformats.org/drawingml/2006/main">
            <a:r>
              <a:t/>
            </a:r>
          </a:p>
          <a:p xmlns:a="http://schemas.openxmlformats.org/drawingml/2006/main">
            <a:r>
              <a:t>### 2.1 Background &amp; Reasons</a:t>
            </a:r>
          </a:p>
          <a:p xmlns:a="http://schemas.openxmlformats.org/drawingml/2006/main">
            <a:r>
              <a:t/>
            </a:r>
          </a:p>
          <a:p xmlns:a="http://schemas.openxmlformats.org/drawingml/2006/main">
            <a:r>
              <a:t>Students around us often go through this: wanting to play ball, run, or hike, but finding no one to go with; posting an invitation in a group chat, only to have it buried by other messages in minutes; finally getting enough people together, but the skill gap is too wide, or someone flakes at the last minute and the activity falls apart. We want to build a lightweight, reliable tool that turns "wanting to exercise" into "actually exercising."</a:t>
            </a:r>
          </a:p>
          <a:p xmlns:a="http://schemas.openxmlformats.org/drawingml/2006/main">
            <a:r>
              <a:t/>
            </a:r>
          </a:p>
          <a:p xmlns:a="http://schemas.openxmlformats.org/drawingml/2006/main">
            <a:r>
              <a:t>### 2.2 Project Description</a:t>
            </a:r>
          </a:p>
          <a:p xmlns:a="http://schemas.openxmlformats.org/drawingml/2006/main">
            <a:r>
              <a:t/>
            </a:r>
          </a:p>
          <a:p xmlns:a="http://schemas.openxmlformats.org/drawingml/2006/main">
            <a:r>
              <a:t>**Sports Buddy** — a sports matchmaking platform for university students, helping people who want to exercise quickly find partners who match in time, skill level and location, and who can be relied on.</a:t>
            </a:r>
          </a:p>
          <a:p xmlns:a="http://schemas.openxmlformats.org/drawingml/2006/main">
            <a:r>
              <a:t/>
            </a:r>
          </a:p>
          <a:p xmlns:a="http://schemas.openxmlformats.org/drawingml/2006/main">
            <a:r>
              <a:t>| Feature | Description |</a:t>
            </a:r>
          </a:p>
          <a:p xmlns:a="http://schemas.openxmlformats.org/drawingml/2006/main">
            <a:r>
              <a:t>| --- | --- |</a:t>
            </a:r>
          </a:p>
          <a:p xmlns:a="http://schemas.openxmlformats.org/drawingml/2006/main">
            <a:r>
              <a:t>| Create Activities | Post sports activities with time, location, headcount and skill requirements |</a:t>
            </a:r>
          </a:p>
          <a:p xmlns:a="http://schemas.openxmlformats.org/drawingml/2006/main">
            <a:r>
              <a:t>| Sign Up | Browse and join activities of interest |</a:t>
            </a:r>
          </a:p>
          <a:p xmlns:a="http://schemas.openxmlformats.org/drawingml/2006/main">
            <a:r>
              <a:t>| Check In | On-site check-in to record participation |</a:t>
            </a:r>
          </a:p>
          <a:p xmlns:a="http://schemas.openxmlformats.org/drawingml/2006/main">
            <a:r>
              <a:t>| Review | Rate each other after activities to build reputation |</a:t>
            </a:r>
          </a:p>
          <a:p xmlns:a="http://schemas.openxmlformats.org/drawingml/2006/main">
            <a:r>
              <a:t>| Reliability Score | Compute a reliability score from attendance and reviews to reduce no-shows |</a:t>
            </a:r>
          </a:p>
          <a:p xmlns:a="http://schemas.openxmlformats.org/drawingml/2006/main">
            <a:r>
              <a:t>| Smart Matching | Recommend suitable activities and partners by time, location and skill |</a:t>
            </a:r>
          </a:p>
          <a:p xmlns:a="http://schemas.openxmlformats.org/drawingml/2006/main">
            <a:r>
              <a:t>| One-line Creation | Create an activity quickly with a single natural-language sentence |</a:t>
            </a:r>
          </a:p>
          <a:p xmlns:a="http://schemas.openxmlformats.org/drawingml/2006/main">
            <a:r>
              <a:t>| Weather Tips | Provide activity suggestions based on weather |</a:t>
            </a:r>
          </a:p>
          <a:p xmlns:a="http://schemas.openxmlformats.org/drawingml/2006/main">
            <a:r>
              <a:t/>
            </a:r>
          </a:p>
          <a:p xmlns:a="http://schemas.openxmlformats.org/drawingml/2006/main">
            <a:r>
              <a:t>**Tech Stack**: [To be added — to be decided in the design phase]</a:t>
            </a:r>
          </a:p>
          <a:p xmlns:a="http://schemas.openxmlformats.org/drawingml/2006/main">
            <a:r>
              <a:t/>
            </a:r>
          </a:p>
          <a:p xmlns:a="http://schemas.openxmlformats.org/drawingml/2006/main">
            <a:r>
              <a:t>### 2.3 NABCD Analysis</a:t>
            </a:r>
          </a:p>
          <a:p xmlns:a="http://schemas.openxmlformats.org/drawingml/2006/main">
            <a:r>
              <a:t/>
            </a:r>
          </a:p>
          <a:p xmlns:a="http://schemas.openxmlformats.org/drawingml/2006/main">
            <a:r>
              <a:t>**N — Need**</a:t>
            </a:r>
          </a:p>
          <a:p xmlns:a="http://schemas.openxmlformats.org/drawingml/2006/main">
            <a:r>
              <a:t/>
            </a:r>
          </a:p>
          <a:p xmlns:a="http://schemas.openxmlformats.org/drawingml/2006/main">
            <a:r>
              <a:t>People want to exercise but can't find partners; group-chat invitations get buried and information is scattered; when people do get together, skill gaps are wide and someone often flakes. University students lack a lightweight, reliable tool for organizing sports.</a:t>
            </a:r>
          </a:p>
          <a:p xmlns:a="http://schemas.openxmlformats.org/drawingml/2006/main">
            <a:r>
              <a:t/>
            </a:r>
          </a:p>
          <a:p xmlns:a="http://schemas.openxmlformats.org/drawingml/2006/main">
            <a:r>
              <a:t>**A — Approach**</a:t>
            </a:r>
          </a:p>
          <a:p xmlns:a="http://schemas.openxmlformats.org/drawingml/2006/main">
            <a:r>
              <a:t/>
            </a:r>
          </a:p>
          <a:p xmlns:a="http://schemas.openxmlformats.org/drawingml/2006/main">
            <a:r>
              <a:t>Build a sports matchmaking platform for university students: start with activity creation, sign-up, check-in and reviews to stabilize the core flow; then add a reliability mechanism, smart matching and one-line activity creation to upgrade "can find someone" into "can find the right someone."</a:t>
            </a:r>
          </a:p>
          <a:p xmlns:a="http://schemas.openxmlformats.org/drawingml/2006/main">
            <a:r>
              <a:t/>
            </a:r>
          </a:p>
          <a:p xmlns:a="http://schemas.openxmlformats.org/drawingml/2006/main">
            <a:r>
              <a:t>**B — Benefit**</a:t>
            </a:r>
          </a:p>
          <a:p xmlns:a="http://schemas.openxmlformats.org/drawingml/2006/main">
            <a:r>
              <a:t/>
            </a:r>
          </a:p>
          <a:p xmlns:a="http://schemas.openxmlformats.org/drawingml/2006/main">
            <a:r>
              <a:t>Make it easier for students who want to exercise to find partners; reduce small frustrations like no-shows and skill mismatches; make the sports atmosphere on campus a bit more lively.</a:t>
            </a:r>
          </a:p>
          <a:p xmlns:a="http://schemas.openxmlformats.org/drawingml/2006/main">
            <a:r>
              <a:t/>
            </a:r>
          </a:p>
          <a:p xmlns:a="http://schemas.openxmlformats.org/drawingml/2006/main">
            <a:r>
              <a:t>**C — Competitors**</a:t>
            </a:r>
          </a:p>
          <a:p xmlns:a="http://schemas.openxmlformats.org/drawingml/2006/main">
            <a:r>
              <a:t/>
            </a:r>
          </a:p>
          <a:p xmlns:a="http://schemas.openxmlformats.org/drawingml/2006/main">
            <a:r>
              <a:t>| Competitor | Strength | Our Difference |</a:t>
            </a:r>
          </a:p>
          <a:p xmlns:a="http://schemas.openxmlformats.org/drawingml/2006/main">
            <a:r>
              <a:t>| --- | --- | --- |</a:t>
            </a:r>
          </a:p>
          <a:p xmlns:a="http://schemas.openxmlformats.org/drawingml/2006/main">
            <a:r>
              <a:t>| WeChat / QQ group chats | Zero barrier, everyone uses them | Messages get buried, no reliability or matching; we focus on sports matchmaking |</a:t>
            </a:r>
          </a:p>
          <a:p xmlns:a="http://schemas.openxmlformats.org/drawingml/2006/main">
            <a:r>
              <a:t>| Campus forums / confession walls | Wide reach | Messy information, no sign-up / check-in closed loop |</a:t>
            </a:r>
          </a:p>
          <a:p xmlns:a="http://schemas.openxmlformats.org/drawingml/2006/main">
            <a:r>
              <a:t>| Keep and other fitness apps | Professional, huge user base | Focus on personal workout logging, don't solve the "finding people" problem |</a:t>
            </a:r>
          </a:p>
          <a:p xmlns:a="http://schemas.openxmlformats.org/drawingml/2006/main">
            <a:r>
              <a:t>| Generic companion apps | [To be added after research] | [To be added after research] |</a:t>
            </a:r>
          </a:p>
          <a:p xmlns:a="http://schemas.openxmlformats.org/drawingml/2006/main">
            <a:r>
              <a:t/>
            </a:r>
          </a:p>
          <a:p xmlns:a="http://schemas.openxmlformats.org/drawingml/2006/main">
            <a:r>
              <a:t>**D — Delivery**</a:t>
            </a:r>
          </a:p>
          <a:p xmlns:a="http://schemas.openxmlformats.org/drawingml/2006/main">
            <a:r>
              <a:t/>
            </a:r>
          </a:p>
          <a:p xmlns:a="http://schemas.openxmlformats.org/drawingml/2006/main">
            <a:r>
              <a:t>Phase 1 delivers a minimum viable product (activity creation, sign-up, check-in, reviews) that students on one campus can actually use. Phase 2 adds reliability scores, smart matching and one-line creation. Phase 3 iterates based on trial feedback and promotes the product to other universities and clubs. Start with everyday campus sports — badminton, basketball, running, gym — then extend to class/society group activities, weekend hikes and running clubs, and later to neighboring universities and communities.</a:t>
            </a:r>
          </a:p>
          <a:p xmlns:a="http://schemas.openxmlformats.org/drawingml/2006/main">
            <a:r>
              <a:t/>
            </a:r>
          </a:p>
          <a:p xmlns:a="http://schemas.openxmlformats.org/drawingml/2006/main">
            <a:r>
              <a: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2. Project Introduction</a:t>
            </a:r>
          </a:p>
          <a:p xmlns:a="http://schemas.openxmlformats.org/drawingml/2006/main">
            <a:r>
              <a:t/>
            </a:r>
          </a:p>
          <a:p xmlns:a="http://schemas.openxmlformats.org/drawingml/2006/main">
            <a:r>
              <a:t/>
            </a:r>
          </a:p>
          <a:p xmlns:a="http://schemas.openxmlformats.org/drawingml/2006/main">
            <a:r>
              <a:t/>
            </a:r>
          </a:p>
          <a:p xmlns:a="http://schemas.openxmlformats.org/drawingml/2006/main">
            <a:r>
              <a:t>### 2.1 Background &amp; Reasons</a:t>
            </a:r>
          </a:p>
          <a:p xmlns:a="http://schemas.openxmlformats.org/drawingml/2006/main">
            <a:r>
              <a:t/>
            </a:r>
          </a:p>
          <a:p xmlns:a="http://schemas.openxmlformats.org/drawingml/2006/main">
            <a:r>
              <a:t>Students around us often go through this: wanting to play ball, run, or hike, but finding no one to go with; posting an invitation in a group chat, only to have it buried by other messages in minutes; finally getting enough people together, but the skill gap is too wide, or someone flakes at the last minute and the activity falls apart. We want to build a lightweight, reliable tool that turns "wanting to exercise" into "actually exercising."</a:t>
            </a:r>
          </a:p>
          <a:p xmlns:a="http://schemas.openxmlformats.org/drawingml/2006/main">
            <a:r>
              <a:t/>
            </a:r>
          </a:p>
          <a:p xmlns:a="http://schemas.openxmlformats.org/drawingml/2006/main">
            <a:r>
              <a:t>### 2.2 Project Description</a:t>
            </a:r>
          </a:p>
          <a:p xmlns:a="http://schemas.openxmlformats.org/drawingml/2006/main">
            <a:r>
              <a:t/>
            </a:r>
          </a:p>
          <a:p xmlns:a="http://schemas.openxmlformats.org/drawingml/2006/main">
            <a:r>
              <a:t>**Sports Buddy** — a sports matchmaking platform for university students, helping people who want to exercise quickly find partners who match in time, skill level and location, and who can be relied on.</a:t>
            </a:r>
          </a:p>
          <a:p xmlns:a="http://schemas.openxmlformats.org/drawingml/2006/main">
            <a:r>
              <a:t/>
            </a:r>
          </a:p>
          <a:p xmlns:a="http://schemas.openxmlformats.org/drawingml/2006/main">
            <a:r>
              <a:t>| Feature | Description |</a:t>
            </a:r>
          </a:p>
          <a:p xmlns:a="http://schemas.openxmlformats.org/drawingml/2006/main">
            <a:r>
              <a:t>| --- | --- |</a:t>
            </a:r>
          </a:p>
          <a:p xmlns:a="http://schemas.openxmlformats.org/drawingml/2006/main">
            <a:r>
              <a:t>| Create Activities | Post sports activities with time, location, headcount and skill requirements |</a:t>
            </a:r>
          </a:p>
          <a:p xmlns:a="http://schemas.openxmlformats.org/drawingml/2006/main">
            <a:r>
              <a:t>| Sign Up | Browse and join activities of interest |</a:t>
            </a:r>
          </a:p>
          <a:p xmlns:a="http://schemas.openxmlformats.org/drawingml/2006/main">
            <a:r>
              <a:t>| Check In | On-site check-in to record participation |</a:t>
            </a:r>
          </a:p>
          <a:p xmlns:a="http://schemas.openxmlformats.org/drawingml/2006/main">
            <a:r>
              <a:t>| Review | Rate each other after activities to build reputation |</a:t>
            </a:r>
          </a:p>
          <a:p xmlns:a="http://schemas.openxmlformats.org/drawingml/2006/main">
            <a:r>
              <a:t>| Reliability Score | Compute a reliability score from attendance and reviews to reduce no-shows |</a:t>
            </a:r>
          </a:p>
          <a:p xmlns:a="http://schemas.openxmlformats.org/drawingml/2006/main">
            <a:r>
              <a:t>| Smart Matching | Recommend suitable activities and partners by time, location and skill |</a:t>
            </a:r>
          </a:p>
          <a:p xmlns:a="http://schemas.openxmlformats.org/drawingml/2006/main">
            <a:r>
              <a:t>| One-line Creation | Create an activity quickly with a single natural-language sentence |</a:t>
            </a:r>
          </a:p>
          <a:p xmlns:a="http://schemas.openxmlformats.org/drawingml/2006/main">
            <a:r>
              <a:t>| Weather Tips | Provide activity suggestions based on weather |</a:t>
            </a:r>
          </a:p>
          <a:p xmlns:a="http://schemas.openxmlformats.org/drawingml/2006/main">
            <a:r>
              <a:t/>
            </a:r>
          </a:p>
          <a:p xmlns:a="http://schemas.openxmlformats.org/drawingml/2006/main">
            <a:r>
              <a:t>**Tech Stack**: [To be added — to be decided in the design phase]</a:t>
            </a:r>
          </a:p>
          <a:p xmlns:a="http://schemas.openxmlformats.org/drawingml/2006/main">
            <a:r>
              <a:t/>
            </a:r>
          </a:p>
          <a:p xmlns:a="http://schemas.openxmlformats.org/drawingml/2006/main">
            <a:r>
              <a:t>### 2.3 NABCD Analysis</a:t>
            </a:r>
          </a:p>
          <a:p xmlns:a="http://schemas.openxmlformats.org/drawingml/2006/main">
            <a:r>
              <a:t/>
            </a:r>
          </a:p>
          <a:p xmlns:a="http://schemas.openxmlformats.org/drawingml/2006/main">
            <a:r>
              <a:t>**N — Need**</a:t>
            </a:r>
          </a:p>
          <a:p xmlns:a="http://schemas.openxmlformats.org/drawingml/2006/main">
            <a:r>
              <a:t/>
            </a:r>
          </a:p>
          <a:p xmlns:a="http://schemas.openxmlformats.org/drawingml/2006/main">
            <a:r>
              <a:t>People want to exercise but can't find partners; group-chat invitations get buried and information is scattered; when people do get together, skill gaps are wide and someone often flakes. University students lack a lightweight, reliable tool for organizing sports.</a:t>
            </a:r>
          </a:p>
          <a:p xmlns:a="http://schemas.openxmlformats.org/drawingml/2006/main">
            <a:r>
              <a:t/>
            </a:r>
          </a:p>
          <a:p xmlns:a="http://schemas.openxmlformats.org/drawingml/2006/main">
            <a:r>
              <a:t>**A — Approach**</a:t>
            </a:r>
          </a:p>
          <a:p xmlns:a="http://schemas.openxmlformats.org/drawingml/2006/main">
            <a:r>
              <a:t/>
            </a:r>
          </a:p>
          <a:p xmlns:a="http://schemas.openxmlformats.org/drawingml/2006/main">
            <a:r>
              <a:t>Build a sports matchmaking platform for university students: start with activity creation, sign-up, check-in and reviews to stabilize the core flow; then add a reliability mechanism, smart matching and one-line activity creation to upgrade "can find someone" into "can find the right someone."</a:t>
            </a:r>
          </a:p>
          <a:p xmlns:a="http://schemas.openxmlformats.org/drawingml/2006/main">
            <a:r>
              <a:t/>
            </a:r>
          </a:p>
          <a:p xmlns:a="http://schemas.openxmlformats.org/drawingml/2006/main">
            <a:r>
              <a:t>**B — Benefit**</a:t>
            </a:r>
          </a:p>
          <a:p xmlns:a="http://schemas.openxmlformats.org/drawingml/2006/main">
            <a:r>
              <a:t/>
            </a:r>
          </a:p>
          <a:p xmlns:a="http://schemas.openxmlformats.org/drawingml/2006/main">
            <a:r>
              <a:t>Make it easier for students who want to exercise to find partners; reduce small frustrations like no-shows and skill mismatches; make the sports atmosphere on campus a bit more lively.</a:t>
            </a:r>
          </a:p>
          <a:p xmlns:a="http://schemas.openxmlformats.org/drawingml/2006/main">
            <a:r>
              <a:t/>
            </a:r>
          </a:p>
          <a:p xmlns:a="http://schemas.openxmlformats.org/drawingml/2006/main">
            <a:r>
              <a:t>**C — Competitors**</a:t>
            </a:r>
          </a:p>
          <a:p xmlns:a="http://schemas.openxmlformats.org/drawingml/2006/main">
            <a:r>
              <a:t/>
            </a:r>
          </a:p>
          <a:p xmlns:a="http://schemas.openxmlformats.org/drawingml/2006/main">
            <a:r>
              <a:t>| Competitor | Strength | Our Difference |</a:t>
            </a:r>
          </a:p>
          <a:p xmlns:a="http://schemas.openxmlformats.org/drawingml/2006/main">
            <a:r>
              <a:t>| --- | --- | --- |</a:t>
            </a:r>
          </a:p>
          <a:p xmlns:a="http://schemas.openxmlformats.org/drawingml/2006/main">
            <a:r>
              <a:t>| WeChat / QQ group chats | Zero barrier, everyone uses them | Messages get buried, no reliability or matching; we focus on sports matchmaking |</a:t>
            </a:r>
          </a:p>
          <a:p xmlns:a="http://schemas.openxmlformats.org/drawingml/2006/main">
            <a:r>
              <a:t>| Campus forums / confession walls | Wide reach | Messy information, no sign-up / check-in closed loop |</a:t>
            </a:r>
          </a:p>
          <a:p xmlns:a="http://schemas.openxmlformats.org/drawingml/2006/main">
            <a:r>
              <a:t>| Keep and other fitness apps | Professional, huge user base | Focus on personal workout logging, don't solve the "finding people" problem |</a:t>
            </a:r>
          </a:p>
          <a:p xmlns:a="http://schemas.openxmlformats.org/drawingml/2006/main">
            <a:r>
              <a:t>| Generic companion apps | [To be added after research] | [To be added after research] |</a:t>
            </a:r>
          </a:p>
          <a:p xmlns:a="http://schemas.openxmlformats.org/drawingml/2006/main">
            <a:r>
              <a:t/>
            </a:r>
          </a:p>
          <a:p xmlns:a="http://schemas.openxmlformats.org/drawingml/2006/main">
            <a:r>
              <a:t>**D — Delivery**</a:t>
            </a:r>
          </a:p>
          <a:p xmlns:a="http://schemas.openxmlformats.org/drawingml/2006/main">
            <a:r>
              <a:t/>
            </a:r>
          </a:p>
          <a:p xmlns:a="http://schemas.openxmlformats.org/drawingml/2006/main">
            <a:r>
              <a:t>Phase 1 delivers a minimum viable product (activity creation, sign-up, check-in, reviews) that students on one campus can actually use. Phase 2 adds reliability scores, smart matching and one-line creation. Phase 3 iterates based on trial feedback and promotes the product to other universities and clubs. Start with everyday campus sports — badminton, basketball, running, gym — then extend to class/society group activities, weekend hikes and running clubs, and later to neighboring universities and communities.</a:t>
            </a:r>
          </a:p>
          <a:p xmlns:a="http://schemas.openxmlformats.org/drawingml/2006/main">
            <a:r>
              <a:t/>
            </a:r>
          </a:p>
          <a:p xmlns:a="http://schemas.openxmlformats.org/drawingml/2006/main">
            <a:r>
              <a: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2. Project Introduction</a:t>
            </a:r>
          </a:p>
          <a:p xmlns:a="http://schemas.openxmlformats.org/drawingml/2006/main">
            <a:r>
              <a:t/>
            </a:r>
          </a:p>
          <a:p xmlns:a="http://schemas.openxmlformats.org/drawingml/2006/main">
            <a:r>
              <a:t/>
            </a:r>
          </a:p>
          <a:p xmlns:a="http://schemas.openxmlformats.org/drawingml/2006/main">
            <a:r>
              <a:t/>
            </a:r>
          </a:p>
          <a:p xmlns:a="http://schemas.openxmlformats.org/drawingml/2006/main">
            <a:r>
              <a:t>### 2.1 Background &amp; Reasons</a:t>
            </a:r>
          </a:p>
          <a:p xmlns:a="http://schemas.openxmlformats.org/drawingml/2006/main">
            <a:r>
              <a:t/>
            </a:r>
          </a:p>
          <a:p xmlns:a="http://schemas.openxmlformats.org/drawingml/2006/main">
            <a:r>
              <a:t>Students around us often go through this: wanting to play ball, run, or hike, but finding no one to go with; posting an invitation in a group chat, only to have it buried by other messages in minutes; finally getting enough people together, but the skill gap is too wide, or someone flakes at the last minute and the activity falls apart. We want to build a lightweight, reliable tool that turns "wanting to exercise" into "actually exercising."</a:t>
            </a:r>
          </a:p>
          <a:p xmlns:a="http://schemas.openxmlformats.org/drawingml/2006/main">
            <a:r>
              <a:t/>
            </a:r>
          </a:p>
          <a:p xmlns:a="http://schemas.openxmlformats.org/drawingml/2006/main">
            <a:r>
              <a:t>### 2.2 Project Description</a:t>
            </a:r>
          </a:p>
          <a:p xmlns:a="http://schemas.openxmlformats.org/drawingml/2006/main">
            <a:r>
              <a:t/>
            </a:r>
          </a:p>
          <a:p xmlns:a="http://schemas.openxmlformats.org/drawingml/2006/main">
            <a:r>
              <a:t>**Sports Buddy** — a sports matchmaking platform for university students, helping people who want to exercise quickly find partners who match in time, skill level and location, and who can be relied on.</a:t>
            </a:r>
          </a:p>
          <a:p xmlns:a="http://schemas.openxmlformats.org/drawingml/2006/main">
            <a:r>
              <a:t/>
            </a:r>
          </a:p>
          <a:p xmlns:a="http://schemas.openxmlformats.org/drawingml/2006/main">
            <a:r>
              <a:t>| Feature | Description |</a:t>
            </a:r>
          </a:p>
          <a:p xmlns:a="http://schemas.openxmlformats.org/drawingml/2006/main">
            <a:r>
              <a:t>| --- | --- |</a:t>
            </a:r>
          </a:p>
          <a:p xmlns:a="http://schemas.openxmlformats.org/drawingml/2006/main">
            <a:r>
              <a:t>| Create Activities | Post sports activities with time, location, headcount and skill requirements |</a:t>
            </a:r>
          </a:p>
          <a:p xmlns:a="http://schemas.openxmlformats.org/drawingml/2006/main">
            <a:r>
              <a:t>| Sign Up | Browse and join activities of interest |</a:t>
            </a:r>
          </a:p>
          <a:p xmlns:a="http://schemas.openxmlformats.org/drawingml/2006/main">
            <a:r>
              <a:t>| Check In | On-site check-in to record participation |</a:t>
            </a:r>
          </a:p>
          <a:p xmlns:a="http://schemas.openxmlformats.org/drawingml/2006/main">
            <a:r>
              <a:t>| Review | Rate each other after activities to build reputation |</a:t>
            </a:r>
          </a:p>
          <a:p xmlns:a="http://schemas.openxmlformats.org/drawingml/2006/main">
            <a:r>
              <a:t>| Reliability Score | Compute a reliability score from attendance and reviews to reduce no-shows |</a:t>
            </a:r>
          </a:p>
          <a:p xmlns:a="http://schemas.openxmlformats.org/drawingml/2006/main">
            <a:r>
              <a:t>| Smart Matching | Recommend suitable activities and partners by time, location and skill |</a:t>
            </a:r>
          </a:p>
          <a:p xmlns:a="http://schemas.openxmlformats.org/drawingml/2006/main">
            <a:r>
              <a:t>| One-line Creation | Create an activity quickly with a single natural-language sentence |</a:t>
            </a:r>
          </a:p>
          <a:p xmlns:a="http://schemas.openxmlformats.org/drawingml/2006/main">
            <a:r>
              <a:t>| Weather Tips | Provide activity suggestions based on weather |</a:t>
            </a:r>
          </a:p>
          <a:p xmlns:a="http://schemas.openxmlformats.org/drawingml/2006/main">
            <a:r>
              <a:t/>
            </a:r>
          </a:p>
          <a:p xmlns:a="http://schemas.openxmlformats.org/drawingml/2006/main">
            <a:r>
              <a:t>**Tech Stack**: [To be added — to be decided in the design phase]</a:t>
            </a:r>
          </a:p>
          <a:p xmlns:a="http://schemas.openxmlformats.org/drawingml/2006/main">
            <a:r>
              <a:t/>
            </a:r>
          </a:p>
          <a:p xmlns:a="http://schemas.openxmlformats.org/drawingml/2006/main">
            <a:r>
              <a:t>### 2.3 NABCD Analysis</a:t>
            </a:r>
          </a:p>
          <a:p xmlns:a="http://schemas.openxmlformats.org/drawingml/2006/main">
            <a:r>
              <a:t/>
            </a:r>
          </a:p>
          <a:p xmlns:a="http://schemas.openxmlformats.org/drawingml/2006/main">
            <a:r>
              <a:t>**N — Need**</a:t>
            </a:r>
          </a:p>
          <a:p xmlns:a="http://schemas.openxmlformats.org/drawingml/2006/main">
            <a:r>
              <a:t/>
            </a:r>
          </a:p>
          <a:p xmlns:a="http://schemas.openxmlformats.org/drawingml/2006/main">
            <a:r>
              <a:t>People want to exercise but can't find partners; group-chat invitations get buried and information is scattered; when people do get together, skill gaps are wide and someone often flakes. University students lack a lightweight, reliable tool for organizing sports.</a:t>
            </a:r>
          </a:p>
          <a:p xmlns:a="http://schemas.openxmlformats.org/drawingml/2006/main">
            <a:r>
              <a:t/>
            </a:r>
          </a:p>
          <a:p xmlns:a="http://schemas.openxmlformats.org/drawingml/2006/main">
            <a:r>
              <a:t>**A — Approach**</a:t>
            </a:r>
          </a:p>
          <a:p xmlns:a="http://schemas.openxmlformats.org/drawingml/2006/main">
            <a:r>
              <a:t/>
            </a:r>
          </a:p>
          <a:p xmlns:a="http://schemas.openxmlformats.org/drawingml/2006/main">
            <a:r>
              <a:t>Build a sports matchmaking platform for university students: start with activity creation, sign-up, check-in and reviews to stabilize the core flow; then add a reliability mechanism, smart matching and one-line activity creation to upgrade "can find someone" into "can find the right someone."</a:t>
            </a:r>
          </a:p>
          <a:p xmlns:a="http://schemas.openxmlformats.org/drawingml/2006/main">
            <a:r>
              <a:t/>
            </a:r>
          </a:p>
          <a:p xmlns:a="http://schemas.openxmlformats.org/drawingml/2006/main">
            <a:r>
              <a:t>**B — Benefit**</a:t>
            </a:r>
          </a:p>
          <a:p xmlns:a="http://schemas.openxmlformats.org/drawingml/2006/main">
            <a:r>
              <a:t/>
            </a:r>
          </a:p>
          <a:p xmlns:a="http://schemas.openxmlformats.org/drawingml/2006/main">
            <a:r>
              <a:t>Make it easier for students who want to exercise to find partners; reduce small frustrations like no-shows and skill mismatches; make the sports atmosphere on campus a bit more lively.</a:t>
            </a:r>
          </a:p>
          <a:p xmlns:a="http://schemas.openxmlformats.org/drawingml/2006/main">
            <a:r>
              <a:t/>
            </a:r>
          </a:p>
          <a:p xmlns:a="http://schemas.openxmlformats.org/drawingml/2006/main">
            <a:r>
              <a:t>**C — Competitors**</a:t>
            </a:r>
          </a:p>
          <a:p xmlns:a="http://schemas.openxmlformats.org/drawingml/2006/main">
            <a:r>
              <a:t/>
            </a:r>
          </a:p>
          <a:p xmlns:a="http://schemas.openxmlformats.org/drawingml/2006/main">
            <a:r>
              <a:t>| Competitor | Strength | Our Difference |</a:t>
            </a:r>
          </a:p>
          <a:p xmlns:a="http://schemas.openxmlformats.org/drawingml/2006/main">
            <a:r>
              <a:t>| --- | --- | --- |</a:t>
            </a:r>
          </a:p>
          <a:p xmlns:a="http://schemas.openxmlformats.org/drawingml/2006/main">
            <a:r>
              <a:t>| WeChat / QQ group chats | Zero barrier, everyone uses them | Messages get buried, no reliability or matching; we focus on sports matchmaking |</a:t>
            </a:r>
          </a:p>
          <a:p xmlns:a="http://schemas.openxmlformats.org/drawingml/2006/main">
            <a:r>
              <a:t>| Campus forums / confession walls | Wide reach | Messy information, no sign-up / check-in closed loop |</a:t>
            </a:r>
          </a:p>
          <a:p xmlns:a="http://schemas.openxmlformats.org/drawingml/2006/main">
            <a:r>
              <a:t>| Keep and other fitness apps | Professional, huge user base | Focus on personal workout logging, don't solve the "finding people" problem |</a:t>
            </a:r>
          </a:p>
          <a:p xmlns:a="http://schemas.openxmlformats.org/drawingml/2006/main">
            <a:r>
              <a:t>| Generic companion apps | [To be added after research] | [To be added after research] |</a:t>
            </a:r>
          </a:p>
          <a:p xmlns:a="http://schemas.openxmlformats.org/drawingml/2006/main">
            <a:r>
              <a:t/>
            </a:r>
          </a:p>
          <a:p xmlns:a="http://schemas.openxmlformats.org/drawingml/2006/main">
            <a:r>
              <a:t>**D — Delivery**</a:t>
            </a:r>
          </a:p>
          <a:p xmlns:a="http://schemas.openxmlformats.org/drawingml/2006/main">
            <a:r>
              <a:t/>
            </a:r>
          </a:p>
          <a:p xmlns:a="http://schemas.openxmlformats.org/drawingml/2006/main">
            <a:r>
              <a:t>Phase 1 delivers a minimum viable product (activity creation, sign-up, check-in, reviews) that students on one campus can actually use. Phase 2 adds reliability scores, smart matching and one-line creation. Phase 3 iterates based on trial feedback and promotes the product to other universities and clubs. Start with everyday campus sports — badminton, basketball, running, gym — then extend to class/society group activities, weekend hikes and running clubs, and later to neighboring universities and communities.</a:t>
            </a:r>
          </a:p>
          <a:p xmlns:a="http://schemas.openxmlformats.org/drawingml/2006/main">
            <a:r>
              <a:t/>
            </a:r>
          </a:p>
          <a:p xmlns:a="http://schemas.openxmlformats.org/drawingml/2006/main">
            <a:r>
              <a: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2. Project Introduction</a:t>
            </a:r>
          </a:p>
          <a:p xmlns:a="http://schemas.openxmlformats.org/drawingml/2006/main">
            <a:r>
              <a:t/>
            </a:r>
          </a:p>
          <a:p xmlns:a="http://schemas.openxmlformats.org/drawingml/2006/main">
            <a:r>
              <a:t/>
            </a:r>
          </a:p>
          <a:p xmlns:a="http://schemas.openxmlformats.org/drawingml/2006/main">
            <a:r>
              <a:t/>
            </a:r>
          </a:p>
          <a:p xmlns:a="http://schemas.openxmlformats.org/drawingml/2006/main">
            <a:r>
              <a:t>### 2.1 Background &amp; Reasons</a:t>
            </a:r>
          </a:p>
          <a:p xmlns:a="http://schemas.openxmlformats.org/drawingml/2006/main">
            <a:r>
              <a:t/>
            </a:r>
          </a:p>
          <a:p xmlns:a="http://schemas.openxmlformats.org/drawingml/2006/main">
            <a:r>
              <a:t>Students around us often go through this: wanting to play ball, run, or hike, but finding no one to go with; posting an invitation in a group chat, only to have it buried by other messages in minutes; finally getting enough people together, but the skill gap is too wide, or someone flakes at the last minute and the activity falls apart. We want to build a lightweight, reliable tool that turns "wanting to exercise" into "actually exercising."</a:t>
            </a:r>
          </a:p>
          <a:p xmlns:a="http://schemas.openxmlformats.org/drawingml/2006/main">
            <a:r>
              <a:t/>
            </a:r>
          </a:p>
          <a:p xmlns:a="http://schemas.openxmlformats.org/drawingml/2006/main">
            <a:r>
              <a:t>### 2.2 Project Description</a:t>
            </a:r>
          </a:p>
          <a:p xmlns:a="http://schemas.openxmlformats.org/drawingml/2006/main">
            <a:r>
              <a:t/>
            </a:r>
          </a:p>
          <a:p xmlns:a="http://schemas.openxmlformats.org/drawingml/2006/main">
            <a:r>
              <a:t>**Sports Buddy** — a sports matchmaking platform for university students, helping people who want to exercise quickly find partners who match in time, skill level and location, and who can be relied on.</a:t>
            </a:r>
          </a:p>
          <a:p xmlns:a="http://schemas.openxmlformats.org/drawingml/2006/main">
            <a:r>
              <a:t/>
            </a:r>
          </a:p>
          <a:p xmlns:a="http://schemas.openxmlformats.org/drawingml/2006/main">
            <a:r>
              <a:t>| Feature | Description |</a:t>
            </a:r>
          </a:p>
          <a:p xmlns:a="http://schemas.openxmlformats.org/drawingml/2006/main">
            <a:r>
              <a:t>| --- | --- |</a:t>
            </a:r>
          </a:p>
          <a:p xmlns:a="http://schemas.openxmlformats.org/drawingml/2006/main">
            <a:r>
              <a:t>| Create Activities | Post sports activities with time, location, headcount and skill requirements |</a:t>
            </a:r>
          </a:p>
          <a:p xmlns:a="http://schemas.openxmlformats.org/drawingml/2006/main">
            <a:r>
              <a:t>| Sign Up | Browse and join activities of interest |</a:t>
            </a:r>
          </a:p>
          <a:p xmlns:a="http://schemas.openxmlformats.org/drawingml/2006/main">
            <a:r>
              <a:t>| Check In | On-site check-in to record participation |</a:t>
            </a:r>
          </a:p>
          <a:p xmlns:a="http://schemas.openxmlformats.org/drawingml/2006/main">
            <a:r>
              <a:t>| Review | Rate each other after activities to build reputation |</a:t>
            </a:r>
          </a:p>
          <a:p xmlns:a="http://schemas.openxmlformats.org/drawingml/2006/main">
            <a:r>
              <a:t>| Reliability Score | Compute a reliability score from attendance and reviews to reduce no-shows |</a:t>
            </a:r>
          </a:p>
          <a:p xmlns:a="http://schemas.openxmlformats.org/drawingml/2006/main">
            <a:r>
              <a:t>| Smart Matching | Recommend suitable activities and partners by time, location and skill |</a:t>
            </a:r>
          </a:p>
          <a:p xmlns:a="http://schemas.openxmlformats.org/drawingml/2006/main">
            <a:r>
              <a:t>| One-line Creation | Create an activity quickly with a single natural-language sentence |</a:t>
            </a:r>
          </a:p>
          <a:p xmlns:a="http://schemas.openxmlformats.org/drawingml/2006/main">
            <a:r>
              <a:t>| Weather Tips | Provide activity suggestions based on weather |</a:t>
            </a:r>
          </a:p>
          <a:p xmlns:a="http://schemas.openxmlformats.org/drawingml/2006/main">
            <a:r>
              <a:t/>
            </a:r>
          </a:p>
          <a:p xmlns:a="http://schemas.openxmlformats.org/drawingml/2006/main">
            <a:r>
              <a:t>**Tech Stack**: [To be added — to be decided in the design phase]</a:t>
            </a:r>
          </a:p>
          <a:p xmlns:a="http://schemas.openxmlformats.org/drawingml/2006/main">
            <a:r>
              <a:t/>
            </a:r>
          </a:p>
          <a:p xmlns:a="http://schemas.openxmlformats.org/drawingml/2006/main">
            <a:r>
              <a:t>### 2.3 NABCD Analysis</a:t>
            </a:r>
          </a:p>
          <a:p xmlns:a="http://schemas.openxmlformats.org/drawingml/2006/main">
            <a:r>
              <a:t/>
            </a:r>
          </a:p>
          <a:p xmlns:a="http://schemas.openxmlformats.org/drawingml/2006/main">
            <a:r>
              <a:t>**N — Need**</a:t>
            </a:r>
          </a:p>
          <a:p xmlns:a="http://schemas.openxmlformats.org/drawingml/2006/main">
            <a:r>
              <a:t/>
            </a:r>
          </a:p>
          <a:p xmlns:a="http://schemas.openxmlformats.org/drawingml/2006/main">
            <a:r>
              <a:t>People want to exercise but can't find partners; group-chat invitations get buried and information is scattered; when people do get together, skill gaps are wide and someone often flakes. University students lack a lightweight, reliable tool for organizing sports.</a:t>
            </a:r>
          </a:p>
          <a:p xmlns:a="http://schemas.openxmlformats.org/drawingml/2006/main">
            <a:r>
              <a:t/>
            </a:r>
          </a:p>
          <a:p xmlns:a="http://schemas.openxmlformats.org/drawingml/2006/main">
            <a:r>
              <a:t>**A — Approach**</a:t>
            </a:r>
          </a:p>
          <a:p xmlns:a="http://schemas.openxmlformats.org/drawingml/2006/main">
            <a:r>
              <a:t/>
            </a:r>
          </a:p>
          <a:p xmlns:a="http://schemas.openxmlformats.org/drawingml/2006/main">
            <a:r>
              <a:t>Build a sports matchmaking platform for university students: start with activity creation, sign-up, check-in and reviews to stabilize the core flow; then add a reliability mechanism, smart matching and one-line activity creation to upgrade "can find someone" into "can find the right someone."</a:t>
            </a:r>
          </a:p>
          <a:p xmlns:a="http://schemas.openxmlformats.org/drawingml/2006/main">
            <a:r>
              <a:t/>
            </a:r>
          </a:p>
          <a:p xmlns:a="http://schemas.openxmlformats.org/drawingml/2006/main">
            <a:r>
              <a:t>**B — Benefit**</a:t>
            </a:r>
          </a:p>
          <a:p xmlns:a="http://schemas.openxmlformats.org/drawingml/2006/main">
            <a:r>
              <a:t/>
            </a:r>
          </a:p>
          <a:p xmlns:a="http://schemas.openxmlformats.org/drawingml/2006/main">
            <a:r>
              <a:t>Make it easier for students who want to exercise to find partners; reduce small frustrations like no-shows and skill mismatches; make the sports atmosphere on campus a bit more lively.</a:t>
            </a:r>
          </a:p>
          <a:p xmlns:a="http://schemas.openxmlformats.org/drawingml/2006/main">
            <a:r>
              <a:t/>
            </a:r>
          </a:p>
          <a:p xmlns:a="http://schemas.openxmlformats.org/drawingml/2006/main">
            <a:r>
              <a:t>**C — Competitors**</a:t>
            </a:r>
          </a:p>
          <a:p xmlns:a="http://schemas.openxmlformats.org/drawingml/2006/main">
            <a:r>
              <a:t/>
            </a:r>
          </a:p>
          <a:p xmlns:a="http://schemas.openxmlformats.org/drawingml/2006/main">
            <a:r>
              <a:t>| Competitor | Strength | Our Difference |</a:t>
            </a:r>
          </a:p>
          <a:p xmlns:a="http://schemas.openxmlformats.org/drawingml/2006/main">
            <a:r>
              <a:t>| --- | --- | --- |</a:t>
            </a:r>
          </a:p>
          <a:p xmlns:a="http://schemas.openxmlformats.org/drawingml/2006/main">
            <a:r>
              <a:t>| WeChat / QQ group chats | Zero barrier, everyone uses them | Messages get buried, no reliability or matching; we focus on sports matchmaking |</a:t>
            </a:r>
          </a:p>
          <a:p xmlns:a="http://schemas.openxmlformats.org/drawingml/2006/main">
            <a:r>
              <a:t>| Campus forums / confession walls | Wide reach | Messy information, no sign-up / check-in closed loop |</a:t>
            </a:r>
          </a:p>
          <a:p xmlns:a="http://schemas.openxmlformats.org/drawingml/2006/main">
            <a:r>
              <a:t>| Keep and other fitness apps | Professional, huge user base | Focus on personal workout logging, don't solve the "finding people" problem |</a:t>
            </a:r>
          </a:p>
          <a:p xmlns:a="http://schemas.openxmlformats.org/drawingml/2006/main">
            <a:r>
              <a:t>| Generic companion apps | [To be added after research] | [To be added after research] |</a:t>
            </a:r>
          </a:p>
          <a:p xmlns:a="http://schemas.openxmlformats.org/drawingml/2006/main">
            <a:r>
              <a:t/>
            </a:r>
          </a:p>
          <a:p xmlns:a="http://schemas.openxmlformats.org/drawingml/2006/main">
            <a:r>
              <a:t>**D — Delivery**</a:t>
            </a:r>
          </a:p>
          <a:p xmlns:a="http://schemas.openxmlformats.org/drawingml/2006/main">
            <a:r>
              <a:t/>
            </a:r>
          </a:p>
          <a:p xmlns:a="http://schemas.openxmlformats.org/drawingml/2006/main">
            <a:r>
              <a:t>Phase 1 delivers a minimum viable product (activity creation, sign-up, check-in, reviews) that students on one campus can actually use. Phase 2 adds reliability scores, smart matching and one-line creation. Phase 3 iterates based on trial feedback and promotes the product to other universities and clubs. Start with everyday campus sports — badminton, basketball, running, gym — then extend to class/society group activities, weekend hikes and running clubs, and later to neighboring universities and communities.</a:t>
            </a:r>
          </a:p>
          <a:p xmlns:a="http://schemas.openxmlformats.org/drawingml/2006/main">
            <a:r>
              <a:t/>
            </a:r>
          </a:p>
          <a:p xmlns:a="http://schemas.openxmlformats.org/drawingml/2006/main">
            <a:r>
              <a: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3. Team Project Plan</a:t>
            </a:r>
          </a:p>
          <a:p xmlns:a="http://schemas.openxmlformats.org/drawingml/2006/main">
            <a:r>
              <a:t/>
            </a:r>
          </a:p>
          <a:p xmlns:a="http://schemas.openxmlformats.org/drawingml/2006/main">
            <a:r>
              <a:t/>
            </a:r>
          </a:p>
          <a:p xmlns:a="http://schemas.openxmlformats.org/drawingml/2006/main">
            <a:r>
              <a:t/>
            </a:r>
          </a:p>
          <a:p xmlns:a="http://schemas.openxmlformats.org/drawingml/2006/main">
            <a:r>
              <a:t>### 3.1 Development Milestones (6 Phases)</a:t>
            </a:r>
          </a:p>
          <a:p xmlns:a="http://schemas.openxmlformats.org/drawingml/2006/main">
            <a:r>
              <a:t/>
            </a:r>
          </a:p>
          <a:p xmlns:a="http://schemas.openxmlformats.org/drawingml/2006/main">
            <a:r>
              <a:t>We follow the software engineering process and split the project into six phases, each with clear milestones and deliverables. Specific dates will be adjusted dynamically according to the course assignments and the teacher's arrangements.</a:t>
            </a:r>
          </a:p>
          <a:p xmlns:a="http://schemas.openxmlformats.org/drawingml/2006/main">
            <a:r>
              <a:t/>
            </a:r>
          </a:p>
          <a:p xmlns:a="http://schemas.openxmlformats.org/drawingml/2006/main">
            <a:r>
              <a:t>| Phase | Time (Planned) | Main Tasks | Milestone / Deliverable |</a:t>
            </a:r>
          </a:p>
          <a:p xmlns:a="http://schemas.openxmlformats.org/drawingml/2006/main">
            <a:r>
              <a:t>| --- | --- | --- | --- |</a:t>
            </a:r>
          </a:p>
          <a:p xmlns:a="http://schemas.openxmlformats.org/drawingml/2006/main">
            <a:r>
              <a:t>| 0 Team Formation &amp; Topic | By Oct 11 | Team up, name the team, choose the topic, NABCD analysis, draft performance assessment | Team blog and SRS V2.2 delivered; topic PPT in progress |</a:t>
            </a:r>
          </a:p>
          <a:p xmlns:a="http://schemas.openxmlformats.org/drawingml/2006/main">
            <a:r>
              <a:t>| 1 Requirements Analysis | Completed by Oct 11 (ahead of schedule) | User interviews &amp; surveys, competitor experience, use case analysis, scope the MVP | Requirements Specification Document V2.2 (delivered) |</a:t>
            </a:r>
          </a:p>
          <a:p xmlns:a="http://schemas.openxmlformats.org/drawingml/2006/main">
            <a:r>
              <a:t>| 2 Design | Oct 19 – Nov 1 | Prototyping, tech selection, architecture &amp; database design, API docs, set up repo &amp; collaboration rules | Prototype, architecture design doc, API doc |</a:t>
            </a:r>
          </a:p>
          <a:p xmlns:a="http://schemas.openxmlformats.org/drawingml/2006/main">
            <a:r>
              <a:t>| 3 Iterative Development | Nov 2 – Nov 29 | Three iterations (about 1.5 weeks each): Iteration 1 — login, profile, create &amp; browse activities; Iteration 2 — sign-up, matching, notifications, check-in; Iteration 3 — reliability score, reviews, one-line creation, weather tips | A runnable, demoable version at the end of every iteration |</a:t>
            </a:r>
          </a:p>
          <a:p xmlns:a="http://schemas.openxmlformats.org/drawingml/2006/main">
            <a:r>
              <a:t>| 4 Testing &amp; Beta | Nov 30 – Dec 13 | Integration testing, bug fixing, invite 30–50 students for beta testing, collect feedback | Test report, beta feedback summary |</a:t>
            </a:r>
          </a:p>
          <a:p xmlns:a="http://schemas.openxmlformats.org/drawingml/2006/main">
            <a:r>
              <a:t>| 5 Wrap-up &amp; Showcase | Dec 14 – Dec 27 | Trial run, data analysis, documentation archive, final demo preparation | Final version, project summary, showcase materials |</a:t>
            </a:r>
          </a:p>
          <a:p xmlns:a="http://schemas.openxmlformats.org/drawingml/2006/main">
            <a:r>
              <a:t/>
            </a:r>
          </a:p>
          <a:p xmlns:a="http://schemas.openxmlformats.org/drawingml/2006/main">
            <a:r>
              <a:t>### 3.2 Our Three Rhythm Principles</a:t>
            </a:r>
          </a:p>
          <a:p xmlns:a="http://schemas.openxmlformats.org/drawingml/2006/main">
            <a:r>
              <a:t/>
            </a:r>
          </a:p>
          <a:p xmlns:a="http://schemas.openxmlformats.org/drawingml/2006/main">
            <a:r>
              <a:t>1. **MVP first, innovation later**: reliability scores and smart one-line creation are placed in later iterations so the core flow stabilizes first.</a:t>
            </a:r>
          </a:p>
          <a:p xmlns:a="http://schemas.openxmlformats.org/drawingml/2006/main">
            <a:r>
              <a:t>2. **Every iteration is demoable**: hold a review meeting at the end of every iteration to check completion against requirements.</a:t>
            </a:r>
          </a:p>
          <a:p xmlns:a="http://schemas.openxmlformats.org/drawingml/2006/main">
            <a:r>
              <a:t>3. **Keep buffer time**: the plan reserves buffer time for requirement changes and unexpected delays.</a:t>
            </a:r>
          </a:p>
          <a:p xmlns:a="http://schemas.openxmlformats.org/drawingml/2006/main">
            <a:r>
              <a:t/>
            </a:r>
          </a:p>
          <a:p xmlns:a="http://schemas.openxmlformats.org/drawingml/2006/main">
            <a:r>
              <a: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3. Team Project Plan</a:t>
            </a:r>
          </a:p>
          <a:p xmlns:a="http://schemas.openxmlformats.org/drawingml/2006/main">
            <a:r>
              <a:t/>
            </a:r>
          </a:p>
          <a:p xmlns:a="http://schemas.openxmlformats.org/drawingml/2006/main">
            <a:r>
              <a:t/>
            </a:r>
          </a:p>
          <a:p xmlns:a="http://schemas.openxmlformats.org/drawingml/2006/main">
            <a:r>
              <a:t/>
            </a:r>
          </a:p>
          <a:p xmlns:a="http://schemas.openxmlformats.org/drawingml/2006/main">
            <a:r>
              <a:t>### 3.1 Development Milestones (6 Phases)</a:t>
            </a:r>
          </a:p>
          <a:p xmlns:a="http://schemas.openxmlformats.org/drawingml/2006/main">
            <a:r>
              <a:t/>
            </a:r>
          </a:p>
          <a:p xmlns:a="http://schemas.openxmlformats.org/drawingml/2006/main">
            <a:r>
              <a:t>We follow the software engineering process and split the project into six phases, each with clear milestones and deliverables. Specific dates will be adjusted dynamically according to the course assignments and the teacher's arrangements.</a:t>
            </a:r>
          </a:p>
          <a:p xmlns:a="http://schemas.openxmlformats.org/drawingml/2006/main">
            <a:r>
              <a:t/>
            </a:r>
          </a:p>
          <a:p xmlns:a="http://schemas.openxmlformats.org/drawingml/2006/main">
            <a:r>
              <a:t>| Phase | Time (Planned) | Main Tasks | Milestone / Deliverable |</a:t>
            </a:r>
          </a:p>
          <a:p xmlns:a="http://schemas.openxmlformats.org/drawingml/2006/main">
            <a:r>
              <a:t>| --- | --- | --- | --- |</a:t>
            </a:r>
          </a:p>
          <a:p xmlns:a="http://schemas.openxmlformats.org/drawingml/2006/main">
            <a:r>
              <a:t>| 0 Team Formation &amp; Topic | By Oct 11 | Team up, name the team, choose the topic, NABCD analysis, draft performance assessment | Team blog and SRS V2.2 delivered; topic PPT in progress |</a:t>
            </a:r>
          </a:p>
          <a:p xmlns:a="http://schemas.openxmlformats.org/drawingml/2006/main">
            <a:r>
              <a:t>| 1 Requirements Analysis | Completed by Oct 11 (ahead of schedule) | User interviews &amp; surveys, competitor experience, use case analysis, scope the MVP | Requirements Specification Document V2.2 (delivered) |</a:t>
            </a:r>
          </a:p>
          <a:p xmlns:a="http://schemas.openxmlformats.org/drawingml/2006/main">
            <a:r>
              <a:t>| 2 Design | Oct 19 – Nov 1 | Prototyping, tech selection, architecture &amp; database design, API docs, set up repo &amp; collaboration rules | Prototype, architecture design doc, API doc |</a:t>
            </a:r>
          </a:p>
          <a:p xmlns:a="http://schemas.openxmlformats.org/drawingml/2006/main">
            <a:r>
              <a:t>| 3 Iterative Development | Nov 2 – Nov 29 | Three iterations (about 1.5 weeks each): Iteration 1 — login, profile, create &amp; browse activities; Iteration 2 — sign-up, matching, notifications, check-in; Iteration 3 — reliability score, reviews, one-line creation, weather tips | A runnable, demoable version at the end of every iteration |</a:t>
            </a:r>
          </a:p>
          <a:p xmlns:a="http://schemas.openxmlformats.org/drawingml/2006/main">
            <a:r>
              <a:t>| 4 Testing &amp; Beta | Nov 30 – Dec 13 | Integration testing, bug fixing, invite 30–50 students for beta testing, collect feedback | Test report, beta feedback summary |</a:t>
            </a:r>
          </a:p>
          <a:p xmlns:a="http://schemas.openxmlformats.org/drawingml/2006/main">
            <a:r>
              <a:t>| 5 Wrap-up &amp; Showcase | Dec 14 – Dec 27 | Trial run, data analysis, documentation archive, final demo preparation | Final version, project summary, showcase materials |</a:t>
            </a:r>
          </a:p>
          <a:p xmlns:a="http://schemas.openxmlformats.org/drawingml/2006/main">
            <a:r>
              <a:t/>
            </a:r>
          </a:p>
          <a:p xmlns:a="http://schemas.openxmlformats.org/drawingml/2006/main">
            <a:r>
              <a:t>### 3.2 Our Three Rhythm Principles</a:t>
            </a:r>
          </a:p>
          <a:p xmlns:a="http://schemas.openxmlformats.org/drawingml/2006/main">
            <a:r>
              <a:t/>
            </a:r>
          </a:p>
          <a:p xmlns:a="http://schemas.openxmlformats.org/drawingml/2006/main">
            <a:r>
              <a:t>1. **MVP first, innovation later**: reliability scores and smart one-line creation are placed in later iterations so the core flow stabilizes first.</a:t>
            </a:r>
          </a:p>
          <a:p xmlns:a="http://schemas.openxmlformats.org/drawingml/2006/main">
            <a:r>
              <a:t>2. **Every iteration is demoable**: hold a review meeting at the end of every iteration to check completion against requirements.</a:t>
            </a:r>
          </a:p>
          <a:p xmlns:a="http://schemas.openxmlformats.org/drawingml/2006/main">
            <a:r>
              <a:t>3. **Keep buffer time**: the plan reserves buffer time for requirement changes and unexpected delays.</a:t>
            </a:r>
          </a:p>
          <a:p xmlns:a="http://schemas.openxmlformats.org/drawingml/2006/main">
            <a:r>
              <a:t/>
            </a:r>
          </a:p>
          <a:p xmlns:a="http://schemas.openxmlformats.org/drawingml/2006/main">
            <a:r>
              <a:t>---</a:t>
            </a:r>
          </a:p>
          <a:p xmlns:a="http://schemas.openxmlformats.org/drawingml/2006/main">
            <a:r>
              <a:t/>
            </a:r>
          </a:p>
          <a:p xmlns:a="http://schemas.openxmlformats.org/drawingml/2006/main">
            <a:r>
              <a:t>Updated source specifies three iterations of approximately 1.5 weeks during Nov 2–29, with a review at the end of each iteration.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5. Performance Assessment</a:t>
            </a:r>
          </a:p>
          <a:p xmlns:a="http://schemas.openxmlformats.org/drawingml/2006/main">
            <a:r>
              <a:t/>
            </a:r>
          </a:p>
          <a:p xmlns:a="http://schemas.openxmlformats.org/drawingml/2006/main">
            <a:r>
              <a:t/>
            </a:r>
          </a:p>
          <a:p xmlns:a="http://schemas.openxmlformats.org/drawingml/2006/main">
            <a:r>
              <a:t/>
            </a:r>
          </a:p>
          <a:p xmlns:a="http://schemas.openxmlformats.org/drawingml/2006/main">
            <a:r>
              <a:t>### 5.1 Objective</a:t>
            </a:r>
          </a:p>
          <a:p xmlns:a="http://schemas.openxmlformats.org/drawingml/2006/main">
            <a:r>
              <a:t/>
            </a:r>
          </a:p>
          <a:p xmlns:a="http://schemas.openxmlformats.org/drawingml/2006/main">
            <a:r>
              <a:t>Make everyone's contribution visible, align contribution with responsibility, and promote collaboration rather than comparison.</a:t>
            </a:r>
          </a:p>
          <a:p xmlns:a="http://schemas.openxmlformats.org/drawingml/2006/main">
            <a:r>
              <a:t/>
            </a:r>
          </a:p>
          <a:p xmlns:a="http://schemas.openxmlformats.org/drawingml/2006/main">
            <a:r>
              <a:t>### 5.2 Dimensions &amp; Weights</a:t>
            </a:r>
          </a:p>
          <a:p xmlns:a="http://schemas.openxmlformats.org/drawingml/2006/main">
            <a:r>
              <a:t/>
            </a:r>
          </a:p>
          <a:p xmlns:a="http://schemas.openxmlformats.org/drawingml/2006/main">
            <a:r>
              <a:t>| Dimension | Weight | Basis of Evaluation |</a:t>
            </a:r>
          </a:p>
          <a:p xmlns:a="http://schemas.openxmlformats.org/drawingml/2006/main">
            <a:r>
              <a:t>| --- | --- | --- |</a:t>
            </a:r>
          </a:p>
          <a:p xmlns:a="http://schemas.openxmlformats.org/drawingml/2006/main">
            <a:r>
              <a:t>| Task Completion &amp; Quality | 40% | Whether board tasks are completed on time and pass acceptance |</a:t>
            </a:r>
          </a:p>
          <a:p xmlns:a="http://schemas.openxmlformats.org/drawingml/2006/main">
            <a:r>
              <a:t>| Code / Document Quality | 20% | Conclusions of code reviews and document reviews |</a:t>
            </a:r>
          </a:p>
          <a:p xmlns:a="http://schemas.openxmlformats.org/drawingml/2006/main">
            <a:r>
              <a:t>| Collaboration &amp; Communication | 15% | Meeting participation, response timeliness, willingness to help others |</a:t>
            </a:r>
          </a:p>
          <a:p xmlns:a="http://schemas.openxmlformats.org/drawingml/2006/main">
            <a:r>
              <a:t>| Attendance &amp; Punctuality | 10% | Meeting attendance, on-time delivery |</a:t>
            </a:r>
          </a:p>
          <a:p xmlns:a="http://schemas.openxmlformats.org/drawingml/2006/main">
            <a:r>
              <a:t>| Peer Review | 15% | Anonymous peer review at the end of each iteration |</a:t>
            </a:r>
          </a:p>
          <a:p xmlns:a="http://schemas.openxmlformats.org/drawingml/2006/main">
            <a:r>
              <a:t/>
            </a:r>
          </a:p>
          <a:p xmlns:a="http://schemas.openxmlformats.org/drawingml/2006/main">
            <a:r>
              <a:t>**Assessment Cycle**: assessed once after each iteration; the final individual contribution ratio is based on the cumulative results across all iterations.</a:t>
            </a:r>
          </a:p>
          <a:p xmlns:a="http://schemas.openxmlformats.org/drawingml/2006/main">
            <a:r>
              <a:t/>
            </a:r>
          </a:p>
          <a:p xmlns:a="http://schemas.openxmlformats.org/drawingml/2006/main">
            <a:r>
              <a:t>**Data Sources**: commit history, merge requests and review records in the code repository; the task board; meeting sign-ins; peer review forms.</a:t>
            </a:r>
          </a:p>
          <a:p xmlns:a="http://schemas.openxmlformats.org/drawingml/2006/main">
            <a:r>
              <a:t/>
            </a:r>
          </a:p>
          <a:p xmlns:a="http://schemas.openxmlformats.org/drawingml/2006/main">
            <a:r>
              <a:t>### 5.3 Scoring Method</a:t>
            </a:r>
          </a:p>
          <a:p xmlns:a="http://schemas.openxmlformats.org/drawingml/2006/main">
            <a:r>
              <a:t/>
            </a:r>
          </a:p>
          <a:p xmlns:a="http://schemas.openxmlformats.org/drawingml/2006/main">
            <a:r>
              <a:t>Individual score = sum of each dimension's score × its weight, out of 100. Scores fall into four tiers:</a:t>
            </a:r>
          </a:p>
          <a:p xmlns:a="http://schemas.openxmlformats.org/drawingml/2006/main">
            <a:r>
              <a:t/>
            </a:r>
          </a:p>
          <a:p xmlns:a="http://schemas.openxmlformats.org/drawingml/2006/main">
            <a:r>
              <a:t>- 90 and above: Excellent</a:t>
            </a:r>
          </a:p>
          <a:p xmlns:a="http://schemas.openxmlformats.org/drawingml/2006/main">
            <a:r>
              <a:t>- 75–89: Good</a:t>
            </a:r>
          </a:p>
          <a:p xmlns:a="http://schemas.openxmlformats.org/drawingml/2006/main">
            <a:r>
              <a:t>- 60–74: Pass</a:t>
            </a:r>
          </a:p>
          <a:p xmlns:a="http://schemas.openxmlformats.org/drawingml/2006/main">
            <a:r>
              <a:t>- Below 60: Needs Improvement</a:t>
            </a:r>
          </a:p>
          <a:p xmlns:a="http://schemas.openxmlformats.org/drawingml/2006/main">
            <a:r>
              <a:t/>
            </a:r>
          </a:p>
          <a:p xmlns:a="http://schemas.openxmlformats.org/drawingml/2006/main">
            <a:r>
              <a:t>Results are announced and briefly reviewed at the meeting after each iteration.</a:t>
            </a:r>
          </a:p>
          <a:p xmlns:a="http://schemas.openxmlformats.org/drawingml/2006/main">
            <a:r>
              <a:t/>
            </a:r>
          </a:p>
          <a:p xmlns:a="http://schemas.openxmlformats.org/drawingml/2006/main">
            <a:r>
              <a:t>### 5.4 Fairness &amp; Anti-Gaming Mechanisms</a:t>
            </a:r>
          </a:p>
          <a:p xmlns:a="http://schemas.openxmlformats.org/drawingml/2006/main">
            <a:r>
              <a:t/>
            </a:r>
          </a:p>
          <a:p xmlns:a="http://schemas.openxmlformats.org/drawingml/2006/main">
            <a:r>
              <a:t>- Commit count is not used as a standalone metric, to avoid splitting commits for the sake of numbers.</a:t>
            </a:r>
          </a:p>
          <a:p xmlns:a="http://schemas.openxmlformats.org/drawingml/2006/main">
            <a:r>
              <a:t>- Workload differs across roles, so tasks are weighted by difficulty and effort instead of being compared by sheer quantity.</a:t>
            </a:r>
          </a:p>
          <a:p xmlns:a="http://schemas.openxmlformats.org/drawingml/2006/main">
            <a:r>
              <a:t>- Peer review is anonymous, and the average is taken after dropping the highest and lowest scores.</a:t>
            </a:r>
          </a:p>
          <a:p xmlns:a="http://schemas.openxmlformats.org/drawingml/2006/main">
            <a:r>
              <a:t/>
            </a:r>
          </a:p>
          <a:p xmlns:a="http://schemas.openxmlformats.org/drawingml/2006/main">
            <a:r>
              <a:t>### 5.5 Feedback &amp; Appeal</a:t>
            </a:r>
          </a:p>
          <a:p xmlns:a="http://schemas.openxmlformats.org/drawingml/2006/main">
            <a:r>
              <a:t/>
            </a:r>
          </a:p>
          <a:p xmlns:a="http://schemas.openxmlformats.org/drawingml/2006/main">
            <a:r>
              <a:t>- Members who disagree with their assessment may appeal to the team lead within three days of the announcement; the whole team will discuss and re-evaluate if necessary.</a:t>
            </a:r>
          </a:p>
          <a:p xmlns:a="http://schemas.openxmlformats.org/drawingml/2006/main">
            <a:r>
              <a:t>- A member rated "Needs Improvement" for two consecutive iterations will have a one-on-one talk organized by the team lead to jointly analyze the causes and adjust task arrangements.</a:t>
            </a:r>
          </a:p>
          <a:p xmlns:a="http://schemas.openxmlformats.org/drawingml/2006/main">
            <a:r>
              <a:t/>
            </a:r>
          </a:p>
          <a:p xmlns:a="http://schemas.openxmlformats.org/drawingml/2006/main">
            <a:r>
              <a:t>### 5.6 Application of Results</a:t>
            </a:r>
          </a:p>
          <a:p xmlns:a="http://schemas.openxmlformats.org/drawingml/2006/main">
            <a:r>
              <a:t/>
            </a:r>
          </a:p>
          <a:p xmlns:a="http://schemas.openxmlformats.org/drawingml/2006/main">
            <a:r>
              <a:t>The performance score serves as an important reference for the final course grade.</a:t>
            </a:r>
          </a:p>
          <a:p xmlns:a="http://schemas.openxmlformats.org/drawingml/2006/main">
            <a:r>
              <a:t/>
            </a:r>
          </a:p>
          <a:p xmlns:a="http://schemas.openxmlformats.org/drawingml/2006/main">
            <a:r>
              <a: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5. Performance Assessment</a:t>
            </a:r>
          </a:p>
          <a:p xmlns:a="http://schemas.openxmlformats.org/drawingml/2006/main">
            <a:r>
              <a:t/>
            </a:r>
          </a:p>
          <a:p xmlns:a="http://schemas.openxmlformats.org/drawingml/2006/main">
            <a:r>
              <a:t/>
            </a:r>
          </a:p>
          <a:p xmlns:a="http://schemas.openxmlformats.org/drawingml/2006/main">
            <a:r>
              <a:t/>
            </a:r>
          </a:p>
          <a:p xmlns:a="http://schemas.openxmlformats.org/drawingml/2006/main">
            <a:r>
              <a:t>### 5.1 Objective</a:t>
            </a:r>
          </a:p>
          <a:p xmlns:a="http://schemas.openxmlformats.org/drawingml/2006/main">
            <a:r>
              <a:t/>
            </a:r>
          </a:p>
          <a:p xmlns:a="http://schemas.openxmlformats.org/drawingml/2006/main">
            <a:r>
              <a:t>Make everyone's contribution visible, align contribution with responsibility, and promote collaboration rather than comparison.</a:t>
            </a:r>
          </a:p>
          <a:p xmlns:a="http://schemas.openxmlformats.org/drawingml/2006/main">
            <a:r>
              <a:t/>
            </a:r>
          </a:p>
          <a:p xmlns:a="http://schemas.openxmlformats.org/drawingml/2006/main">
            <a:r>
              <a:t>### 5.2 Dimensions &amp; Weights</a:t>
            </a:r>
          </a:p>
          <a:p xmlns:a="http://schemas.openxmlformats.org/drawingml/2006/main">
            <a:r>
              <a:t/>
            </a:r>
          </a:p>
          <a:p xmlns:a="http://schemas.openxmlformats.org/drawingml/2006/main">
            <a:r>
              <a:t>| Dimension | Weight | Basis of Evaluation |</a:t>
            </a:r>
          </a:p>
          <a:p xmlns:a="http://schemas.openxmlformats.org/drawingml/2006/main">
            <a:r>
              <a:t>| --- | --- | --- |</a:t>
            </a:r>
          </a:p>
          <a:p xmlns:a="http://schemas.openxmlformats.org/drawingml/2006/main">
            <a:r>
              <a:t>| Task Completion &amp; Quality | 40% | Whether board tasks are completed on time and pass acceptance |</a:t>
            </a:r>
          </a:p>
          <a:p xmlns:a="http://schemas.openxmlformats.org/drawingml/2006/main">
            <a:r>
              <a:t>| Code / Document Quality | 20% | Conclusions of code reviews and document reviews |</a:t>
            </a:r>
          </a:p>
          <a:p xmlns:a="http://schemas.openxmlformats.org/drawingml/2006/main">
            <a:r>
              <a:t>| Collaboration &amp; Communication | 15% | Meeting participation, response timeliness, willingness to help others |</a:t>
            </a:r>
          </a:p>
          <a:p xmlns:a="http://schemas.openxmlformats.org/drawingml/2006/main">
            <a:r>
              <a:t>| Attendance &amp; Punctuality | 10% | Meeting attendance, on-time delivery |</a:t>
            </a:r>
          </a:p>
          <a:p xmlns:a="http://schemas.openxmlformats.org/drawingml/2006/main">
            <a:r>
              <a:t>| Peer Review | 15% | Anonymous peer review at the end of each iteration |</a:t>
            </a:r>
          </a:p>
          <a:p xmlns:a="http://schemas.openxmlformats.org/drawingml/2006/main">
            <a:r>
              <a:t/>
            </a:r>
          </a:p>
          <a:p xmlns:a="http://schemas.openxmlformats.org/drawingml/2006/main">
            <a:r>
              <a:t>**Assessment Cycle**: assessed once after each iteration; the final individual contribution ratio is based on the cumulative results across all iterations.</a:t>
            </a:r>
          </a:p>
          <a:p xmlns:a="http://schemas.openxmlformats.org/drawingml/2006/main">
            <a:r>
              <a:t/>
            </a:r>
          </a:p>
          <a:p xmlns:a="http://schemas.openxmlformats.org/drawingml/2006/main">
            <a:r>
              <a:t>**Data Sources**: commit history, merge requests and review records in the code repository; the task board; meeting sign-ins; peer review forms.</a:t>
            </a:r>
          </a:p>
          <a:p xmlns:a="http://schemas.openxmlformats.org/drawingml/2006/main">
            <a:r>
              <a:t/>
            </a:r>
          </a:p>
          <a:p xmlns:a="http://schemas.openxmlformats.org/drawingml/2006/main">
            <a:r>
              <a:t>### 5.3 Scoring Method</a:t>
            </a:r>
          </a:p>
          <a:p xmlns:a="http://schemas.openxmlformats.org/drawingml/2006/main">
            <a:r>
              <a:t/>
            </a:r>
          </a:p>
          <a:p xmlns:a="http://schemas.openxmlformats.org/drawingml/2006/main">
            <a:r>
              <a:t>Individual score = sum of each dimension's score × its weight, out of 100. Scores fall into four tiers:</a:t>
            </a:r>
          </a:p>
          <a:p xmlns:a="http://schemas.openxmlformats.org/drawingml/2006/main">
            <a:r>
              <a:t/>
            </a:r>
          </a:p>
          <a:p xmlns:a="http://schemas.openxmlformats.org/drawingml/2006/main">
            <a:r>
              <a:t>- 90 and above: Excellent</a:t>
            </a:r>
          </a:p>
          <a:p xmlns:a="http://schemas.openxmlformats.org/drawingml/2006/main">
            <a:r>
              <a:t>- 75–89: Good</a:t>
            </a:r>
          </a:p>
          <a:p xmlns:a="http://schemas.openxmlformats.org/drawingml/2006/main">
            <a:r>
              <a:t>- 60–74: Pass</a:t>
            </a:r>
          </a:p>
          <a:p xmlns:a="http://schemas.openxmlformats.org/drawingml/2006/main">
            <a:r>
              <a:t>- Below 60: Needs Improvement</a:t>
            </a:r>
          </a:p>
          <a:p xmlns:a="http://schemas.openxmlformats.org/drawingml/2006/main">
            <a:r>
              <a:t/>
            </a:r>
          </a:p>
          <a:p xmlns:a="http://schemas.openxmlformats.org/drawingml/2006/main">
            <a:r>
              <a:t>Results are announced and briefly reviewed at the meeting after each iteration.</a:t>
            </a:r>
          </a:p>
          <a:p xmlns:a="http://schemas.openxmlformats.org/drawingml/2006/main">
            <a:r>
              <a:t/>
            </a:r>
          </a:p>
          <a:p xmlns:a="http://schemas.openxmlformats.org/drawingml/2006/main">
            <a:r>
              <a:t>### 5.4 Fairness &amp; Anti-Gaming Mechanisms</a:t>
            </a:r>
          </a:p>
          <a:p xmlns:a="http://schemas.openxmlformats.org/drawingml/2006/main">
            <a:r>
              <a:t/>
            </a:r>
          </a:p>
          <a:p xmlns:a="http://schemas.openxmlformats.org/drawingml/2006/main">
            <a:r>
              <a:t>- Commit count is not used as a standalone metric, to avoid splitting commits for the sake of numbers.</a:t>
            </a:r>
          </a:p>
          <a:p xmlns:a="http://schemas.openxmlformats.org/drawingml/2006/main">
            <a:r>
              <a:t>- Workload differs across roles, so tasks are weighted by difficulty and effort instead of being compared by sheer quantity.</a:t>
            </a:r>
          </a:p>
          <a:p xmlns:a="http://schemas.openxmlformats.org/drawingml/2006/main">
            <a:r>
              <a:t>- Peer review is anonymous, and the average is taken after dropping the highest and lowest scores.</a:t>
            </a:r>
          </a:p>
          <a:p xmlns:a="http://schemas.openxmlformats.org/drawingml/2006/main">
            <a:r>
              <a:t/>
            </a:r>
          </a:p>
          <a:p xmlns:a="http://schemas.openxmlformats.org/drawingml/2006/main">
            <a:r>
              <a:t>### 5.5 Feedback &amp; Appeal</a:t>
            </a:r>
          </a:p>
          <a:p xmlns:a="http://schemas.openxmlformats.org/drawingml/2006/main">
            <a:r>
              <a:t/>
            </a:r>
          </a:p>
          <a:p xmlns:a="http://schemas.openxmlformats.org/drawingml/2006/main">
            <a:r>
              <a:t>- Members who disagree with their assessment may appeal to the team lead within three days of the announcement; the whole team will discuss and re-evaluate if necessary.</a:t>
            </a:r>
          </a:p>
          <a:p xmlns:a="http://schemas.openxmlformats.org/drawingml/2006/main">
            <a:r>
              <a:t>- A member rated "Needs Improvement" for two consecutive iterations will have a one-on-one talk organized by the team lead to jointly analyze the causes and adjust task arrangements.</a:t>
            </a:r>
          </a:p>
          <a:p xmlns:a="http://schemas.openxmlformats.org/drawingml/2006/main">
            <a:r>
              <a:t/>
            </a:r>
          </a:p>
          <a:p xmlns:a="http://schemas.openxmlformats.org/drawingml/2006/main">
            <a:r>
              <a:t>### 5.6 Application of Results</a:t>
            </a:r>
          </a:p>
          <a:p xmlns:a="http://schemas.openxmlformats.org/drawingml/2006/main">
            <a:r>
              <a:t/>
            </a:r>
          </a:p>
          <a:p xmlns:a="http://schemas.openxmlformats.org/drawingml/2006/main">
            <a:r>
              <a:t>The performance score serves as an important reference for the final course grade.</a:t>
            </a:r>
          </a:p>
          <a:p xmlns:a="http://schemas.openxmlformats.org/drawingml/2006/main">
            <a:r>
              <a:t/>
            </a:r>
          </a:p>
          <a:p xmlns:a="http://schemas.openxmlformats.org/drawingml/2006/main">
            <a:r>
              <a:t>---</a:t>
            </a:r>
          </a:p>
          <a:p xmlns:a="http://schemas.openxmlformats.org/drawingml/2006/main">
            <a:r>
              <a:t/>
            </a:r>
          </a:p>
          <a:p xmlns:a="http://schemas.openxmlformats.org/drawingml/2006/main">
            <a:r>
              <a:t>The team may discuss and reassess disputed results. Cumulative scores inform final contribution ratios and serve as an important reference for the course grade.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Falcons-组队与选题博客-CSDN粘贴版.md, 6. Requirements Specification Document</a:t>
            </a:r>
          </a:p>
          <a:p xmlns:a="http://schemas.openxmlformats.org/drawingml/2006/main">
            <a:r>
              <a:t/>
            </a:r>
          </a:p>
          <a:p xmlns:a="http://schemas.openxmlformats.org/drawingml/2006/main">
            <a:r>
              <a:t/>
            </a:r>
          </a:p>
          <a:p xmlns:a="http://schemas.openxmlformats.org/drawingml/2006/main">
            <a:r>
              <a:t/>
            </a:r>
          </a:p>
          <a:p xmlns:a="http://schemas.openxmlformats.org/drawingml/2006/main">
            <a:r>
              <a:t>The Requirements Specification Document is submitted as an attachment to this blog, covering: introduction, overall description (product outlook, functional architecture, user roles), functional requirements with priorities (M1–M5, 48 requirements), non-functional requirements, business rules, and the bidirectional traceability matrix with 41 use cases.</a:t>
            </a:r>
          </a:p>
          <a:p xmlns:a="http://schemas.openxmlformats.org/drawingml/2006/main">
            <a:r>
              <a:t/>
            </a:r>
          </a:p>
          <a:p xmlns:a="http://schemas.openxmlformats.org/drawingml/2006/main">
            <a:r>
              <a:t>**Attachment**: Requirements Specification Document V2.2 (Web Edition) — `需求规格说明书V2.2_网页端优化版.pdf`</a:t>
            </a:r>
          </a:p>
          <a:p xmlns:a="http://schemas.openxmlformats.org/drawingml/2006/main">
            <a:r>
              <a:t/>
            </a:r>
          </a:p>
          <a:p xmlns:a="http://schemas.openxmlformats.org/drawingml/2006/main">
            <a:r>
              <a:t>These counts are stated in the supplied blog. The referenced PDF was not supplied for inspection. Filename: 需求规格说明书V2.2_网页端优化版.pdf.</a:t>
            </a:r>
          </a:p>
          <a:p xmlns:a="http://schemas.openxmlformats.org/drawingml/2006/main">
            <a:r>
              <a:t>Team CSDN: https://blog.csdn.net/2601_97187573</a:t>
            </a:r>
          </a:p>
          <a:p xmlns:a="http://schemas.openxmlformats.org/drawingml/2006/main">
            <a:r>
              <a:t>GitHub: https://github.com/Falcons-FZU-MU-SE-GROUP12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26066174614d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15f3a6a00146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efd0df85af4f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b2cb936b8514b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5534532a1d4b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7046550b99649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C8CE3C-20CB-4CBF-B309-8BFC56E6928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AD66B7-C994-4212-AC63-C9D2D389C22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70B688-462E-4C7B-8F43-A5454A5A1F9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B62008-D816-4087-BE08-CFA4DB7049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3314343-FBD5-4F0B-9A67-A053D18054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C8E9443-D7AB-416D-BA8A-1610B5A7C2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7D8377-9C0C-446D-B521-E6A57FC908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1410E20-5B88-475F-912D-BD889E30CD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81EAD3-052A-4A3D-AB0F-76950993F7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24C0E7-456C-41DD-8517-C0F6B95AA5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a432c8e91743df" /><Relationship Type="http://schemas.openxmlformats.org/officeDocument/2006/relationships/slideLayout" Target="/ppt/slideLayouts/slideLayout1.xml" Id="R8eed41ec37884c31" /><Relationship Type="http://schemas.openxmlformats.org/officeDocument/2006/relationships/slideLayout" Target="/ppt/slideLayouts/slideLayout2.xml" Id="R67c73c7a4ff34ba8" /><Relationship Type="http://schemas.openxmlformats.org/officeDocument/2006/relationships/slideLayout" Target="/ppt/slideLayouts/slideLayout3.xml" Id="R7359ec9aaae8430d" /><Relationship Type="http://schemas.openxmlformats.org/officeDocument/2006/relationships/slideLayout" Target="/ppt/slideLayouts/slideLayout4.xml" Id="R60e47370a070403f" /><Relationship Type="http://schemas.openxmlformats.org/officeDocument/2006/relationships/slideLayout" Target="/ppt/slideLayouts/slideLayout5.xml" Id="R714bca5839d64ba0" /><Relationship Type="http://schemas.openxmlformats.org/officeDocument/2006/relationships/slideLayout" Target="/ppt/slideLayouts/slideLayout6.xml" Id="R26d63c6179c94a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ed41ec37884c31"/>
    <p:sldLayoutId xmlns:r="http://schemas.openxmlformats.org/officeDocument/2006/relationships" id="2147483650" r:id="R67c73c7a4ff34ba8"/>
    <p:sldLayoutId xmlns:r="http://schemas.openxmlformats.org/officeDocument/2006/relationships" id="2147483651" r:id="R7359ec9aaae8430d"/>
    <p:sldLayoutId xmlns:r="http://schemas.openxmlformats.org/officeDocument/2006/relationships" id="2147483652" r:id="R60e47370a070403f"/>
    <p:sldLayoutId xmlns:r="http://schemas.openxmlformats.org/officeDocument/2006/relationships" id="2147483653" r:id="R714bca5839d64ba0"/>
    <p:sldLayoutId xmlns:r="http://schemas.openxmlformats.org/officeDocument/2006/relationships" id="2147483654" r:id="R26d63c6179c94a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9f4b09335b148ca" /><Relationship Type="http://schemas.openxmlformats.org/officeDocument/2006/relationships/image" Target="/ppt/media/image.png" Id="R8335f19cd21341cf" /><Relationship Type="http://schemas.openxmlformats.org/officeDocument/2006/relationships/image" Target="/ppt/media/image.jpeg" Id="Rc7e2d30c83fe4b43" /><Relationship Type="http://schemas.openxmlformats.org/officeDocument/2006/relationships/notesSlide" Target="/ppt/notesSlides/notesSlide1.xml" Id="R20936432770b46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eba94e5af7644bd" /><Relationship Type="http://schemas.openxmlformats.org/officeDocument/2006/relationships/image" Target="/ppt/media/image2.png" Id="Rd2c723fbe8814ec6" /><Relationship Type="http://schemas.openxmlformats.org/officeDocument/2006/relationships/notesSlide" Target="/ppt/notesSlides/notesSlide2.xml" Id="Rfb1dc82002e246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31c2a06d9694db5" /><Relationship Type="http://schemas.openxmlformats.org/officeDocument/2006/relationships/image" Target="/ppt/media/image3.png" Id="Re00f9e884b114ea5" /><Relationship Type="http://schemas.openxmlformats.org/officeDocument/2006/relationships/notesSlide" Target="/ppt/notesSlides/notesSlide3.xml" Id="R47f9c212b2424b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0a682d5423646e7" /><Relationship Type="http://schemas.openxmlformats.org/officeDocument/2006/relationships/image" Target="/ppt/media/image4.png" Id="R1168196d427d4325" /><Relationship Type="http://schemas.openxmlformats.org/officeDocument/2006/relationships/notesSlide" Target="/ppt/notesSlides/notesSlide4.xml" Id="R2798e944117f45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dc7e77fc6f649e8" /><Relationship Type="http://schemas.openxmlformats.org/officeDocument/2006/relationships/image" Target="/ppt/media/image5.png" Id="R2cdbd158e3c347d0" /><Relationship Type="http://schemas.openxmlformats.org/officeDocument/2006/relationships/image" Target="/ppt/media/image2.jpeg" Id="Radb85424718e4c1f" /><Relationship Type="http://schemas.openxmlformats.org/officeDocument/2006/relationships/notesSlide" Target="/ppt/notesSlides/notesSlide5.xml" Id="R0c99a38e0ed84e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e8d08e1b6134688" /><Relationship Type="http://schemas.openxmlformats.org/officeDocument/2006/relationships/image" Target="/ppt/media/image6.png" Id="R93b29734cc1746dc" /><Relationship Type="http://schemas.openxmlformats.org/officeDocument/2006/relationships/notesSlide" Target="/ppt/notesSlides/notesSlide6.xml" Id="R3b6923b0ac1943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ed422464d49485a" /><Relationship Type="http://schemas.openxmlformats.org/officeDocument/2006/relationships/image" Target="/ppt/media/image7.png" Id="R30908b3b359648f1" /><Relationship Type="http://schemas.openxmlformats.org/officeDocument/2006/relationships/notesSlide" Target="/ppt/notesSlides/notesSlide7.xml" Id="R7659318f2d544c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f4f179d00c4c8a" /><Relationship Type="http://schemas.openxmlformats.org/officeDocument/2006/relationships/image" Target="/ppt/media/image8.png" Id="R494a8a32f5774fac" /><Relationship Type="http://schemas.openxmlformats.org/officeDocument/2006/relationships/notesSlide" Target="/ppt/notesSlides/notesSlide8.xml" Id="R021c1cef33a94f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1134b0a0efe4333" /><Relationship Type="http://schemas.openxmlformats.org/officeDocument/2006/relationships/image" Target="/ppt/media/image9.png" Id="R21659ff5436d43b8" /><Relationship Type="http://schemas.openxmlformats.org/officeDocument/2006/relationships/notesSlide" Target="/ppt/notesSlides/notesSlide9.xml" Id="Rfd4d830ab1af4d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9e143caad2545e1" /><Relationship Type="http://schemas.openxmlformats.org/officeDocument/2006/relationships/image" Target="/ppt/media/image10.png" Id="R9790e24a72954950" /><Relationship Type="http://schemas.openxmlformats.org/officeDocument/2006/relationships/notesSlide" Target="/ppt/notesSlides/notesSlide10.xml" Id="Rcb0bf685c2d647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7396a503c5748a3" /><Relationship Type="http://schemas.openxmlformats.org/officeDocument/2006/relationships/image" Target="/ppt/media/image11.png" Id="R635fba017c074694" /><Relationship Type="http://schemas.openxmlformats.org/officeDocument/2006/relationships/notesSlide" Target="/ppt/notesSlides/notesSlide11.xml" Id="R7c4b1e4ec5e44a5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96036481c8e4913" /><Relationship Type="http://schemas.openxmlformats.org/officeDocument/2006/relationships/image" Target="/ppt/media/image12.png" Id="R4201e90d760f4c3b" /><Relationship Type="http://schemas.openxmlformats.org/officeDocument/2006/relationships/notesSlide" Target="/ppt/notesSlides/notesSlide12.xml" Id="R7b349cee760542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65c633a598a4c2e" /><Relationship Type="http://schemas.openxmlformats.org/officeDocument/2006/relationships/image" Target="/ppt/media/image13.png" Id="R7aef5e236a674767" /><Relationship Type="http://schemas.openxmlformats.org/officeDocument/2006/relationships/notesSlide" Target="/ppt/notesSlides/notesSlide13.xml" Id="R11ee720eedce472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26b8fe348c846aa" /><Relationship Type="http://schemas.openxmlformats.org/officeDocument/2006/relationships/image" Target="/ppt/media/image14.png" Id="R4e747098e9b74235" /><Relationship Type="http://schemas.openxmlformats.org/officeDocument/2006/relationships/notesSlide" Target="/ppt/notesSlides/notesSlide14.xml" Id="R8d995297b516477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e34f99071c143f1" /><Relationship Type="http://schemas.openxmlformats.org/officeDocument/2006/relationships/image" Target="/ppt/media/image15.png" Id="R8804f459f3a941aa" /><Relationship Type="http://schemas.openxmlformats.org/officeDocument/2006/relationships/notesSlide" Target="/ppt/notesSlides/notesSlide15.xml" Id="R250b3e6bfecd457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0769fa7fd1e46fa" /><Relationship Type="http://schemas.openxmlformats.org/officeDocument/2006/relationships/image" Target="/ppt/media/image16.png" Id="R33fd97c65510415d" /><Relationship Type="http://schemas.openxmlformats.org/officeDocument/2006/relationships/notesSlide" Target="/ppt/notesSlides/notesSlide16.xml" Id="R10a7e579607247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30168b688d742a0" /><Relationship Type="http://schemas.openxmlformats.org/officeDocument/2006/relationships/image" Target="/ppt/media/image17.png" Id="R041633df10f04122" /><Relationship Type="http://schemas.openxmlformats.org/officeDocument/2006/relationships/notesSlide" Target="/ppt/notesSlides/notesSlide17.xml" Id="R42709438f7d94df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b9a61f2739343e1" /><Relationship Type="http://schemas.openxmlformats.org/officeDocument/2006/relationships/image" Target="/ppt/media/image18.png" Id="R238b7b327663488d" /><Relationship Type="http://schemas.openxmlformats.org/officeDocument/2006/relationships/notesSlide" Target="/ppt/notesSlides/notesSlide18.xml" Id="R40c31bd4565f4123" /></Relationships>
</file>

<file path=ppt/slides/slide1.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E589B81-E254-45CD-8574-D6EA8A9DBC69}"/>
              </a:ext>
            </a:extLst>
          </p:cNvPr>
          <p:cNvPicPr>
            <a:picLocks xmlns:a="http://schemas.openxmlformats.org/drawingml/2006/main" noChangeAspect="1"/>
          </p:cNvPicPr>
          <p:nvPr/>
        </p:nvPicPr>
        <p:blipFill>
          <a:blip xmlns:r="http://schemas.openxmlformats.org/officeDocument/2006/relationships" xmlns:a="http://schemas.openxmlformats.org/drawingml/2006/main" r:embed="R8335f19cd21341c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8A5183-3AE6-42C7-8F64-E381EDC7EF57}"/>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6965A52C-A254-4E83-8E70-BF2028DF806E}"/>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1E27260-D905-49A1-9F1E-9CF2E75EB6DE}"/>
              </a:ext>
            </a:extLst>
          </p:cNvPr>
          <p:cNvSpPr>
            <a:spLocks xmlns:a="http://schemas.openxmlformats.org/drawingml/2006/main" noGrp="1"/>
          </p:cNvSpPr>
          <p:nvPr/>
        </p:nvSpPr>
        <p:spPr>
          <a:xfrm xmlns:a="http://schemas.openxmlformats.org/drawingml/2006/main">
            <a:off x="666750" y="790575"/>
            <a:ext cx="600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AC6900"/>
                </a:solidFill>
                <a:latin typeface="Arial"/>
                <a:ea typeface="Arial"/>
                <a:cs typeface="Arial"/>
              </a:defRPr>
            </a:defPPr>
          </a:lstStyle>
          <a:p xmlns:a="http://schemas.openxmlformats.org/drawingml/2006/main">
            <a:pPr>
              <a:defRPr sz="2400" b="1">
                <a:solidFill>
                  <a:srgbClr val="AC6900"/>
                </a:solidFill>
                <a:latin typeface="Arial"/>
                <a:ea typeface="Arial"/>
                <a:cs typeface="Arial"/>
              </a:defRPr>
            </a:pPr>
            <a:r>
              <a:rPr sz="2400" b="1">
                <a:solidFill>
                  <a:srgbClr val="AC6900"/>
                </a:solidFill>
                <a:latin typeface="Arial"/>
                <a:ea typeface="Arial"/>
                <a:cs typeface="Arial"/>
              </a:rPr>
              <a:t>FALCONS</a:t>
            </a:r>
          </a:p>
        </p:txBody>
      </p:sp>
      <p:sp>
        <p:nvSpPr>
          <p:cNvPr id="5" name="">
            <a:extLst xmlns:a="http://schemas.openxmlformats.org/drawingml/2006/main">
              <a:ext uri="{FF2B5EF4-FFF2-40B4-BE49-F238E27FC236}">
                <a16:creationId xmlns:a16="http://schemas.microsoft.com/office/drawing/2014/main" id="{8F378EE3-472E-453A-AC2F-667A700D2C60}"/>
              </a:ext>
            </a:extLst>
          </p:cNvPr>
          <p:cNvSpPr>
            <a:spLocks xmlns:a="http://schemas.openxmlformats.org/drawingml/2006/main" noGrp="1"/>
          </p:cNvSpPr>
          <p:nvPr/>
        </p:nvSpPr>
        <p:spPr>
          <a:xfrm xmlns:a="http://schemas.openxmlformats.org/drawingml/2006/main">
            <a:off x="638175" y="1514475"/>
            <a:ext cx="73342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450" b="0">
                <a:solidFill>
                  <a:srgbClr val="183E50"/>
                </a:solidFill>
                <a:latin typeface="Impact"/>
                <a:ea typeface="Impact"/>
                <a:cs typeface="Impact"/>
              </a:defRPr>
            </a:defPPr>
          </a:lstStyle>
          <a:p xmlns:a="http://schemas.openxmlformats.org/drawingml/2006/main">
            <a:pPr>
              <a:defRPr sz="9450" b="0">
                <a:solidFill>
                  <a:srgbClr val="183E50"/>
                </a:solidFill>
                <a:latin typeface="Impact"/>
                <a:ea typeface="Impact"/>
                <a:cs typeface="Impact"/>
              </a:defRPr>
            </a:pPr>
            <a:r>
              <a:rPr sz="9450" b="0">
                <a:solidFill>
                  <a:srgbClr val="183E50"/>
                </a:solidFill>
                <a:latin typeface="Impact"/>
                <a:ea typeface="Impact"/>
                <a:cs typeface="Impact"/>
              </a:rPr>
              <a:t>SPORTS</a:t>
            </a:r>
          </a:p>
          <a:p xmlns:a="http://schemas.openxmlformats.org/drawingml/2006/main">
            <a:pPr>
              <a:defRPr sz="9450" b="0">
                <a:solidFill>
                  <a:srgbClr val="183E50"/>
                </a:solidFill>
                <a:latin typeface="Impact"/>
                <a:ea typeface="Impact"/>
                <a:cs typeface="Impact"/>
              </a:defRPr>
            </a:pPr>
            <a:r>
              <a:rPr sz="9450" b="0">
                <a:solidFill>
                  <a:srgbClr val="183E50"/>
                </a:solidFill>
                <a:latin typeface="Impact"/>
                <a:ea typeface="Impact"/>
                <a:cs typeface="Impact"/>
              </a:rPr>
              <a:t>BUDDY</a:t>
            </a:r>
          </a:p>
        </p:txBody>
      </p:sp>
      <p:sp>
        <p:nvSpPr>
          <p:cNvPr id="6" name="">
            <a:extLst xmlns:a="http://schemas.openxmlformats.org/drawingml/2006/main">
              <a:ext uri="{FF2B5EF4-FFF2-40B4-BE49-F238E27FC236}">
                <a16:creationId xmlns:a16="http://schemas.microsoft.com/office/drawing/2014/main" id="{A118CD79-DD7C-401A-A59E-055F0788D043}"/>
              </a:ext>
            </a:extLst>
          </p:cNvPr>
          <p:cNvSpPr>
            <a:spLocks xmlns:a="http://schemas.openxmlformats.org/drawingml/2006/main" noGrp="1"/>
          </p:cNvSpPr>
          <p:nvPr/>
        </p:nvSpPr>
        <p:spPr>
          <a:xfrm xmlns:a="http://schemas.openxmlformats.org/drawingml/2006/main">
            <a:off x="695325" y="4505325"/>
            <a:ext cx="828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AC6900"/>
                </a:solidFill>
                <a:latin typeface="Arial"/>
                <a:ea typeface="Arial"/>
                <a:cs typeface="Arial"/>
              </a:defRPr>
            </a:defPPr>
          </a:lstStyle>
          <a:p xmlns:a="http://schemas.openxmlformats.org/drawingml/2006/main">
            <a:pPr>
              <a:defRPr sz="2700" b="1">
                <a:solidFill>
                  <a:srgbClr val="AC6900"/>
                </a:solidFill>
                <a:latin typeface="Arial"/>
                <a:ea typeface="Arial"/>
                <a:cs typeface="Arial"/>
              </a:defRPr>
            </a:pPr>
            <a:r>
              <a:rPr sz="2700" b="1">
                <a:solidFill>
                  <a:srgbClr val="AC6900"/>
                </a:solidFill>
                <a:latin typeface="Arial"/>
                <a:ea typeface="Arial"/>
                <a:cs typeface="Arial"/>
              </a:rPr>
              <a:t>TEAM FORMATION &amp; TOPIC SELECTION</a:t>
            </a:r>
          </a:p>
        </p:txBody>
      </p:sp>
      <p:sp>
        <p:nvSpPr>
          <p:cNvPr id="7" name="">
            <a:extLst xmlns:a="http://schemas.openxmlformats.org/drawingml/2006/main">
              <a:ext uri="{FF2B5EF4-FFF2-40B4-BE49-F238E27FC236}">
                <a16:creationId xmlns:a16="http://schemas.microsoft.com/office/drawing/2014/main" id="{F8B92B75-D063-4840-9F74-2EA991FF226F}"/>
              </a:ext>
            </a:extLst>
          </p:cNvPr>
          <p:cNvSpPr>
            <a:spLocks xmlns:a="http://schemas.openxmlformats.org/drawingml/2006/main" noGrp="1"/>
          </p:cNvSpPr>
          <p:nvPr/>
        </p:nvSpPr>
        <p:spPr>
          <a:xfrm xmlns:a="http://schemas.openxmlformats.org/drawingml/2006/main">
            <a:off x="704850" y="54578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76371"/>
                </a:solidFill>
                <a:latin typeface="Arial"/>
                <a:ea typeface="Arial"/>
                <a:cs typeface="Arial"/>
              </a:defRPr>
            </a:defPPr>
          </a:lstStyle>
          <a:p xmlns:a="http://schemas.openxmlformats.org/drawingml/2006/main">
            <a:pPr>
              <a:defRPr sz="1875" b="0">
                <a:solidFill>
                  <a:srgbClr val="476371"/>
                </a:solidFill>
                <a:latin typeface="Arial"/>
                <a:ea typeface="Arial"/>
                <a:cs typeface="Arial"/>
              </a:defRPr>
            </a:pPr>
            <a:r>
              <a:rPr sz="1875" b="0">
                <a:solidFill>
                  <a:srgbClr val="476371"/>
                </a:solidFill>
                <a:latin typeface="Arial"/>
                <a:ea typeface="Arial"/>
                <a:cs typeface="Arial"/>
              </a:rPr>
              <a:t>EE308FZ Software Engineering</a:t>
            </a:r>
          </a:p>
          <a:p xmlns:a="http://schemas.openxmlformats.org/drawingml/2006/main">
            <a:pPr>
              <a:defRPr sz="1875" b="0">
                <a:solidFill>
                  <a:srgbClr val="476371"/>
                </a:solidFill>
                <a:latin typeface="Arial"/>
                <a:ea typeface="Arial"/>
                <a:cs typeface="Arial"/>
              </a:defRPr>
            </a:pPr>
            <a:r>
              <a:rPr sz="1875" b="0">
                <a:solidFill>
                  <a:srgbClr val="476371"/>
                </a:solidFill>
                <a:latin typeface="Arial"/>
                <a:ea typeface="Arial"/>
                <a:cs typeface="Arial"/>
              </a:rPr>
              <a:t>Assignment 2</a:t>
            </a:r>
          </a:p>
        </p:txBody>
      </p:sp>
      <p:pic>
        <p:nvPicPr>
          <p:cNvPr id="8" name="">
            <a:extLst xmlns:a="http://schemas.openxmlformats.org/drawingml/2006/main">
              <a:ext uri="{FF2B5EF4-FFF2-40B4-BE49-F238E27FC236}">
                <a16:creationId xmlns:a16="http://schemas.microsoft.com/office/drawing/2014/main" id="{5521D57B-B431-4B96-822C-A2EDA4FC9106}"/>
              </a:ext>
            </a:extLst>
          </p:cNvPr>
          <p:cNvPicPr>
            <a:picLocks xmlns:a="http://schemas.openxmlformats.org/drawingml/2006/main" noChangeAspect="1"/>
          </p:cNvPicPr>
          <p:nvPr/>
        </p:nvPicPr>
        <p:blipFill>
          <a:blip xmlns:r="http://schemas.openxmlformats.org/officeDocument/2006/relationships" xmlns:a="http://schemas.openxmlformats.org/drawingml/2006/main" r:embed="Rc7e2d30c83fe4b43"/>
          <a:stretch xmlns:a="http://schemas.openxmlformats.org/drawingml/2006/main"/>
        </p:blipFill>
        <p:spPr>
          <a:xfrm xmlns:a="http://schemas.openxmlformats.org/drawingml/2006/main">
            <a:off x="9944100" y="590550"/>
            <a:ext cx="1504950" cy="1504950"/>
          </a:xfrm>
          <a:prstGeom xmlns:a="http://schemas.openxmlformats.org/drawingml/2006/main" prst="rect">
            <a:avLst/>
          </a:prstGeom>
        </p:spPr>
      </p:pic>
    </p:spTree>
    <p:extLst>
      <p:ext uri="{BB962C8B-B14F-4D97-AF65-F5344CB8AC3E}">
        <p14:creationId xmlns:p14="http://schemas.microsoft.com/office/powerpoint/2010/main" val="1276054479"/>
      </p:ext>
    </p:extLst>
  </p:cSld>
</p:sld>
</file>

<file path=ppt/slides/slide2.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09FFAFF9-AA8B-4288-BD48-B51A1B1062DB}"/>
              </a:ext>
            </a:extLst>
          </p:cNvPr>
          <p:cNvPicPr>
            <a:picLocks xmlns:a="http://schemas.openxmlformats.org/drawingml/2006/main" noChangeAspect="1"/>
          </p:cNvPicPr>
          <p:nvPr/>
        </p:nvPicPr>
        <p:blipFill>
          <a:blip xmlns:r="http://schemas.openxmlformats.org/officeDocument/2006/relationships" xmlns:a="http://schemas.openxmlformats.org/drawingml/2006/main" r:embed="Rd2c723fbe8814ec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E4D4C82-7160-4200-8D21-B8FC79106308}"/>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TEAM MEMBERS 1/2</a:t>
            </a:r>
          </a:p>
        </p:txBody>
      </p:sp>
      <p:sp>
        <p:nvSpPr>
          <p:cNvPr id="3" name="">
            <a:extLst xmlns:a="http://schemas.openxmlformats.org/drawingml/2006/main">
              <a:ext uri="{FF2B5EF4-FFF2-40B4-BE49-F238E27FC236}">
                <a16:creationId xmlns:a16="http://schemas.microsoft.com/office/drawing/2014/main" id="{1F095DC0-458C-4C94-9255-EF282616C01C}"/>
              </a:ext>
            </a:extLst>
          </p:cNvPr>
          <p:cNvSpPr>
            <a:spLocks xmlns:a="http://schemas.openxmlformats.org/drawingml/2006/main" noGrp="1"/>
          </p:cNvSpPr>
          <p:nvPr/>
        </p:nvSpPr>
        <p:spPr>
          <a:xfrm xmlns:a="http://schemas.openxmlformats.org/drawingml/2006/main">
            <a:off x="64770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76371"/>
                </a:solidFill>
                <a:latin typeface="Arial"/>
                <a:ea typeface="Arial"/>
                <a:cs typeface="Arial"/>
              </a:defRPr>
            </a:defPPr>
          </a:lstStyle>
          <a:p xmlns:a="http://schemas.openxmlformats.org/drawingml/2006/main">
            <a:pPr>
              <a:defRPr sz="1800" b="0">
                <a:solidFill>
                  <a:srgbClr val="476371"/>
                </a:solidFill>
                <a:latin typeface="Arial"/>
                <a:ea typeface="Arial"/>
                <a:cs typeface="Arial"/>
              </a:defRPr>
            </a:pPr>
            <a:r>
              <a:rPr sz="1800" b="0">
                <a:solidFill>
                  <a:srgbClr val="476371"/>
                </a:solidFill>
                <a:latin typeface="Arial"/>
                <a:ea typeface="Arial"/>
                <a:cs typeface="Arial"/>
              </a:rPr>
              <a:t>13 members across six groups. Team lead: Huang Zhiyuan</a:t>
            </a:r>
          </a:p>
        </p:txBody>
      </p:sp>
      <p:sp>
        <p:nvSpPr>
          <p:cNvPr id="4" name="">
            <a:extLst xmlns:a="http://schemas.openxmlformats.org/drawingml/2006/main">
              <a:ext uri="{FF2B5EF4-FFF2-40B4-BE49-F238E27FC236}">
                <a16:creationId xmlns:a16="http://schemas.microsoft.com/office/drawing/2014/main" id="{F3C87028-68DC-4704-A3E2-88D030AE523E}"/>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02</a:t>
            </a:r>
          </a:p>
        </p:txBody>
      </p:sp>
      <p:graphicFrame>
        <p:nvGraphicFramePr>
          <p:cNvPr id="5" name="">
            <a:extLst xmlns:a="http://schemas.openxmlformats.org/drawingml/2006/main">
              <a:ext uri="{FF2B5EF4-FFF2-40B4-BE49-F238E27FC236}">
                <a16:creationId xmlns:a16="http://schemas.microsoft.com/office/drawing/2014/main" id="{6BBE3001-2D09-4CD6-9585-B5BE250416E6}"/>
              </a:ext>
            </a:extLst>
          </p:cNvPr>
          <p:cNvGraphicFramePr/>
          <p:nvPr/>
        </p:nvGraphicFramePr>
        <p:xfrm>
          <a:off xmlns:a="http://schemas.openxmlformats.org/drawingml/2006/main" x="647700" y="1790700"/>
          <a:ext xmlns:a="http://schemas.openxmlformats.org/drawingml/2006/main" cx="10896600" cy="4095750"/>
        </p:xfrm>
        <a:graphic xmlns:a="http://schemas.openxmlformats.org/drawingml/2006/main">
          <a:graphicData uri="http://schemas.openxmlformats.org/drawingml/2006/table">
            <a:tbl>
              <a:tblPr/>
              <a:tblGrid>
                <a:gridCol w="2762250"/>
                <a:gridCol w="1952625"/>
                <a:gridCol w="4705350"/>
                <a:gridCol w="1476375"/>
              </a:tblGrid>
              <a:tr h="511969">
                <a:tc>
                  <a:txBody>
                    <a:bodyPr/>
                    <a:lstStyle/>
                    <a:p>
                      <a:r>
                        <a:rPr sz="1725" b="1">
                          <a:solidFill>
                            <a:srgbClr val="183E50"/>
                          </a:solidFill>
                          <a:latin typeface="Arial"/>
                          <a:ea typeface="Arial"/>
                          <a:cs typeface="Arial"/>
                        </a:rPr>
                        <a:t>Member</a:t>
                      </a:r>
                    </a:p>
                  </a:txBody>
                  <a:tcPr marL="91440" marR="91440" marT="45720" marB="45720">
                    <a:solidFill>
                      <a:srgbClr val="FFD85C"/>
                    </a:solidFill>
                  </a:tcPr>
                </a:tc>
                <a:tc>
                  <a:txBody>
                    <a:bodyPr/>
                    <a:lstStyle/>
                    <a:p>
                      <a:r>
                        <a:rPr sz="1725" b="1">
                          <a:solidFill>
                            <a:srgbClr val="183E50"/>
                          </a:solidFill>
                          <a:latin typeface="Arial"/>
                          <a:ea typeface="Arial"/>
                          <a:cs typeface="Arial"/>
                        </a:rPr>
                        <a:t>Student ID</a:t>
                      </a:r>
                    </a:p>
                  </a:txBody>
                  <a:tcPr marL="91440" marR="91440" marT="45720" marB="45720">
                    <a:solidFill>
                      <a:srgbClr val="FFD85C"/>
                    </a:solidFill>
                  </a:tcPr>
                </a:tc>
                <a:tc>
                  <a:txBody>
                    <a:bodyPr/>
                    <a:lstStyle/>
                    <a:p>
                      <a:r>
                        <a:rPr sz="1725" b="1">
                          <a:solidFill>
                            <a:srgbClr val="183E50"/>
                          </a:solidFill>
                          <a:latin typeface="Arial"/>
                          <a:ea typeface="Arial"/>
                          <a:cs typeface="Arial"/>
                        </a:rPr>
                        <a:t>Role</a:t>
                      </a:r>
                    </a:p>
                  </a:txBody>
                  <a:tcPr marL="91440" marR="91440" marT="45720" marB="45720">
                    <a:solidFill>
                      <a:srgbClr val="FFD85C"/>
                    </a:solidFill>
                  </a:tcPr>
                </a:tc>
                <a:tc>
                  <a:txBody>
                    <a:bodyPr/>
                    <a:lstStyle/>
                    <a:p>
                      <a:r>
                        <a:rPr sz="1725" b="1">
                          <a:solidFill>
                            <a:srgbClr val="183E50"/>
                          </a:solidFill>
                          <a:latin typeface="Arial"/>
                          <a:ea typeface="Arial"/>
                          <a:cs typeface="Arial"/>
                        </a:rPr>
                        <a:t>Est. share</a:t>
                      </a:r>
                    </a:p>
                  </a:txBody>
                  <a:tcPr marL="91440" marR="91440" marT="45720" marB="45720">
                    <a:solidFill>
                      <a:srgbClr val="FFD85C"/>
                    </a:solidFill>
                  </a:tcPr>
                </a:tc>
              </a:tr>
              <a:tr h="511969">
                <a:tc>
                  <a:txBody>
                    <a:bodyPr/>
                    <a:lstStyle/>
                    <a:p>
                      <a:r>
                        <a:rPr sz="1725" b="0">
                          <a:solidFill>
                            <a:srgbClr val="183E50"/>
                          </a:solidFill>
                          <a:latin typeface="Arial"/>
                          <a:ea typeface="Arial"/>
                          <a:cs typeface="Arial"/>
                        </a:rPr>
                        <a:t>Huang Zhiyuan</a:t>
                      </a:r>
                    </a:p>
                  </a:txBody>
                  <a:tcPr marL="91440" marR="91440" marT="45720" marB="45720">
                    <a:solidFill>
                      <a:srgbClr val="FFFFFF"/>
                    </a:solidFill>
                  </a:tcPr>
                </a:tc>
                <a:tc>
                  <a:txBody>
                    <a:bodyPr/>
                    <a:lstStyle/>
                    <a:p>
                      <a:r>
                        <a:rPr sz="1725" b="0">
                          <a:solidFill>
                            <a:srgbClr val="183E50"/>
                          </a:solidFill>
                          <a:latin typeface="Arial"/>
                          <a:ea typeface="Arial"/>
                          <a:cs typeface="Arial"/>
                        </a:rPr>
                        <a:t>832401112</a:t>
                      </a:r>
                    </a:p>
                  </a:txBody>
                  <a:tcPr marL="91440" marR="91440" marT="45720" marB="45720">
                    <a:solidFill>
                      <a:srgbClr val="FFFFFF"/>
                    </a:solidFill>
                  </a:tcPr>
                </a:tc>
                <a:tc>
                  <a:txBody>
                    <a:bodyPr/>
                    <a:lstStyle/>
                    <a:p>
                      <a:r>
                        <a:rPr sz="1725" b="0">
                          <a:solidFill>
                            <a:srgbClr val="183E50"/>
                          </a:solidFill>
                          <a:latin typeface="Arial"/>
                          <a:ea typeface="Arial"/>
                          <a:cs typeface="Arial"/>
                        </a:rPr>
                        <a:t>Project Management (Team Lead)</a:t>
                      </a:r>
                    </a:p>
                  </a:txBody>
                  <a:tcPr marL="91440" marR="91440" marT="45720" marB="45720">
                    <a:solidFill>
                      <a:srgbClr val="FFFFFF"/>
                    </a:solidFill>
                  </a:tcPr>
                </a:tc>
                <a:tc>
                  <a:txBody>
                    <a:bodyPr/>
                    <a:lstStyle/>
                    <a:p>
                      <a:r>
                        <a:rPr sz="1725" b="0">
                          <a:solidFill>
                            <a:srgbClr val="183E50"/>
                          </a:solidFill>
                          <a:latin typeface="Arial"/>
                          <a:ea typeface="Arial"/>
                          <a:cs typeface="Arial"/>
                        </a:rPr>
                        <a:t>7.7%</a:t>
                      </a:r>
                    </a:p>
                  </a:txBody>
                  <a:tcPr marL="91440" marR="91440" marT="45720" marB="45720">
                    <a:solidFill>
                      <a:srgbClr val="FFFFFF"/>
                    </a:solidFill>
                  </a:tcPr>
                </a:tc>
              </a:tr>
              <a:tr h="511969">
                <a:tc>
                  <a:txBody>
                    <a:bodyPr/>
                    <a:lstStyle/>
                    <a:p>
                      <a:r>
                        <a:rPr sz="1725" b="0">
                          <a:solidFill>
                            <a:srgbClr val="183E50"/>
                          </a:solidFill>
                          <a:latin typeface="Arial"/>
                          <a:ea typeface="Arial"/>
                          <a:cs typeface="Arial"/>
                        </a:rPr>
                        <a:t>Zhang Zile</a:t>
                      </a:r>
                    </a:p>
                  </a:txBody>
                  <a:tcPr marL="91440" marR="91440" marT="45720" marB="45720">
                    <a:solidFill>
                      <a:srgbClr val="EFF7F8"/>
                    </a:solidFill>
                  </a:tcPr>
                </a:tc>
                <a:tc>
                  <a:txBody>
                    <a:bodyPr/>
                    <a:lstStyle/>
                    <a:p>
                      <a:r>
                        <a:rPr sz="1725" b="0">
                          <a:solidFill>
                            <a:srgbClr val="183E50"/>
                          </a:solidFill>
                          <a:latin typeface="Arial"/>
                          <a:ea typeface="Arial"/>
                          <a:cs typeface="Arial"/>
                        </a:rPr>
                        <a:t>832401325</a:t>
                      </a:r>
                    </a:p>
                  </a:txBody>
                  <a:tcPr marL="91440" marR="91440" marT="45720" marB="45720">
                    <a:solidFill>
                      <a:srgbClr val="EFF7F8"/>
                    </a:solidFill>
                  </a:tcPr>
                </a:tc>
                <a:tc>
                  <a:txBody>
                    <a:bodyPr/>
                    <a:lstStyle/>
                    <a:p>
                      <a:r>
                        <a:rPr sz="1725" b="0">
                          <a:solidFill>
                            <a:srgbClr val="183E50"/>
                          </a:solidFill>
                          <a:latin typeface="Arial"/>
                          <a:ea typeface="Arial"/>
                          <a:cs typeface="Arial"/>
                        </a:rPr>
                        <a:t>Product Requirements</a:t>
                      </a:r>
                    </a:p>
                  </a:txBody>
                  <a:tcPr marL="91440" marR="91440" marT="45720" marB="45720">
                    <a:solidFill>
                      <a:srgbClr val="EFF7F8"/>
                    </a:solidFill>
                  </a:tcPr>
                </a:tc>
                <a:tc>
                  <a:txBody>
                    <a:bodyPr/>
                    <a:lstStyle/>
                    <a:p>
                      <a:r>
                        <a:rPr sz="1725" b="0">
                          <a:solidFill>
                            <a:srgbClr val="183E50"/>
                          </a:solidFill>
                          <a:latin typeface="Arial"/>
                          <a:ea typeface="Arial"/>
                          <a:cs typeface="Arial"/>
                        </a:rPr>
                        <a:t>7.7%</a:t>
                      </a:r>
                    </a:p>
                  </a:txBody>
                  <a:tcPr marL="91440" marR="91440" marT="45720" marB="45720">
                    <a:solidFill>
                      <a:srgbClr val="EFF7F8"/>
                    </a:solidFill>
                  </a:tcPr>
                </a:tc>
              </a:tr>
              <a:tr h="511969">
                <a:tc>
                  <a:txBody>
                    <a:bodyPr/>
                    <a:lstStyle/>
                    <a:p>
                      <a:r>
                        <a:rPr sz="1725" b="0">
                          <a:solidFill>
                            <a:srgbClr val="183E50"/>
                          </a:solidFill>
                          <a:latin typeface="Arial"/>
                          <a:ea typeface="Arial"/>
                          <a:cs typeface="Arial"/>
                        </a:rPr>
                        <a:t>Ye Yifan</a:t>
                      </a:r>
                    </a:p>
                  </a:txBody>
                  <a:tcPr marL="91440" marR="91440" marT="45720" marB="45720">
                    <a:solidFill>
                      <a:srgbClr val="FFFFFF"/>
                    </a:solidFill>
                  </a:tcPr>
                </a:tc>
                <a:tc>
                  <a:txBody>
                    <a:bodyPr/>
                    <a:lstStyle/>
                    <a:p>
                      <a:r>
                        <a:rPr sz="1725" b="0">
                          <a:solidFill>
                            <a:srgbClr val="183E50"/>
                          </a:solidFill>
                          <a:latin typeface="Arial"/>
                          <a:ea typeface="Arial"/>
                          <a:cs typeface="Arial"/>
                        </a:rPr>
                        <a:t>832401321</a:t>
                      </a:r>
                    </a:p>
                  </a:txBody>
                  <a:tcPr marL="91440" marR="91440" marT="45720" marB="45720">
                    <a:solidFill>
                      <a:srgbClr val="FFFFFF"/>
                    </a:solidFill>
                  </a:tcPr>
                </a:tc>
                <a:tc>
                  <a:txBody>
                    <a:bodyPr/>
                    <a:lstStyle/>
                    <a:p>
                      <a:r>
                        <a:rPr sz="1725" b="0">
                          <a:solidFill>
                            <a:srgbClr val="183E50"/>
                          </a:solidFill>
                          <a:latin typeface="Arial"/>
                          <a:ea typeface="Arial"/>
                          <a:cs typeface="Arial"/>
                        </a:rPr>
                        <a:t>Product Requirements</a:t>
                      </a:r>
                    </a:p>
                  </a:txBody>
                  <a:tcPr marL="91440" marR="91440" marT="45720" marB="45720">
                    <a:solidFill>
                      <a:srgbClr val="FFFFFF"/>
                    </a:solidFill>
                  </a:tcPr>
                </a:tc>
                <a:tc>
                  <a:txBody>
                    <a:bodyPr/>
                    <a:lstStyle/>
                    <a:p>
                      <a:r>
                        <a:rPr sz="1725" b="0">
                          <a:solidFill>
                            <a:srgbClr val="183E50"/>
                          </a:solidFill>
                          <a:latin typeface="Arial"/>
                          <a:ea typeface="Arial"/>
                          <a:cs typeface="Arial"/>
                        </a:rPr>
                        <a:t>7.7%</a:t>
                      </a:r>
                    </a:p>
                  </a:txBody>
                  <a:tcPr marL="91440" marR="91440" marT="45720" marB="45720">
                    <a:solidFill>
                      <a:srgbClr val="FFFFFF"/>
                    </a:solidFill>
                  </a:tcPr>
                </a:tc>
              </a:tr>
              <a:tr h="511969">
                <a:tc>
                  <a:txBody>
                    <a:bodyPr/>
                    <a:lstStyle/>
                    <a:p>
                      <a:r>
                        <a:rPr sz="1725" b="0">
                          <a:solidFill>
                            <a:srgbClr val="183E50"/>
                          </a:solidFill>
                          <a:latin typeface="Arial"/>
                          <a:ea typeface="Arial"/>
                          <a:cs typeface="Arial"/>
                        </a:rPr>
                        <a:t>Lin Zijun</a:t>
                      </a:r>
                    </a:p>
                  </a:txBody>
                  <a:tcPr marL="91440" marR="91440" marT="45720" marB="45720">
                    <a:solidFill>
                      <a:srgbClr val="EFF7F8"/>
                    </a:solidFill>
                  </a:tcPr>
                </a:tc>
                <a:tc>
                  <a:txBody>
                    <a:bodyPr/>
                    <a:lstStyle/>
                    <a:p>
                      <a:r>
                        <a:rPr sz="1725" b="0">
                          <a:solidFill>
                            <a:srgbClr val="183E50"/>
                          </a:solidFill>
                          <a:latin typeface="Arial"/>
                          <a:ea typeface="Arial"/>
                          <a:cs typeface="Arial"/>
                        </a:rPr>
                        <a:t>832401311</a:t>
                      </a:r>
                    </a:p>
                  </a:txBody>
                  <a:tcPr marL="91440" marR="91440" marT="45720" marB="45720">
                    <a:solidFill>
                      <a:srgbClr val="EFF7F8"/>
                    </a:solidFill>
                  </a:tcPr>
                </a:tc>
                <a:tc>
                  <a:txBody>
                    <a:bodyPr/>
                    <a:lstStyle/>
                    <a:p>
                      <a:r>
                        <a:rPr sz="1725" b="0">
                          <a:solidFill>
                            <a:srgbClr val="183E50"/>
                          </a:solidFill>
                          <a:latin typeface="Arial"/>
                          <a:ea typeface="Arial"/>
                          <a:cs typeface="Arial"/>
                        </a:rPr>
                        <a:t>Frontend Development</a:t>
                      </a:r>
                    </a:p>
                  </a:txBody>
                  <a:tcPr marL="91440" marR="91440" marT="45720" marB="45720">
                    <a:solidFill>
                      <a:srgbClr val="EFF7F8"/>
                    </a:solidFill>
                  </a:tcPr>
                </a:tc>
                <a:tc>
                  <a:txBody>
                    <a:bodyPr/>
                    <a:lstStyle/>
                    <a:p>
                      <a:r>
                        <a:rPr sz="1725" b="0">
                          <a:solidFill>
                            <a:srgbClr val="183E50"/>
                          </a:solidFill>
                          <a:latin typeface="Arial"/>
                          <a:ea typeface="Arial"/>
                          <a:cs typeface="Arial"/>
                        </a:rPr>
                        <a:t>7.7%</a:t>
                      </a:r>
                    </a:p>
                  </a:txBody>
                  <a:tcPr marL="91440" marR="91440" marT="45720" marB="45720">
                    <a:solidFill>
                      <a:srgbClr val="EFF7F8"/>
                    </a:solidFill>
                  </a:tcPr>
                </a:tc>
              </a:tr>
              <a:tr h="511969">
                <a:tc>
                  <a:txBody>
                    <a:bodyPr/>
                    <a:lstStyle/>
                    <a:p>
                      <a:r>
                        <a:rPr sz="1725" b="0">
                          <a:solidFill>
                            <a:srgbClr val="183E50"/>
                          </a:solidFill>
                          <a:latin typeface="Arial"/>
                          <a:ea typeface="Arial"/>
                          <a:cs typeface="Arial"/>
                        </a:rPr>
                        <a:t>Li Zhenhao</a:t>
                      </a:r>
                    </a:p>
                  </a:txBody>
                  <a:tcPr marL="91440" marR="91440" marT="45720" marB="45720">
                    <a:solidFill>
                      <a:srgbClr val="FFFFFF"/>
                    </a:solidFill>
                  </a:tcPr>
                </a:tc>
                <a:tc>
                  <a:txBody>
                    <a:bodyPr/>
                    <a:lstStyle/>
                    <a:p>
                      <a:r>
                        <a:rPr sz="1725" b="0">
                          <a:solidFill>
                            <a:srgbClr val="183E50"/>
                          </a:solidFill>
                          <a:latin typeface="Arial"/>
                          <a:ea typeface="Arial"/>
                          <a:cs typeface="Arial"/>
                        </a:rPr>
                        <a:t>832401310</a:t>
                      </a:r>
                    </a:p>
                  </a:txBody>
                  <a:tcPr marL="91440" marR="91440" marT="45720" marB="45720">
                    <a:solidFill>
                      <a:srgbClr val="FFFFFF"/>
                    </a:solidFill>
                  </a:tcPr>
                </a:tc>
                <a:tc>
                  <a:txBody>
                    <a:bodyPr/>
                    <a:lstStyle/>
                    <a:p>
                      <a:r>
                        <a:rPr sz="1725" b="0">
                          <a:solidFill>
                            <a:srgbClr val="183E50"/>
                          </a:solidFill>
                          <a:latin typeface="Arial"/>
                          <a:ea typeface="Arial"/>
                          <a:cs typeface="Arial"/>
                        </a:rPr>
                        <a:t>Frontend Development</a:t>
                      </a:r>
                    </a:p>
                  </a:txBody>
                  <a:tcPr marL="91440" marR="91440" marT="45720" marB="45720">
                    <a:solidFill>
                      <a:srgbClr val="FFFFFF"/>
                    </a:solidFill>
                  </a:tcPr>
                </a:tc>
                <a:tc>
                  <a:txBody>
                    <a:bodyPr/>
                    <a:lstStyle/>
                    <a:p>
                      <a:r>
                        <a:rPr sz="1725" b="0">
                          <a:solidFill>
                            <a:srgbClr val="183E50"/>
                          </a:solidFill>
                          <a:latin typeface="Arial"/>
                          <a:ea typeface="Arial"/>
                          <a:cs typeface="Arial"/>
                        </a:rPr>
                        <a:t>7.7%</a:t>
                      </a:r>
                    </a:p>
                  </a:txBody>
                  <a:tcPr marL="91440" marR="91440" marT="45720" marB="45720">
                    <a:solidFill>
                      <a:srgbClr val="FFFFFF"/>
                    </a:solidFill>
                  </a:tcPr>
                </a:tc>
              </a:tr>
              <a:tr h="511969">
                <a:tc>
                  <a:txBody>
                    <a:bodyPr/>
                    <a:lstStyle/>
                    <a:p>
                      <a:r>
                        <a:rPr sz="1725" b="0">
                          <a:solidFill>
                            <a:srgbClr val="183E50"/>
                          </a:solidFill>
                          <a:latin typeface="Arial"/>
                          <a:ea typeface="Arial"/>
                          <a:cs typeface="Arial"/>
                        </a:rPr>
                        <a:t>Li Haoze</a:t>
                      </a:r>
                    </a:p>
                  </a:txBody>
                  <a:tcPr marL="91440" marR="91440" marT="45720" marB="45720">
                    <a:solidFill>
                      <a:srgbClr val="EFF7F8"/>
                    </a:solidFill>
                  </a:tcPr>
                </a:tc>
                <a:tc>
                  <a:txBody>
                    <a:bodyPr/>
                    <a:lstStyle/>
                    <a:p>
                      <a:r>
                        <a:rPr sz="1725" b="0">
                          <a:solidFill>
                            <a:srgbClr val="183E50"/>
                          </a:solidFill>
                          <a:latin typeface="Arial"/>
                          <a:ea typeface="Arial"/>
                          <a:cs typeface="Arial"/>
                        </a:rPr>
                        <a:t>832401309</a:t>
                      </a:r>
                    </a:p>
                  </a:txBody>
                  <a:tcPr marL="91440" marR="91440" marT="45720" marB="45720">
                    <a:solidFill>
                      <a:srgbClr val="EFF7F8"/>
                    </a:solidFill>
                  </a:tcPr>
                </a:tc>
                <a:tc>
                  <a:txBody>
                    <a:bodyPr/>
                    <a:lstStyle/>
                    <a:p>
                      <a:r>
                        <a:rPr sz="1725" b="0">
                          <a:solidFill>
                            <a:srgbClr val="183E50"/>
                          </a:solidFill>
                          <a:latin typeface="Arial"/>
                          <a:ea typeface="Arial"/>
                          <a:cs typeface="Arial"/>
                        </a:rPr>
                        <a:t>Frontend Development</a:t>
                      </a:r>
                    </a:p>
                  </a:txBody>
                  <a:tcPr marL="91440" marR="91440" marT="45720" marB="45720">
                    <a:solidFill>
                      <a:srgbClr val="EFF7F8"/>
                    </a:solidFill>
                  </a:tcPr>
                </a:tc>
                <a:tc>
                  <a:txBody>
                    <a:bodyPr/>
                    <a:lstStyle/>
                    <a:p>
                      <a:r>
                        <a:rPr sz="1725" b="0">
                          <a:solidFill>
                            <a:srgbClr val="183E50"/>
                          </a:solidFill>
                          <a:latin typeface="Arial"/>
                          <a:ea typeface="Arial"/>
                          <a:cs typeface="Arial"/>
                        </a:rPr>
                        <a:t>7.7%</a:t>
                      </a:r>
                    </a:p>
                  </a:txBody>
                  <a:tcPr marL="91440" marR="91440" marT="45720" marB="45720">
                    <a:solidFill>
                      <a:srgbClr val="EFF7F8"/>
                    </a:solidFill>
                  </a:tcPr>
                </a:tc>
              </a:tr>
              <a:tr h="511969">
                <a:tc>
                  <a:txBody>
                    <a:bodyPr/>
                    <a:lstStyle/>
                    <a:p>
                      <a:r>
                        <a:rPr sz="1725" b="0">
                          <a:solidFill>
                            <a:srgbClr val="183E50"/>
                          </a:solidFill>
                          <a:latin typeface="Arial"/>
                          <a:ea typeface="Arial"/>
                          <a:cs typeface="Arial"/>
                        </a:rPr>
                        <a:t>He Jinghao</a:t>
                      </a:r>
                    </a:p>
                  </a:txBody>
                  <a:tcPr marL="91440" marR="91440" marT="45720" marB="45720">
                    <a:solidFill>
                      <a:srgbClr val="FFFFFF"/>
                    </a:solidFill>
                  </a:tcPr>
                </a:tc>
                <a:tc>
                  <a:txBody>
                    <a:bodyPr/>
                    <a:lstStyle/>
                    <a:p>
                      <a:r>
                        <a:rPr sz="1725" b="0">
                          <a:solidFill>
                            <a:srgbClr val="183E50"/>
                          </a:solidFill>
                          <a:latin typeface="Arial"/>
                          <a:ea typeface="Arial"/>
                          <a:cs typeface="Arial"/>
                        </a:rPr>
                        <a:t>832401307</a:t>
                      </a:r>
                    </a:p>
                  </a:txBody>
                  <a:tcPr marL="91440" marR="91440" marT="45720" marB="45720">
                    <a:solidFill>
                      <a:srgbClr val="FFFFFF"/>
                    </a:solidFill>
                  </a:tcPr>
                </a:tc>
                <a:tc>
                  <a:txBody>
                    <a:bodyPr/>
                    <a:lstStyle/>
                    <a:p>
                      <a:r>
                        <a:rPr sz="1725" b="0">
                          <a:solidFill>
                            <a:srgbClr val="183E50"/>
                          </a:solidFill>
                          <a:latin typeface="Arial"/>
                          <a:ea typeface="Arial"/>
                          <a:cs typeface="Arial"/>
                        </a:rPr>
                        <a:t>Frontend Development</a:t>
                      </a:r>
                    </a:p>
                  </a:txBody>
                  <a:tcPr marL="91440" marR="91440" marT="45720" marB="45720">
                    <a:solidFill>
                      <a:srgbClr val="FFFFFF"/>
                    </a:solidFill>
                  </a:tcPr>
                </a:tc>
                <a:tc>
                  <a:txBody>
                    <a:bodyPr/>
                    <a:lstStyle/>
                    <a:p>
                      <a:r>
                        <a:rPr sz="1725" b="0">
                          <a:solidFill>
                            <a:srgbClr val="183E50"/>
                          </a:solidFill>
                          <a:latin typeface="Arial"/>
                          <a:ea typeface="Arial"/>
                          <a:cs typeface="Arial"/>
                        </a:rPr>
                        <a:t>7.7%</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10522954"/>
      </p:ext>
    </p:extLst>
  </p:cSld>
</p:sld>
</file>

<file path=ppt/slides/slide3.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E325C92-F388-4942-984C-B2D46B6423FA}"/>
              </a:ext>
            </a:extLst>
          </p:cNvPr>
          <p:cNvPicPr>
            <a:picLocks xmlns:a="http://schemas.openxmlformats.org/drawingml/2006/main" noChangeAspect="1"/>
          </p:cNvPicPr>
          <p:nvPr/>
        </p:nvPicPr>
        <p:blipFill>
          <a:blip xmlns:r="http://schemas.openxmlformats.org/officeDocument/2006/relationships" xmlns:a="http://schemas.openxmlformats.org/drawingml/2006/main" r:embed="Re00f9e884b114ea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F4E7BE6-1BEF-4D0E-97C0-D1E2A54AD66E}"/>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TEAM MEMBERS 2/2</a:t>
            </a:r>
          </a:p>
        </p:txBody>
      </p:sp>
      <p:sp>
        <p:nvSpPr>
          <p:cNvPr id="3" name="">
            <a:extLst xmlns:a="http://schemas.openxmlformats.org/drawingml/2006/main">
              <a:ext uri="{FF2B5EF4-FFF2-40B4-BE49-F238E27FC236}">
                <a16:creationId xmlns:a16="http://schemas.microsoft.com/office/drawing/2014/main" id="{32ACC707-295D-4872-9E61-0F8226A078D7}"/>
              </a:ext>
            </a:extLst>
          </p:cNvPr>
          <p:cNvSpPr>
            <a:spLocks xmlns:a="http://schemas.openxmlformats.org/drawingml/2006/main" noGrp="1"/>
          </p:cNvSpPr>
          <p:nvPr/>
        </p:nvSpPr>
        <p:spPr>
          <a:xfrm xmlns:a="http://schemas.openxmlformats.org/drawingml/2006/main">
            <a:off x="64770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76371"/>
                </a:solidFill>
                <a:latin typeface="Arial"/>
                <a:ea typeface="Arial"/>
                <a:cs typeface="Arial"/>
              </a:defRPr>
            </a:defPPr>
          </a:lstStyle>
          <a:p xmlns:a="http://schemas.openxmlformats.org/drawingml/2006/main">
            <a:pPr>
              <a:defRPr sz="1800" b="0">
                <a:solidFill>
                  <a:srgbClr val="476371"/>
                </a:solidFill>
                <a:latin typeface="Arial"/>
                <a:ea typeface="Arial"/>
                <a:cs typeface="Arial"/>
              </a:defRPr>
            </a:pPr>
            <a:r>
              <a:rPr sz="1800" b="0">
                <a:solidFill>
                  <a:srgbClr val="476371"/>
                </a:solidFill>
                <a:latin typeface="Arial"/>
                <a:ea typeface="Arial"/>
                <a:cs typeface="Arial"/>
              </a:rPr>
              <a:t>13 members across six groups. Team lead: Huang Zhiyuan</a:t>
            </a:r>
          </a:p>
        </p:txBody>
      </p:sp>
      <p:sp>
        <p:nvSpPr>
          <p:cNvPr id="4" name="">
            <a:extLst xmlns:a="http://schemas.openxmlformats.org/drawingml/2006/main">
              <a:ext uri="{FF2B5EF4-FFF2-40B4-BE49-F238E27FC236}">
                <a16:creationId xmlns:a16="http://schemas.microsoft.com/office/drawing/2014/main" id="{4F59A8D1-00D3-492B-8F9E-1BDF73143474}"/>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A038FB9A-6259-45A2-AAAD-11CC6CC37E36}"/>
              </a:ext>
            </a:extLst>
          </p:cNvPr>
          <p:cNvGraphicFramePr/>
          <p:nvPr/>
        </p:nvGraphicFramePr>
        <p:xfrm>
          <a:off xmlns:a="http://schemas.openxmlformats.org/drawingml/2006/main" x="647700" y="1790700"/>
          <a:ext xmlns:a="http://schemas.openxmlformats.org/drawingml/2006/main" cx="10896600" cy="4095750"/>
        </p:xfrm>
        <a:graphic xmlns:a="http://schemas.openxmlformats.org/drawingml/2006/main">
          <a:graphicData uri="http://schemas.openxmlformats.org/drawingml/2006/table">
            <a:tbl>
              <a:tblPr/>
              <a:tblGrid>
                <a:gridCol w="2762250"/>
                <a:gridCol w="1952625"/>
                <a:gridCol w="4705350"/>
                <a:gridCol w="1476375"/>
              </a:tblGrid>
              <a:tr h="585107">
                <a:tc>
                  <a:txBody>
                    <a:bodyPr/>
                    <a:lstStyle/>
                    <a:p>
                      <a:r>
                        <a:rPr sz="1725" b="1">
                          <a:solidFill>
                            <a:srgbClr val="183E50"/>
                          </a:solidFill>
                          <a:latin typeface="Arial"/>
                          <a:ea typeface="Arial"/>
                          <a:cs typeface="Arial"/>
                        </a:rPr>
                        <a:t>Member</a:t>
                      </a:r>
                    </a:p>
                  </a:txBody>
                  <a:tcPr marL="91440" marR="91440" marT="45720" marB="45720">
                    <a:solidFill>
                      <a:srgbClr val="FFD85C"/>
                    </a:solidFill>
                  </a:tcPr>
                </a:tc>
                <a:tc>
                  <a:txBody>
                    <a:bodyPr/>
                    <a:lstStyle/>
                    <a:p>
                      <a:r>
                        <a:rPr sz="1725" b="1">
                          <a:solidFill>
                            <a:srgbClr val="183E50"/>
                          </a:solidFill>
                          <a:latin typeface="Arial"/>
                          <a:ea typeface="Arial"/>
                          <a:cs typeface="Arial"/>
                        </a:rPr>
                        <a:t>Student ID</a:t>
                      </a:r>
                    </a:p>
                  </a:txBody>
                  <a:tcPr marL="91440" marR="91440" marT="45720" marB="45720">
                    <a:solidFill>
                      <a:srgbClr val="FFD85C"/>
                    </a:solidFill>
                  </a:tcPr>
                </a:tc>
                <a:tc>
                  <a:txBody>
                    <a:bodyPr/>
                    <a:lstStyle/>
                    <a:p>
                      <a:r>
                        <a:rPr sz="1725" b="1">
                          <a:solidFill>
                            <a:srgbClr val="183E50"/>
                          </a:solidFill>
                          <a:latin typeface="Arial"/>
                          <a:ea typeface="Arial"/>
                          <a:cs typeface="Arial"/>
                        </a:rPr>
                        <a:t>Role</a:t>
                      </a:r>
                    </a:p>
                  </a:txBody>
                  <a:tcPr marL="91440" marR="91440" marT="45720" marB="45720">
                    <a:solidFill>
                      <a:srgbClr val="FFD85C"/>
                    </a:solidFill>
                  </a:tcPr>
                </a:tc>
                <a:tc>
                  <a:txBody>
                    <a:bodyPr/>
                    <a:lstStyle/>
                    <a:p>
                      <a:r>
                        <a:rPr sz="1725" b="1">
                          <a:solidFill>
                            <a:srgbClr val="183E50"/>
                          </a:solidFill>
                          <a:latin typeface="Arial"/>
                          <a:ea typeface="Arial"/>
                          <a:cs typeface="Arial"/>
                        </a:rPr>
                        <a:t>Est. share</a:t>
                      </a:r>
                    </a:p>
                  </a:txBody>
                  <a:tcPr marL="91440" marR="91440" marT="45720" marB="45720">
                    <a:solidFill>
                      <a:srgbClr val="FFD85C"/>
                    </a:solidFill>
                  </a:tcPr>
                </a:tc>
              </a:tr>
              <a:tr h="585107">
                <a:tc>
                  <a:txBody>
                    <a:bodyPr/>
                    <a:lstStyle/>
                    <a:p>
                      <a:r>
                        <a:rPr sz="1725" b="0">
                          <a:solidFill>
                            <a:srgbClr val="183E50"/>
                          </a:solidFill>
                          <a:latin typeface="Arial"/>
                          <a:ea typeface="Arial"/>
                          <a:cs typeface="Arial"/>
                        </a:rPr>
                        <a:t>Zhang Jingtian</a:t>
                      </a:r>
                    </a:p>
                  </a:txBody>
                  <a:tcPr marL="91440" marR="91440" marT="45720" marB="45720">
                    <a:solidFill>
                      <a:srgbClr val="FFFFFF"/>
                    </a:solidFill>
                  </a:tcPr>
                </a:tc>
                <a:tc>
                  <a:txBody>
                    <a:bodyPr/>
                    <a:lstStyle/>
                    <a:p>
                      <a:r>
                        <a:rPr sz="1725" b="0">
                          <a:solidFill>
                            <a:srgbClr val="183E50"/>
                          </a:solidFill>
                          <a:latin typeface="Arial"/>
                          <a:ea typeface="Arial"/>
                          <a:cs typeface="Arial"/>
                        </a:rPr>
                        <a:t>832401323</a:t>
                      </a:r>
                    </a:p>
                  </a:txBody>
                  <a:tcPr marL="91440" marR="91440" marT="45720" marB="45720">
                    <a:solidFill>
                      <a:srgbClr val="FFFFFF"/>
                    </a:solidFill>
                  </a:tcPr>
                </a:tc>
                <a:tc>
                  <a:txBody>
                    <a:bodyPr/>
                    <a:lstStyle/>
                    <a:p>
                      <a:r>
                        <a:rPr sz="1725" b="0">
                          <a:solidFill>
                            <a:srgbClr val="183E50"/>
                          </a:solidFill>
                          <a:latin typeface="Arial"/>
                          <a:ea typeface="Arial"/>
                          <a:cs typeface="Arial"/>
                        </a:rPr>
                        <a:t>Backend Development</a:t>
                      </a:r>
                    </a:p>
                  </a:txBody>
                  <a:tcPr marL="91440" marR="91440" marT="45720" marB="45720">
                    <a:solidFill>
                      <a:srgbClr val="FFFFFF"/>
                    </a:solidFill>
                  </a:tcPr>
                </a:tc>
                <a:tc>
                  <a:txBody>
                    <a:bodyPr/>
                    <a:lstStyle/>
                    <a:p>
                      <a:r>
                        <a:rPr sz="1725" b="0">
                          <a:solidFill>
                            <a:srgbClr val="183E50"/>
                          </a:solidFill>
                          <a:latin typeface="Arial"/>
                          <a:ea typeface="Arial"/>
                          <a:cs typeface="Arial"/>
                        </a:rPr>
                        <a:t>7.7%</a:t>
                      </a:r>
                    </a:p>
                  </a:txBody>
                  <a:tcPr marL="91440" marR="91440" marT="45720" marB="45720">
                    <a:solidFill>
                      <a:srgbClr val="FFFFFF"/>
                    </a:solidFill>
                  </a:tcPr>
                </a:tc>
              </a:tr>
              <a:tr h="585107">
                <a:tc>
                  <a:txBody>
                    <a:bodyPr/>
                    <a:lstStyle/>
                    <a:p>
                      <a:r>
                        <a:rPr sz="1725" b="0">
                          <a:solidFill>
                            <a:srgbClr val="183E50"/>
                          </a:solidFill>
                          <a:latin typeface="Arial"/>
                          <a:ea typeface="Arial"/>
                          <a:cs typeface="Arial"/>
                        </a:rPr>
                        <a:t>Yu Chenghao</a:t>
                      </a:r>
                    </a:p>
                  </a:txBody>
                  <a:tcPr marL="91440" marR="91440" marT="45720" marB="45720">
                    <a:solidFill>
                      <a:srgbClr val="EFF7F8"/>
                    </a:solidFill>
                  </a:tcPr>
                </a:tc>
                <a:tc>
                  <a:txBody>
                    <a:bodyPr/>
                    <a:lstStyle/>
                    <a:p>
                      <a:r>
                        <a:rPr sz="1725" b="0">
                          <a:solidFill>
                            <a:srgbClr val="183E50"/>
                          </a:solidFill>
                          <a:latin typeface="Arial"/>
                          <a:ea typeface="Arial"/>
                          <a:cs typeface="Arial"/>
                        </a:rPr>
                        <a:t>832401322</a:t>
                      </a:r>
                    </a:p>
                  </a:txBody>
                  <a:tcPr marL="91440" marR="91440" marT="45720" marB="45720">
                    <a:solidFill>
                      <a:srgbClr val="EFF7F8"/>
                    </a:solidFill>
                  </a:tcPr>
                </a:tc>
                <a:tc>
                  <a:txBody>
                    <a:bodyPr/>
                    <a:lstStyle/>
                    <a:p>
                      <a:r>
                        <a:rPr sz="1725" b="0">
                          <a:solidFill>
                            <a:srgbClr val="183E50"/>
                          </a:solidFill>
                          <a:latin typeface="Arial"/>
                          <a:ea typeface="Arial"/>
                          <a:cs typeface="Arial"/>
                        </a:rPr>
                        <a:t>Backend Development</a:t>
                      </a:r>
                    </a:p>
                  </a:txBody>
                  <a:tcPr marL="91440" marR="91440" marT="45720" marB="45720">
                    <a:solidFill>
                      <a:srgbClr val="EFF7F8"/>
                    </a:solidFill>
                  </a:tcPr>
                </a:tc>
                <a:tc>
                  <a:txBody>
                    <a:bodyPr/>
                    <a:lstStyle/>
                    <a:p>
                      <a:r>
                        <a:rPr sz="1725" b="0">
                          <a:solidFill>
                            <a:srgbClr val="183E50"/>
                          </a:solidFill>
                          <a:latin typeface="Arial"/>
                          <a:ea typeface="Arial"/>
                          <a:cs typeface="Arial"/>
                        </a:rPr>
                        <a:t>7.7%</a:t>
                      </a:r>
                    </a:p>
                  </a:txBody>
                  <a:tcPr marL="91440" marR="91440" marT="45720" marB="45720">
                    <a:solidFill>
                      <a:srgbClr val="EFF7F8"/>
                    </a:solidFill>
                  </a:tcPr>
                </a:tc>
              </a:tr>
              <a:tr h="585107">
                <a:tc>
                  <a:txBody>
                    <a:bodyPr/>
                    <a:lstStyle/>
                    <a:p>
                      <a:r>
                        <a:rPr sz="1725" b="0">
                          <a:solidFill>
                            <a:srgbClr val="183E50"/>
                          </a:solidFill>
                          <a:latin typeface="Arial"/>
                          <a:ea typeface="Arial"/>
                          <a:cs typeface="Arial"/>
                        </a:rPr>
                        <a:t>Zhang Xinyu</a:t>
                      </a:r>
                    </a:p>
                  </a:txBody>
                  <a:tcPr marL="91440" marR="91440" marT="45720" marB="45720">
                    <a:solidFill>
                      <a:srgbClr val="FFFFFF"/>
                    </a:solidFill>
                  </a:tcPr>
                </a:tc>
                <a:tc>
                  <a:txBody>
                    <a:bodyPr/>
                    <a:lstStyle/>
                    <a:p>
                      <a:r>
                        <a:rPr sz="1725" b="0">
                          <a:solidFill>
                            <a:srgbClr val="183E50"/>
                          </a:solidFill>
                          <a:latin typeface="Arial"/>
                          <a:ea typeface="Arial"/>
                          <a:cs typeface="Arial"/>
                        </a:rPr>
                        <a:t>832401324</a:t>
                      </a:r>
                    </a:p>
                  </a:txBody>
                  <a:tcPr marL="91440" marR="91440" marT="45720" marB="45720">
                    <a:solidFill>
                      <a:srgbClr val="FFFFFF"/>
                    </a:solidFill>
                  </a:tcPr>
                </a:tc>
                <a:tc>
                  <a:txBody>
                    <a:bodyPr/>
                    <a:lstStyle/>
                    <a:p>
                      <a:r>
                        <a:rPr sz="1725" b="0">
                          <a:solidFill>
                            <a:srgbClr val="183E50"/>
                          </a:solidFill>
                          <a:latin typeface="Arial"/>
                          <a:ea typeface="Arial"/>
                          <a:cs typeface="Arial"/>
                        </a:rPr>
                        <a:t>Backend Development</a:t>
                      </a:r>
                    </a:p>
                  </a:txBody>
                  <a:tcPr marL="91440" marR="91440" marT="45720" marB="45720">
                    <a:solidFill>
                      <a:srgbClr val="FFFFFF"/>
                    </a:solidFill>
                  </a:tcPr>
                </a:tc>
                <a:tc>
                  <a:txBody>
                    <a:bodyPr/>
                    <a:lstStyle/>
                    <a:p>
                      <a:r>
                        <a:rPr sz="1725" b="0">
                          <a:solidFill>
                            <a:srgbClr val="183E50"/>
                          </a:solidFill>
                          <a:latin typeface="Arial"/>
                          <a:ea typeface="Arial"/>
                          <a:cs typeface="Arial"/>
                        </a:rPr>
                        <a:t>7.7%</a:t>
                      </a:r>
                    </a:p>
                  </a:txBody>
                  <a:tcPr marL="91440" marR="91440" marT="45720" marB="45720">
                    <a:solidFill>
                      <a:srgbClr val="FFFFFF"/>
                    </a:solidFill>
                  </a:tcPr>
                </a:tc>
              </a:tr>
              <a:tr h="585107">
                <a:tc>
                  <a:txBody>
                    <a:bodyPr/>
                    <a:lstStyle/>
                    <a:p>
                      <a:r>
                        <a:rPr sz="1725" b="0">
                          <a:solidFill>
                            <a:srgbClr val="183E50"/>
                          </a:solidFill>
                          <a:latin typeface="Arial"/>
                          <a:ea typeface="Arial"/>
                          <a:cs typeface="Arial"/>
                        </a:rPr>
                        <a:t>Xu Boyu</a:t>
                      </a:r>
                    </a:p>
                  </a:txBody>
                  <a:tcPr marL="91440" marR="91440" marT="45720" marB="45720">
                    <a:solidFill>
                      <a:srgbClr val="EFF7F8"/>
                    </a:solidFill>
                  </a:tcPr>
                </a:tc>
                <a:tc>
                  <a:txBody>
                    <a:bodyPr/>
                    <a:lstStyle/>
                    <a:p>
                      <a:r>
                        <a:rPr sz="1725" b="0">
                          <a:solidFill>
                            <a:srgbClr val="183E50"/>
                          </a:solidFill>
                          <a:latin typeface="Arial"/>
                          <a:ea typeface="Arial"/>
                          <a:cs typeface="Arial"/>
                        </a:rPr>
                        <a:t>832401320</a:t>
                      </a:r>
                    </a:p>
                  </a:txBody>
                  <a:tcPr marL="91440" marR="91440" marT="45720" marB="45720">
                    <a:solidFill>
                      <a:srgbClr val="EFF7F8"/>
                    </a:solidFill>
                  </a:tcPr>
                </a:tc>
                <a:tc>
                  <a:txBody>
                    <a:bodyPr/>
                    <a:lstStyle/>
                    <a:p>
                      <a:r>
                        <a:rPr sz="1725" b="0">
                          <a:solidFill>
                            <a:srgbClr val="183E50"/>
                          </a:solidFill>
                          <a:latin typeface="Arial"/>
                          <a:ea typeface="Arial"/>
                          <a:cs typeface="Arial"/>
                        </a:rPr>
                        <a:t>Backend Development</a:t>
                      </a:r>
                    </a:p>
                  </a:txBody>
                  <a:tcPr marL="91440" marR="91440" marT="45720" marB="45720">
                    <a:solidFill>
                      <a:srgbClr val="EFF7F8"/>
                    </a:solidFill>
                  </a:tcPr>
                </a:tc>
                <a:tc>
                  <a:txBody>
                    <a:bodyPr/>
                    <a:lstStyle/>
                    <a:p>
                      <a:r>
                        <a:rPr sz="1725" b="0">
                          <a:solidFill>
                            <a:srgbClr val="183E50"/>
                          </a:solidFill>
                          <a:latin typeface="Arial"/>
                          <a:ea typeface="Arial"/>
                          <a:cs typeface="Arial"/>
                        </a:rPr>
                        <a:t>7.7%</a:t>
                      </a:r>
                    </a:p>
                  </a:txBody>
                  <a:tcPr marL="91440" marR="91440" marT="45720" marB="45720">
                    <a:solidFill>
                      <a:srgbClr val="EFF7F8"/>
                    </a:solidFill>
                  </a:tcPr>
                </a:tc>
              </a:tr>
              <a:tr h="585107">
                <a:tc>
                  <a:txBody>
                    <a:bodyPr/>
                    <a:lstStyle/>
                    <a:p>
                      <a:r>
                        <a:rPr sz="1725" b="0">
                          <a:solidFill>
                            <a:srgbClr val="183E50"/>
                          </a:solidFill>
                          <a:latin typeface="Arial"/>
                          <a:ea typeface="Arial"/>
                          <a:cs typeface="Arial"/>
                        </a:rPr>
                        <a:t>Cai Yaohua</a:t>
                      </a:r>
                    </a:p>
                  </a:txBody>
                  <a:tcPr marL="91440" marR="91440" marT="45720" marB="45720">
                    <a:solidFill>
                      <a:srgbClr val="FFFFFF"/>
                    </a:solidFill>
                  </a:tcPr>
                </a:tc>
                <a:tc>
                  <a:txBody>
                    <a:bodyPr/>
                    <a:lstStyle/>
                    <a:p>
                      <a:r>
                        <a:rPr sz="1725" b="0">
                          <a:solidFill>
                            <a:srgbClr val="183E50"/>
                          </a:solidFill>
                          <a:latin typeface="Arial"/>
                          <a:ea typeface="Arial"/>
                          <a:cs typeface="Arial"/>
                        </a:rPr>
                        <a:t>832401302</a:t>
                      </a:r>
                    </a:p>
                  </a:txBody>
                  <a:tcPr marL="91440" marR="91440" marT="45720" marB="45720">
                    <a:solidFill>
                      <a:srgbClr val="FFFFFF"/>
                    </a:solidFill>
                  </a:tcPr>
                </a:tc>
                <a:tc>
                  <a:txBody>
                    <a:bodyPr/>
                    <a:lstStyle/>
                    <a:p>
                      <a:r>
                        <a:rPr sz="1725" b="0">
                          <a:solidFill>
                            <a:srgbClr val="183E50"/>
                          </a:solidFill>
                          <a:latin typeface="Arial"/>
                          <a:ea typeface="Arial"/>
                          <a:cs typeface="Arial"/>
                        </a:rPr>
                        <a:t>Algorithm</a:t>
                      </a:r>
                    </a:p>
                  </a:txBody>
                  <a:tcPr marL="91440" marR="91440" marT="45720" marB="45720">
                    <a:solidFill>
                      <a:srgbClr val="FFFFFF"/>
                    </a:solidFill>
                  </a:tcPr>
                </a:tc>
                <a:tc>
                  <a:txBody>
                    <a:bodyPr/>
                    <a:lstStyle/>
                    <a:p>
                      <a:r>
                        <a:rPr sz="1725" b="0">
                          <a:solidFill>
                            <a:srgbClr val="183E50"/>
                          </a:solidFill>
                          <a:latin typeface="Arial"/>
                          <a:ea typeface="Arial"/>
                          <a:cs typeface="Arial"/>
                        </a:rPr>
                        <a:t>7.7%</a:t>
                      </a:r>
                    </a:p>
                  </a:txBody>
                  <a:tcPr marL="91440" marR="91440" marT="45720" marB="45720">
                    <a:solidFill>
                      <a:srgbClr val="FFFFFF"/>
                    </a:solidFill>
                  </a:tcPr>
                </a:tc>
              </a:tr>
              <a:tr h="585107">
                <a:tc>
                  <a:txBody>
                    <a:bodyPr/>
                    <a:lstStyle/>
                    <a:p>
                      <a:r>
                        <a:rPr sz="1725" b="0">
                          <a:solidFill>
                            <a:srgbClr val="183E50"/>
                          </a:solidFill>
                          <a:latin typeface="Arial"/>
                          <a:ea typeface="Arial"/>
                          <a:cs typeface="Arial"/>
                        </a:rPr>
                        <a:t>Wang Shaojie</a:t>
                      </a:r>
                    </a:p>
                  </a:txBody>
                  <a:tcPr marL="91440" marR="91440" marT="45720" marB="45720">
                    <a:solidFill>
                      <a:srgbClr val="EFF7F8"/>
                    </a:solidFill>
                  </a:tcPr>
                </a:tc>
                <a:tc>
                  <a:txBody>
                    <a:bodyPr/>
                    <a:lstStyle/>
                    <a:p>
                      <a:r>
                        <a:rPr sz="1725" b="0">
                          <a:solidFill>
                            <a:srgbClr val="183E50"/>
                          </a:solidFill>
                          <a:latin typeface="Arial"/>
                          <a:ea typeface="Arial"/>
                          <a:cs typeface="Arial"/>
                        </a:rPr>
                        <a:t>832401219</a:t>
                      </a:r>
                    </a:p>
                  </a:txBody>
                  <a:tcPr marL="91440" marR="91440" marT="45720" marB="45720">
                    <a:solidFill>
                      <a:srgbClr val="EFF7F8"/>
                    </a:solidFill>
                  </a:tcPr>
                </a:tc>
                <a:tc>
                  <a:txBody>
                    <a:bodyPr/>
                    <a:lstStyle/>
                    <a:p>
                      <a:r>
                        <a:rPr sz="1725" b="0">
                          <a:solidFill>
                            <a:srgbClr val="183E50"/>
                          </a:solidFill>
                          <a:latin typeface="Arial"/>
                          <a:ea typeface="Arial"/>
                          <a:cs typeface="Arial"/>
                        </a:rPr>
                        <a:t>Testing</a:t>
                      </a:r>
                    </a:p>
                  </a:txBody>
                  <a:tcPr marL="91440" marR="91440" marT="45720" marB="45720">
                    <a:solidFill>
                      <a:srgbClr val="EFF7F8"/>
                    </a:solidFill>
                  </a:tcPr>
                </a:tc>
                <a:tc>
                  <a:txBody>
                    <a:bodyPr/>
                    <a:lstStyle/>
                    <a:p>
                      <a:r>
                        <a:rPr sz="1725" b="0">
                          <a:solidFill>
                            <a:srgbClr val="183E50"/>
                          </a:solidFill>
                          <a:latin typeface="Arial"/>
                          <a:ea typeface="Arial"/>
                          <a:cs typeface="Arial"/>
                        </a:rPr>
                        <a:t>7.7%</a:t>
                      </a:r>
                    </a:p>
                  </a:txBody>
                  <a:tcPr marL="91440" marR="91440" marT="45720" marB="45720">
                    <a:solidFill>
                      <a:srgbClr val="EFF7F8"/>
                    </a:solidFill>
                  </a:tcPr>
                </a:tc>
              </a:tr>
            </a:tbl>
          </a:graphicData>
        </a:graphic>
      </p:graphicFrame>
    </p:spTree>
    <p:extLst>
      <p:ext uri="{BB962C8B-B14F-4D97-AF65-F5344CB8AC3E}">
        <p14:creationId xmlns:p14="http://schemas.microsoft.com/office/powerpoint/2010/main" val="1843806715"/>
      </p:ext>
    </p:extLst>
  </p:cSld>
</p:sld>
</file>

<file path=ppt/slides/slide4.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9753204-78AF-48E5-B9F0-A3F4171D7464}"/>
              </a:ext>
            </a:extLst>
          </p:cNvPr>
          <p:cNvPicPr>
            <a:picLocks xmlns:a="http://schemas.openxmlformats.org/drawingml/2006/main" noChangeAspect="1"/>
          </p:cNvPicPr>
          <p:nvPr/>
        </p:nvPicPr>
        <p:blipFill>
          <a:blip xmlns:r="http://schemas.openxmlformats.org/officeDocument/2006/relationships" xmlns:a="http://schemas.openxmlformats.org/drawingml/2006/main" r:embed="R1168196d427d432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50319E5-8ED3-4CE7-B63B-0FF9470530A1}"/>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DIVISION OF RESPONSIBILITY</a:t>
            </a:r>
          </a:p>
        </p:txBody>
      </p:sp>
      <p:sp>
        <p:nvSpPr>
          <p:cNvPr id="3" name="">
            <a:extLst xmlns:a="http://schemas.openxmlformats.org/drawingml/2006/main">
              <a:ext uri="{FF2B5EF4-FFF2-40B4-BE49-F238E27FC236}">
                <a16:creationId xmlns:a16="http://schemas.microsoft.com/office/drawing/2014/main" id="{D4C61DF4-3B5A-4C20-A0CC-4AB8FBB83CC0}"/>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334CB702-191A-4DC4-B748-BA72D17F8954}"/>
              </a:ext>
            </a:extLst>
          </p:cNvPr>
          <p:cNvGraphicFramePr/>
          <p:nvPr/>
        </p:nvGraphicFramePr>
        <p:xfrm>
          <a:off xmlns:a="http://schemas.openxmlformats.org/drawingml/2006/main" x="647700" y="1647825"/>
          <a:ext xmlns:a="http://schemas.openxmlformats.org/drawingml/2006/main" cx="10896600" cy="4133850"/>
        </p:xfrm>
        <a:graphic xmlns:a="http://schemas.openxmlformats.org/drawingml/2006/main">
          <a:graphicData uri="http://schemas.openxmlformats.org/drawingml/2006/table">
            <a:tbl>
              <a:tblPr/>
              <a:tblGrid>
                <a:gridCol w="2381250"/>
                <a:gridCol w="4333875"/>
                <a:gridCol w="4181475"/>
              </a:tblGrid>
              <a:tr h="590550">
                <a:tc>
                  <a:txBody>
                    <a:bodyPr/>
                    <a:lstStyle/>
                    <a:p>
                      <a:r>
                        <a:rPr sz="1725" b="1">
                          <a:solidFill>
                            <a:srgbClr val="183E50"/>
                          </a:solidFill>
                          <a:latin typeface="Arial"/>
                          <a:ea typeface="Arial"/>
                          <a:cs typeface="Arial"/>
                        </a:rPr>
                        <a:t>Group</a:t>
                      </a:r>
                    </a:p>
                  </a:txBody>
                  <a:tcPr marL="91440" marR="91440" marT="45720" marB="45720">
                    <a:solidFill>
                      <a:srgbClr val="FFD85C"/>
                    </a:solidFill>
                  </a:tcPr>
                </a:tc>
                <a:tc>
                  <a:txBody>
                    <a:bodyPr/>
                    <a:lstStyle/>
                    <a:p>
                      <a:r>
                        <a:rPr sz="1725" b="1">
                          <a:solidFill>
                            <a:srgbClr val="183E50"/>
                          </a:solidFill>
                          <a:latin typeface="Arial"/>
                          <a:ea typeface="Arial"/>
                          <a:cs typeface="Arial"/>
                        </a:rPr>
                        <a:t>Members</a:t>
                      </a:r>
                    </a:p>
                  </a:txBody>
                  <a:tcPr marL="91440" marR="91440" marT="45720" marB="45720">
                    <a:solidFill>
                      <a:srgbClr val="FFD85C"/>
                    </a:solidFill>
                  </a:tcPr>
                </a:tc>
                <a:tc>
                  <a:txBody>
                    <a:bodyPr/>
                    <a:lstStyle/>
                    <a:p>
                      <a:r>
                        <a:rPr sz="1725" b="1">
                          <a:solidFill>
                            <a:srgbClr val="183E50"/>
                          </a:solidFill>
                          <a:latin typeface="Arial"/>
                          <a:ea typeface="Arial"/>
                          <a:cs typeface="Arial"/>
                        </a:rPr>
                        <a:t>Responsibility</a:t>
                      </a:r>
                    </a:p>
                  </a:txBody>
                  <a:tcPr marL="91440" marR="91440" marT="45720" marB="45720">
                    <a:solidFill>
                      <a:srgbClr val="FFD85C"/>
                    </a:solidFill>
                  </a:tcPr>
                </a:tc>
              </a:tr>
              <a:tr h="590550">
                <a:tc>
                  <a:txBody>
                    <a:bodyPr/>
                    <a:lstStyle/>
                    <a:p>
                      <a:r>
                        <a:rPr sz="1725" b="0">
                          <a:solidFill>
                            <a:srgbClr val="183E50"/>
                          </a:solidFill>
                          <a:latin typeface="Arial"/>
                          <a:ea typeface="Arial"/>
                          <a:cs typeface="Arial"/>
                        </a:rPr>
                        <a:t>Project management</a:t>
                      </a:r>
                    </a:p>
                  </a:txBody>
                  <a:tcPr marL="91440" marR="91440" marT="45720" marB="45720">
                    <a:solidFill>
                      <a:srgbClr val="FFFFFF"/>
                    </a:solidFill>
                  </a:tcPr>
                </a:tc>
                <a:tc>
                  <a:txBody>
                    <a:bodyPr/>
                    <a:lstStyle/>
                    <a:p>
                      <a:r>
                        <a:rPr sz="1725" b="0">
                          <a:solidFill>
                            <a:srgbClr val="183E50"/>
                          </a:solidFill>
                          <a:latin typeface="Arial"/>
                          <a:ea typeface="Arial"/>
                          <a:cs typeface="Arial"/>
                        </a:rPr>
                        <a:t>Huang Zhiyuan</a:t>
                      </a:r>
                    </a:p>
                  </a:txBody>
                  <a:tcPr marL="91440" marR="91440" marT="45720" marB="45720">
                    <a:solidFill>
                      <a:srgbClr val="FFFFFF"/>
                    </a:solidFill>
                  </a:tcPr>
                </a:tc>
                <a:tc>
                  <a:txBody>
                    <a:bodyPr/>
                    <a:lstStyle/>
                    <a:p>
                      <a:r>
                        <a:rPr sz="1725" b="0">
                          <a:solidFill>
                            <a:srgbClr val="183E50"/>
                          </a:solidFill>
                          <a:latin typeface="Arial"/>
                          <a:ea typeface="Arial"/>
                          <a:cs typeface="Arial"/>
                        </a:rPr>
                        <a:t>Schedule, coordination and risk tracking</a:t>
                      </a:r>
                    </a:p>
                  </a:txBody>
                  <a:tcPr marL="91440" marR="91440" marT="45720" marB="45720">
                    <a:solidFill>
                      <a:srgbClr val="FFFFFF"/>
                    </a:solidFill>
                  </a:tcPr>
                </a:tc>
              </a:tr>
              <a:tr h="590550">
                <a:tc>
                  <a:txBody>
                    <a:bodyPr/>
                    <a:lstStyle/>
                    <a:p>
                      <a:r>
                        <a:rPr sz="1725" b="0">
                          <a:solidFill>
                            <a:srgbClr val="183E50"/>
                          </a:solidFill>
                          <a:latin typeface="Arial"/>
                          <a:ea typeface="Arial"/>
                          <a:cs typeface="Arial"/>
                        </a:rPr>
                        <a:t>Product requirements</a:t>
                      </a:r>
                    </a:p>
                  </a:txBody>
                  <a:tcPr marL="91440" marR="91440" marT="45720" marB="45720">
                    <a:solidFill>
                      <a:srgbClr val="EFF7F8"/>
                    </a:solidFill>
                  </a:tcPr>
                </a:tc>
                <a:tc>
                  <a:txBody>
                    <a:bodyPr/>
                    <a:lstStyle/>
                    <a:p>
                      <a:r>
                        <a:rPr sz="1725" b="0">
                          <a:solidFill>
                            <a:srgbClr val="183E50"/>
                          </a:solidFill>
                          <a:latin typeface="Arial"/>
                          <a:ea typeface="Arial"/>
                          <a:cs typeface="Arial"/>
                        </a:rPr>
                        <a:t>Zhang Zile, Ye Yifan</a:t>
                      </a:r>
                    </a:p>
                  </a:txBody>
                  <a:tcPr marL="91440" marR="91440" marT="45720" marB="45720">
                    <a:solidFill>
                      <a:srgbClr val="EFF7F8"/>
                    </a:solidFill>
                  </a:tcPr>
                </a:tc>
                <a:tc>
                  <a:txBody>
                    <a:bodyPr/>
                    <a:lstStyle/>
                    <a:p>
                      <a:r>
                        <a:rPr sz="1725" b="0">
                          <a:solidFill>
                            <a:srgbClr val="183E50"/>
                          </a:solidFill>
                          <a:latin typeface="Arial"/>
                          <a:ea typeface="Arial"/>
                          <a:cs typeface="Arial"/>
                        </a:rPr>
                        <a:t>Research, requirements and prototype</a:t>
                      </a:r>
                    </a:p>
                  </a:txBody>
                  <a:tcPr marL="91440" marR="91440" marT="45720" marB="45720">
                    <a:solidFill>
                      <a:srgbClr val="EFF7F8"/>
                    </a:solidFill>
                  </a:tcPr>
                </a:tc>
              </a:tr>
              <a:tr h="590550">
                <a:tc>
                  <a:txBody>
                    <a:bodyPr/>
                    <a:lstStyle/>
                    <a:p>
                      <a:r>
                        <a:rPr sz="1725" b="0">
                          <a:solidFill>
                            <a:srgbClr val="183E50"/>
                          </a:solidFill>
                          <a:latin typeface="Arial"/>
                          <a:ea typeface="Arial"/>
                          <a:cs typeface="Arial"/>
                        </a:rPr>
                        <a:t>Frontend</a:t>
                      </a:r>
                    </a:p>
                  </a:txBody>
                  <a:tcPr marL="91440" marR="91440" marT="45720" marB="45720">
                    <a:solidFill>
                      <a:srgbClr val="FFFFFF"/>
                    </a:solidFill>
                  </a:tcPr>
                </a:tc>
                <a:tc>
                  <a:txBody>
                    <a:bodyPr/>
                    <a:lstStyle/>
                    <a:p>
                      <a:r>
                        <a:rPr sz="1725" b="0">
                          <a:solidFill>
                            <a:srgbClr val="183E50"/>
                          </a:solidFill>
                          <a:latin typeface="Arial"/>
                          <a:ea typeface="Arial"/>
                          <a:cs typeface="Arial"/>
                        </a:rPr>
                        <a:t>Lin Zijun, Li Zhenhao,</a:t>
                      </a:r>
                    </a:p>
                    <a:p>
                      <a:r>
                        <a:rPr sz="1725" b="0">
                          <a:solidFill>
                            <a:srgbClr val="183E50"/>
                          </a:solidFill>
                          <a:latin typeface="Arial"/>
                          <a:ea typeface="Arial"/>
                          <a:cs typeface="Arial"/>
                        </a:rPr>
                        <a:t>Li Haoze, He Jinghao</a:t>
                      </a:r>
                    </a:p>
                  </a:txBody>
                  <a:tcPr marL="91440" marR="91440" marT="45720" marB="45720">
                    <a:solidFill>
                      <a:srgbClr val="FFFFFF"/>
                    </a:solidFill>
                  </a:tcPr>
                </a:tc>
                <a:tc>
                  <a:txBody>
                    <a:bodyPr/>
                    <a:lstStyle/>
                    <a:p>
                      <a:r>
                        <a:rPr sz="1725" b="0">
                          <a:solidFill>
                            <a:srgbClr val="183E50"/>
                          </a:solidFill>
                          <a:latin typeface="Arial"/>
                          <a:ea typeface="Arial"/>
                          <a:cs typeface="Arial"/>
                        </a:rPr>
                        <a:t>Pages, interactions and UI design</a:t>
                      </a:r>
                    </a:p>
                  </a:txBody>
                  <a:tcPr marL="91440" marR="91440" marT="45720" marB="45720">
                    <a:solidFill>
                      <a:srgbClr val="FFFFFF"/>
                    </a:solidFill>
                  </a:tcPr>
                </a:tc>
              </a:tr>
              <a:tr h="590550">
                <a:tc>
                  <a:txBody>
                    <a:bodyPr/>
                    <a:lstStyle/>
                    <a:p>
                      <a:r>
                        <a:rPr sz="1725" b="0">
                          <a:solidFill>
                            <a:srgbClr val="183E50"/>
                          </a:solidFill>
                          <a:latin typeface="Arial"/>
                          <a:ea typeface="Arial"/>
                          <a:cs typeface="Arial"/>
                        </a:rPr>
                        <a:t>Backend</a:t>
                      </a:r>
                    </a:p>
                  </a:txBody>
                  <a:tcPr marL="91440" marR="91440" marT="45720" marB="45720">
                    <a:solidFill>
                      <a:srgbClr val="EFF7F8"/>
                    </a:solidFill>
                  </a:tcPr>
                </a:tc>
                <a:tc>
                  <a:txBody>
                    <a:bodyPr/>
                    <a:lstStyle/>
                    <a:p>
                      <a:r>
                        <a:rPr sz="1725" b="0">
                          <a:solidFill>
                            <a:srgbClr val="183E50"/>
                          </a:solidFill>
                          <a:latin typeface="Arial"/>
                          <a:ea typeface="Arial"/>
                          <a:cs typeface="Arial"/>
                        </a:rPr>
                        <a:t>Zhang Jingtian, Yu Chenghao,</a:t>
                      </a:r>
                    </a:p>
                    <a:p>
                      <a:r>
                        <a:rPr sz="1725" b="0">
                          <a:solidFill>
                            <a:srgbClr val="183E50"/>
                          </a:solidFill>
                          <a:latin typeface="Arial"/>
                          <a:ea typeface="Arial"/>
                          <a:cs typeface="Arial"/>
                        </a:rPr>
                        <a:t>Zhang Xinyu, Xu Boyu</a:t>
                      </a:r>
                    </a:p>
                  </a:txBody>
                  <a:tcPr marL="91440" marR="91440" marT="45720" marB="45720">
                    <a:solidFill>
                      <a:srgbClr val="EFF7F8"/>
                    </a:solidFill>
                  </a:tcPr>
                </a:tc>
                <a:tc>
                  <a:txBody>
                    <a:bodyPr/>
                    <a:lstStyle/>
                    <a:p>
                      <a:r>
                        <a:rPr sz="1725" b="0">
                          <a:solidFill>
                            <a:srgbClr val="183E50"/>
                          </a:solidFill>
                          <a:latin typeface="Arial"/>
                          <a:ea typeface="Arial"/>
                          <a:cs typeface="Arial"/>
                        </a:rPr>
                        <a:t>APIs, database and deployment</a:t>
                      </a:r>
                    </a:p>
                  </a:txBody>
                  <a:tcPr marL="91440" marR="91440" marT="45720" marB="45720">
                    <a:solidFill>
                      <a:srgbClr val="EFF7F8"/>
                    </a:solidFill>
                  </a:tcPr>
                </a:tc>
              </a:tr>
              <a:tr h="590550">
                <a:tc>
                  <a:txBody>
                    <a:bodyPr/>
                    <a:lstStyle/>
                    <a:p>
                      <a:r>
                        <a:rPr sz="1725" b="0">
                          <a:solidFill>
                            <a:srgbClr val="183E50"/>
                          </a:solidFill>
                          <a:latin typeface="Arial"/>
                          <a:ea typeface="Arial"/>
                          <a:cs typeface="Arial"/>
                        </a:rPr>
                        <a:t>Algorithm</a:t>
                      </a:r>
                    </a:p>
                  </a:txBody>
                  <a:tcPr marL="91440" marR="91440" marT="45720" marB="45720">
                    <a:solidFill>
                      <a:srgbClr val="FFFFFF"/>
                    </a:solidFill>
                  </a:tcPr>
                </a:tc>
                <a:tc>
                  <a:txBody>
                    <a:bodyPr/>
                    <a:lstStyle/>
                    <a:p>
                      <a:r>
                        <a:rPr sz="1725" b="0">
                          <a:solidFill>
                            <a:srgbClr val="183E50"/>
                          </a:solidFill>
                          <a:latin typeface="Arial"/>
                          <a:ea typeface="Arial"/>
                          <a:cs typeface="Arial"/>
                        </a:rPr>
                        <a:t>Cai Yaohua</a:t>
                      </a:r>
                    </a:p>
                  </a:txBody>
                  <a:tcPr marL="91440" marR="91440" marT="45720" marB="45720">
                    <a:solidFill>
                      <a:srgbClr val="FFFFFF"/>
                    </a:solidFill>
                  </a:tcPr>
                </a:tc>
                <a:tc>
                  <a:txBody>
                    <a:bodyPr/>
                    <a:lstStyle/>
                    <a:p>
                      <a:r>
                        <a:rPr sz="1725" b="0">
                          <a:solidFill>
                            <a:srgbClr val="183E50"/>
                          </a:solidFill>
                          <a:latin typeface="Arial"/>
                          <a:ea typeface="Arial"/>
                          <a:cs typeface="Arial"/>
                        </a:rPr>
                        <a:t>Matching, scoring and LLM integration</a:t>
                      </a:r>
                    </a:p>
                  </a:txBody>
                  <a:tcPr marL="91440" marR="91440" marT="45720" marB="45720">
                    <a:solidFill>
                      <a:srgbClr val="FFFFFF"/>
                    </a:solidFill>
                  </a:tcPr>
                </a:tc>
              </a:tr>
              <a:tr h="590550">
                <a:tc>
                  <a:txBody>
                    <a:bodyPr/>
                    <a:lstStyle/>
                    <a:p>
                      <a:r>
                        <a:rPr sz="1725" b="0">
                          <a:solidFill>
                            <a:srgbClr val="183E50"/>
                          </a:solidFill>
                          <a:latin typeface="Arial"/>
                          <a:ea typeface="Arial"/>
                          <a:cs typeface="Arial"/>
                        </a:rPr>
                        <a:t>Testing</a:t>
                      </a:r>
                    </a:p>
                  </a:txBody>
                  <a:tcPr marL="91440" marR="91440" marT="45720" marB="45720">
                    <a:solidFill>
                      <a:srgbClr val="EFF7F8"/>
                    </a:solidFill>
                  </a:tcPr>
                </a:tc>
                <a:tc>
                  <a:txBody>
                    <a:bodyPr/>
                    <a:lstStyle/>
                    <a:p>
                      <a:r>
                        <a:rPr sz="1725" b="0">
                          <a:solidFill>
                            <a:srgbClr val="183E50"/>
                          </a:solidFill>
                          <a:latin typeface="Arial"/>
                          <a:ea typeface="Arial"/>
                          <a:cs typeface="Arial"/>
                        </a:rPr>
                        <a:t>Wang Shaojie</a:t>
                      </a:r>
                    </a:p>
                  </a:txBody>
                  <a:tcPr marL="91440" marR="91440" marT="45720" marB="45720">
                    <a:solidFill>
                      <a:srgbClr val="EFF7F8"/>
                    </a:solidFill>
                  </a:tcPr>
                </a:tc>
                <a:tc>
                  <a:txBody>
                    <a:bodyPr/>
                    <a:lstStyle/>
                    <a:p>
                      <a:r>
                        <a:rPr sz="1725" b="0">
                          <a:solidFill>
                            <a:srgbClr val="183E50"/>
                          </a:solidFill>
                          <a:latin typeface="Arial"/>
                          <a:ea typeface="Arial"/>
                          <a:cs typeface="Arial"/>
                        </a:rPr>
                        <a:t>Test cases, defects and acceptance</a:t>
                      </a:r>
                    </a:p>
                  </a:txBody>
                  <a:tcPr marL="91440" marR="91440" marT="45720" marB="45720">
                    <a:solidFill>
                      <a:srgbClr val="EFF7F8"/>
                    </a:solidFill>
                  </a:tcPr>
                </a:tc>
              </a:tr>
            </a:tbl>
          </a:graphicData>
        </a:graphic>
      </p:graphicFrame>
      <p:sp>
        <p:nvSpPr>
          <p:cNvPr id="5" name="">
            <a:extLst xmlns:a="http://schemas.openxmlformats.org/drawingml/2006/main">
              <a:ext uri="{FF2B5EF4-FFF2-40B4-BE49-F238E27FC236}">
                <a16:creationId xmlns:a16="http://schemas.microsoft.com/office/drawing/2014/main" id="{0CDFE766-3DCA-47EF-A581-7DE2C572EC32}"/>
              </a:ext>
            </a:extLst>
          </p:cNvPr>
          <p:cNvSpPr>
            <a:spLocks xmlns:a="http://schemas.openxmlformats.org/drawingml/2006/main" noGrp="1"/>
          </p:cNvSpPr>
          <p:nvPr/>
        </p:nvSpPr>
        <p:spPr>
          <a:xfrm xmlns:a="http://schemas.openxmlformats.org/drawingml/2006/main">
            <a:off x="685800" y="60007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76371"/>
                </a:solidFill>
                <a:latin typeface="Arial"/>
                <a:ea typeface="Arial"/>
                <a:cs typeface="Arial"/>
              </a:defRPr>
            </a:defPPr>
          </a:lstStyle>
          <a:p xmlns:a="http://schemas.openxmlformats.org/drawingml/2006/main">
            <a:pPr>
              <a:defRPr sz="1575" b="0">
                <a:solidFill>
                  <a:srgbClr val="476371"/>
                </a:solidFill>
                <a:latin typeface="Arial"/>
                <a:ea typeface="Arial"/>
                <a:cs typeface="Arial"/>
              </a:defRPr>
            </a:pPr>
            <a:r>
              <a:rPr sz="1575" b="0">
                <a:solidFill>
                  <a:srgbClr val="476371"/>
                </a:solidFill>
                <a:latin typeface="Arial"/>
                <a:ea typeface="Arial"/>
                <a:cs typeface="Arial"/>
              </a:rPr>
              <a:t>Initial estimated contribution: 1/13 per member (about 7.7%); later adjusted by performance.</a:t>
            </a:r>
          </a:p>
        </p:txBody>
      </p:sp>
    </p:spTree>
    <p:extLst>
      <p:ext uri="{BB962C8B-B14F-4D97-AF65-F5344CB8AC3E}">
        <p14:creationId xmlns:p14="http://schemas.microsoft.com/office/powerpoint/2010/main" val="1356033220"/>
      </p:ext>
    </p:extLst>
  </p:cSld>
</p:sld>
</file>

<file path=ppt/slides/slide5.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E934E3-D69B-4ED3-9CE0-F0E91DD4F355}"/>
              </a:ext>
            </a:extLst>
          </p:cNvPr>
          <p:cNvPicPr>
            <a:picLocks xmlns:a="http://schemas.openxmlformats.org/drawingml/2006/main" noChangeAspect="1"/>
          </p:cNvPicPr>
          <p:nvPr/>
        </p:nvPicPr>
        <p:blipFill>
          <a:blip xmlns:r="http://schemas.openxmlformats.org/officeDocument/2006/relationships" xmlns:a="http://schemas.openxmlformats.org/drawingml/2006/main" r:embed="R2cdbd158e3c347d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F667CFD-47E3-4BFC-8BF3-FAE36C01AD0B}"/>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THE FALCONS TEAM</a:t>
            </a:r>
          </a:p>
        </p:txBody>
      </p:sp>
      <p:sp>
        <p:nvSpPr>
          <p:cNvPr id="3" name="">
            <a:extLst xmlns:a="http://schemas.openxmlformats.org/drawingml/2006/main">
              <a:ext uri="{FF2B5EF4-FFF2-40B4-BE49-F238E27FC236}">
                <a16:creationId xmlns:a16="http://schemas.microsoft.com/office/drawing/2014/main" id="{FBD503AB-EB45-49D2-AD7E-A47E4FCD2FB0}"/>
              </a:ext>
            </a:extLst>
          </p:cNvPr>
          <p:cNvSpPr>
            <a:spLocks xmlns:a="http://schemas.openxmlformats.org/drawingml/2006/main" noGrp="1"/>
          </p:cNvSpPr>
          <p:nvPr/>
        </p:nvSpPr>
        <p:spPr>
          <a:xfrm xmlns:a="http://schemas.openxmlformats.org/drawingml/2006/main">
            <a:off x="64770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76371"/>
                </a:solidFill>
                <a:latin typeface="Arial"/>
                <a:ea typeface="Arial"/>
                <a:cs typeface="Arial"/>
              </a:defRPr>
            </a:defPPr>
          </a:lstStyle>
          <a:p xmlns:a="http://schemas.openxmlformats.org/drawingml/2006/main">
            <a:pPr>
              <a:defRPr sz="1800" b="0">
                <a:solidFill>
                  <a:srgbClr val="476371"/>
                </a:solidFill>
                <a:latin typeface="Arial"/>
                <a:ea typeface="Arial"/>
                <a:cs typeface="Arial"/>
              </a:defRPr>
            </a:pPr>
            <a:r>
              <a:rPr sz="1800" b="0">
                <a:solidFill>
                  <a:srgbClr val="476371"/>
                </a:solidFill>
                <a:latin typeface="Arial"/>
                <a:ea typeface="Arial"/>
                <a:cs typeface="Arial"/>
              </a:rPr>
              <a:t>Buddy up, easily. Buddy up, well. Buddy up, precisely.</a:t>
            </a:r>
          </a:p>
        </p:txBody>
      </p:sp>
      <p:sp>
        <p:nvSpPr>
          <p:cNvPr id="4" name="">
            <a:extLst xmlns:a="http://schemas.openxmlformats.org/drawingml/2006/main">
              <a:ext uri="{FF2B5EF4-FFF2-40B4-BE49-F238E27FC236}">
                <a16:creationId xmlns:a16="http://schemas.microsoft.com/office/drawing/2014/main" id="{0C1D2B00-6FBE-4320-9490-43F18B3E883B}"/>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05</a:t>
            </a:r>
          </a:p>
        </p:txBody>
      </p:sp>
      <p:pic>
        <p:nvPicPr>
          <p:cNvPr id="5" name="">
            <a:extLst xmlns:a="http://schemas.openxmlformats.org/drawingml/2006/main">
              <a:ext uri="{FF2B5EF4-FFF2-40B4-BE49-F238E27FC236}">
                <a16:creationId xmlns:a16="http://schemas.microsoft.com/office/drawing/2014/main" id="{F2354CA4-3903-4554-BE92-E3D45DFE4219}"/>
              </a:ext>
            </a:extLst>
          </p:cNvPr>
          <p:cNvPicPr>
            <a:picLocks xmlns:a="http://schemas.openxmlformats.org/drawingml/2006/main" noChangeAspect="1"/>
          </p:cNvPicPr>
          <p:nvPr/>
        </p:nvPicPr>
        <p:blipFill>
          <a:blip xmlns:r="http://schemas.openxmlformats.org/officeDocument/2006/relationships" xmlns:a="http://schemas.openxmlformats.org/drawingml/2006/main" r:embed="Radb85424718e4c1f"/>
          <a:stretch xmlns:a="http://schemas.openxmlformats.org/drawingml/2006/main"/>
        </p:blipFill>
        <p:spPr>
          <a:xfrm xmlns:a="http://schemas.openxmlformats.org/drawingml/2006/main">
            <a:off x="659532" y="1847850"/>
            <a:ext cx="10872936" cy="4095750"/>
          </a:xfrm>
          <a:prstGeom xmlns:a="http://schemas.openxmlformats.org/drawingml/2006/main" prst="rect">
            <a:avLst/>
          </a:prstGeom>
        </p:spPr>
      </p:pic>
    </p:spTree>
    <p:extLst>
      <p:ext uri="{BB962C8B-B14F-4D97-AF65-F5344CB8AC3E}">
        <p14:creationId xmlns:p14="http://schemas.microsoft.com/office/powerpoint/2010/main" val="1048773638"/>
      </p:ext>
    </p:extLst>
  </p:cSld>
</p:sld>
</file>

<file path=ppt/slides/slide6.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FCA8309-80B9-4218-A333-43E97989778C}"/>
              </a:ext>
            </a:extLst>
          </p:cNvPr>
          <p:cNvPicPr>
            <a:picLocks xmlns:a="http://schemas.openxmlformats.org/drawingml/2006/main" noChangeAspect="1"/>
          </p:cNvPicPr>
          <p:nvPr/>
        </p:nvPicPr>
        <p:blipFill>
          <a:blip xmlns:r="http://schemas.openxmlformats.org/officeDocument/2006/relationships" xmlns:a="http://schemas.openxmlformats.org/drawingml/2006/main" r:embed="R93b29734cc1746d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C13B03A-A51E-4DA3-B915-CB576157E3C8}"/>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MEET FALCONS</a:t>
            </a:r>
          </a:p>
        </p:txBody>
      </p:sp>
      <p:sp>
        <p:nvSpPr>
          <p:cNvPr id="3" name="">
            <a:extLst xmlns:a="http://schemas.openxmlformats.org/drawingml/2006/main">
              <a:ext uri="{FF2B5EF4-FFF2-40B4-BE49-F238E27FC236}">
                <a16:creationId xmlns:a16="http://schemas.microsoft.com/office/drawing/2014/main" id="{67315D56-FAEB-4C8C-8AED-F2023D1C8D57}"/>
              </a:ext>
            </a:extLst>
          </p:cNvPr>
          <p:cNvSpPr>
            <a:spLocks xmlns:a="http://schemas.openxmlformats.org/drawingml/2006/main" noGrp="1"/>
          </p:cNvSpPr>
          <p:nvPr/>
        </p:nvSpPr>
        <p:spPr>
          <a:xfrm xmlns:a="http://schemas.openxmlformats.org/drawingml/2006/main">
            <a:off x="64770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76371"/>
                </a:solidFill>
                <a:latin typeface="Arial"/>
                <a:ea typeface="Arial"/>
                <a:cs typeface="Arial"/>
              </a:defRPr>
            </a:defPPr>
          </a:lstStyle>
          <a:p xmlns:a="http://schemas.openxmlformats.org/drawingml/2006/main">
            <a:pPr>
              <a:defRPr sz="1800" b="0">
                <a:solidFill>
                  <a:srgbClr val="476371"/>
                </a:solidFill>
                <a:latin typeface="Arial"/>
                <a:ea typeface="Arial"/>
                <a:cs typeface="Arial"/>
              </a:defRPr>
            </a:pPr>
            <a:r>
              <a:rPr sz="1800" b="0">
                <a:solidFill>
                  <a:srgbClr val="476371"/>
                </a:solidFill>
                <a:latin typeface="Arial"/>
                <a:ea typeface="Arial"/>
                <a:cs typeface="Arial"/>
              </a:rPr>
              <a:t>13 members, six working groups, one shared project</a:t>
            </a:r>
          </a:p>
        </p:txBody>
      </p:sp>
      <p:sp>
        <p:nvSpPr>
          <p:cNvPr id="4" name="">
            <a:extLst xmlns:a="http://schemas.openxmlformats.org/drawingml/2006/main">
              <a:ext uri="{FF2B5EF4-FFF2-40B4-BE49-F238E27FC236}">
                <a16:creationId xmlns:a16="http://schemas.microsoft.com/office/drawing/2014/main" id="{93577D26-5FEF-43D5-90A8-28DF9B2A326A}"/>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E50C5E11-C03A-4808-95A7-8A2D4A590672}"/>
              </a:ext>
            </a:extLst>
          </p:cNvPr>
          <p:cNvSpPr>
            <a:spLocks xmlns:a="http://schemas.openxmlformats.org/drawingml/2006/main" noGrp="1"/>
          </p:cNvSpPr>
          <p:nvPr/>
        </p:nvSpPr>
        <p:spPr>
          <a:xfrm xmlns:a="http://schemas.openxmlformats.org/drawingml/2006/main">
            <a:off x="666750" y="2095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0">
                <a:solidFill>
                  <a:srgbClr val="19819B"/>
                </a:solidFill>
                <a:latin typeface="Impact"/>
                <a:ea typeface="Impact"/>
                <a:cs typeface="Impact"/>
              </a:defRPr>
            </a:defPPr>
          </a:lstStyle>
          <a:p xmlns:a="http://schemas.openxmlformats.org/drawingml/2006/main">
            <a:pPr>
              <a:defRPr sz="3750" b="0">
                <a:solidFill>
                  <a:srgbClr val="19819B"/>
                </a:solidFill>
                <a:latin typeface="Impact"/>
                <a:ea typeface="Impact"/>
                <a:cs typeface="Impact"/>
              </a:defRPr>
            </a:pPr>
            <a:r>
              <a:rPr sz="3750" b="0">
                <a:solidFill>
                  <a:srgbClr val="19819B"/>
                </a:solidFill>
                <a:latin typeface="Impact"/>
                <a:ea typeface="Impact"/>
                <a:cs typeface="Impact"/>
              </a:rPr>
              <a:t>SHARP EYES. SWIFT ACTION.</a:t>
            </a:r>
          </a:p>
        </p:txBody>
      </p:sp>
      <p:sp>
        <p:nvSpPr>
          <p:cNvPr id="6" name="">
            <a:extLst xmlns:a="http://schemas.openxmlformats.org/drawingml/2006/main">
              <a:ext uri="{FF2B5EF4-FFF2-40B4-BE49-F238E27FC236}">
                <a16:creationId xmlns:a16="http://schemas.microsoft.com/office/drawing/2014/main" id="{F2912FD9-3AFB-40F1-AAEF-4EF20B1EE964}"/>
              </a:ext>
            </a:extLst>
          </p:cNvPr>
          <p:cNvSpPr>
            <a:spLocks xmlns:a="http://schemas.openxmlformats.org/drawingml/2006/main" noGrp="1"/>
          </p:cNvSpPr>
          <p:nvPr/>
        </p:nvSpPr>
        <p:spPr>
          <a:xfrm xmlns:a="http://schemas.openxmlformats.org/drawingml/2006/main">
            <a:off x="685800" y="3105150"/>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83E50"/>
                </a:solidFill>
                <a:latin typeface="Arial"/>
                <a:ea typeface="Arial"/>
                <a:cs typeface="Arial"/>
              </a:defRPr>
            </a:defPPr>
          </a:lstStyle>
          <a:p xmlns:a="http://schemas.openxmlformats.org/drawingml/2006/main">
            <a:pPr>
              <a:defRPr sz="2400" b="0">
                <a:solidFill>
                  <a:srgbClr val="183E50"/>
                </a:solidFill>
                <a:latin typeface="Arial"/>
                <a:ea typeface="Arial"/>
                <a:cs typeface="Arial"/>
              </a:defRPr>
            </a:pPr>
            <a:r>
              <a:rPr sz="2400" b="0">
                <a:solidFill>
                  <a:srgbClr val="183E50"/>
                </a:solidFill>
                <a:latin typeface="Arial"/>
                <a:ea typeface="Arial"/>
                <a:cs typeface="Arial"/>
              </a:rPr>
              <a:t>We focus on a familiar campus problem:</a:t>
            </a:r>
          </a:p>
          <a:p xmlns:a="http://schemas.openxmlformats.org/drawingml/2006/main">
            <a:pPr>
              <a:defRPr sz="2400" b="0">
                <a:solidFill>
                  <a:srgbClr val="183E50"/>
                </a:solidFill>
                <a:latin typeface="Arial"/>
                <a:ea typeface="Arial"/>
                <a:cs typeface="Arial"/>
              </a:defRPr>
            </a:pPr>
            <a:r>
              <a:rPr sz="2400" b="0">
                <a:solidFill>
                  <a:srgbClr val="183E50"/>
                </a:solidFill>
                <a:latin typeface="Arial"/>
                <a:ea typeface="Arial"/>
                <a:cs typeface="Arial"/>
              </a:rPr>
              <a:t>wanting to exercise, but having no one to team up with.</a:t>
            </a:r>
          </a:p>
        </p:txBody>
      </p:sp>
      <p:sp>
        <p:nvSpPr>
          <p:cNvPr id="7" name="">
            <a:extLst xmlns:a="http://schemas.openxmlformats.org/drawingml/2006/main">
              <a:ext uri="{FF2B5EF4-FFF2-40B4-BE49-F238E27FC236}">
                <a16:creationId xmlns:a16="http://schemas.microsoft.com/office/drawing/2014/main" id="{E3B9FA5A-392B-4C61-A8CB-EFCE4D75B4D0}"/>
              </a:ext>
            </a:extLst>
          </p:cNvPr>
          <p:cNvSpPr>
            <a:spLocks xmlns:a="http://schemas.openxmlformats.org/drawingml/2006/main" noGrp="1"/>
          </p:cNvSpPr>
          <p:nvPr/>
        </p:nvSpPr>
        <p:spPr>
          <a:xfrm xmlns:a="http://schemas.openxmlformats.org/drawingml/2006/main">
            <a:off x="685800" y="47148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6900"/>
                </a:solidFill>
                <a:latin typeface="Arial"/>
                <a:ea typeface="Arial"/>
                <a:cs typeface="Arial"/>
              </a:defRPr>
            </a:defPPr>
          </a:lstStyle>
          <a:p xmlns:a="http://schemas.openxmlformats.org/drawingml/2006/main">
            <a:pPr>
              <a:defRPr sz="2025" b="1">
                <a:solidFill>
                  <a:srgbClr val="AC6900"/>
                </a:solidFill>
                <a:latin typeface="Arial"/>
                <a:ea typeface="Arial"/>
                <a:cs typeface="Arial"/>
              </a:defRPr>
            </a:pPr>
            <a:r>
              <a:rPr sz="2025" b="1">
                <a:solidFill>
                  <a:srgbClr val="AC6900"/>
                </a:solidFill>
                <a:latin typeface="Arial"/>
                <a:ea typeface="Arial"/>
                <a:cs typeface="Arial"/>
              </a:rPr>
              <a:t>The team identity</a:t>
            </a:r>
          </a:p>
        </p:txBody>
      </p:sp>
      <p:sp>
        <p:nvSpPr>
          <p:cNvPr id="8" name="">
            <a:extLst xmlns:a="http://schemas.openxmlformats.org/drawingml/2006/main">
              <a:ext uri="{FF2B5EF4-FFF2-40B4-BE49-F238E27FC236}">
                <a16:creationId xmlns:a16="http://schemas.microsoft.com/office/drawing/2014/main" id="{3A4E64A4-114C-4217-AB53-E7DF9347E370}"/>
              </a:ext>
            </a:extLst>
          </p:cNvPr>
          <p:cNvSpPr>
            <a:spLocks xmlns:a="http://schemas.openxmlformats.org/drawingml/2006/main" noGrp="1"/>
          </p:cNvSpPr>
          <p:nvPr/>
        </p:nvSpPr>
        <p:spPr>
          <a:xfrm xmlns:a="http://schemas.openxmlformats.org/drawingml/2006/main">
            <a:off x="4095750" y="4657725"/>
            <a:ext cx="709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Golden wings express speed and ambition.</a:t>
            </a:r>
          </a:p>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The confident smile reflects optimism and team cohesion.</a:t>
            </a:r>
          </a:p>
        </p:txBody>
      </p:sp>
    </p:spTree>
    <p:extLst>
      <p:ext uri="{BB962C8B-B14F-4D97-AF65-F5344CB8AC3E}">
        <p14:creationId xmlns:p14="http://schemas.microsoft.com/office/powerpoint/2010/main" val="418432237"/>
      </p:ext>
    </p:extLst>
  </p:cSld>
</p:sld>
</file>

<file path=ppt/slides/slide7.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1B3ED1F-DD88-4D30-B2DC-B5F68C6EC070}"/>
              </a:ext>
            </a:extLst>
          </p:cNvPr>
          <p:cNvPicPr>
            <a:picLocks xmlns:a="http://schemas.openxmlformats.org/drawingml/2006/main" noChangeAspect="1"/>
          </p:cNvPicPr>
          <p:nvPr/>
        </p:nvPicPr>
        <p:blipFill>
          <a:blip xmlns:r="http://schemas.openxmlformats.org/officeDocument/2006/relationships" xmlns:a="http://schemas.openxmlformats.org/drawingml/2006/main" r:embed="R30908b3b359648f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CAA3A5A-73EC-48EC-B552-A0D6F23CF6C8}"/>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THE CAMPUS SPORTS PROBLEM</a:t>
            </a:r>
          </a:p>
        </p:txBody>
      </p:sp>
      <p:sp>
        <p:nvSpPr>
          <p:cNvPr id="3" name="">
            <a:extLst xmlns:a="http://schemas.openxmlformats.org/drawingml/2006/main">
              <a:ext uri="{FF2B5EF4-FFF2-40B4-BE49-F238E27FC236}">
                <a16:creationId xmlns:a16="http://schemas.microsoft.com/office/drawing/2014/main" id="{E45DA650-2DBF-4E8F-8D9B-2F8383093EA4}"/>
              </a:ext>
            </a:extLst>
          </p:cNvPr>
          <p:cNvSpPr>
            <a:spLocks xmlns:a="http://schemas.openxmlformats.org/drawingml/2006/main" noGrp="1"/>
          </p:cNvSpPr>
          <p:nvPr/>
        </p:nvSpPr>
        <p:spPr>
          <a:xfrm xmlns:a="http://schemas.openxmlformats.org/drawingml/2006/main">
            <a:off x="64770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76371"/>
                </a:solidFill>
                <a:latin typeface="Arial"/>
                <a:ea typeface="Arial"/>
                <a:cs typeface="Arial"/>
              </a:defRPr>
            </a:defPPr>
          </a:lstStyle>
          <a:p xmlns:a="http://schemas.openxmlformats.org/drawingml/2006/main">
            <a:pPr>
              <a:defRPr sz="1800" b="0">
                <a:solidFill>
                  <a:srgbClr val="476371"/>
                </a:solidFill>
                <a:latin typeface="Arial"/>
                <a:ea typeface="Arial"/>
                <a:cs typeface="Arial"/>
              </a:defRPr>
            </a:pPr>
            <a:r>
              <a:rPr sz="1800" b="0">
                <a:solidFill>
                  <a:srgbClr val="476371"/>
                </a:solidFill>
                <a:latin typeface="Arial"/>
                <a:ea typeface="Arial"/>
                <a:cs typeface="Arial"/>
              </a:rPr>
              <a:t>Need: students struggle to find suitable and reliable partners</a:t>
            </a:r>
          </a:p>
        </p:txBody>
      </p:sp>
      <p:sp>
        <p:nvSpPr>
          <p:cNvPr id="4" name="">
            <a:extLst xmlns:a="http://schemas.openxmlformats.org/drawingml/2006/main">
              <a:ext uri="{FF2B5EF4-FFF2-40B4-BE49-F238E27FC236}">
                <a16:creationId xmlns:a16="http://schemas.microsoft.com/office/drawing/2014/main" id="{75FC5F8C-5368-46B0-BCA8-1DF1884FDA7E}"/>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4277E38-E409-43A9-B84A-0EC832E8A912}"/>
              </a:ext>
            </a:extLst>
          </p:cNvPr>
          <p:cNvSpPr>
            <a:spLocks xmlns:a="http://schemas.openxmlformats.org/drawingml/2006/main" noGrp="1"/>
          </p:cNvSpPr>
          <p:nvPr/>
        </p:nvSpPr>
        <p:spPr>
          <a:xfrm xmlns:a="http://schemas.openxmlformats.org/drawingml/2006/main">
            <a:off x="666750" y="2171700"/>
            <a:ext cx="3346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AC6900"/>
                </a:solidFill>
                <a:latin typeface="Arial"/>
                <a:ea typeface="Arial"/>
                <a:cs typeface="Arial"/>
              </a:defRPr>
            </a:defPPr>
          </a:lstStyle>
          <a:p xmlns:a="http://schemas.openxmlformats.org/drawingml/2006/main">
            <a:pPr>
              <a:defRPr sz="2400" b="1">
                <a:solidFill>
                  <a:srgbClr val="AC6900"/>
                </a:solidFill>
                <a:latin typeface="Arial"/>
                <a:ea typeface="Arial"/>
                <a:cs typeface="Arial"/>
              </a:defRPr>
            </a:pPr>
            <a:r>
              <a:rPr sz="2400" b="1">
                <a:solidFill>
                  <a:srgbClr val="AC6900"/>
                </a:solidFill>
                <a:latin typeface="Arial"/>
                <a:ea typeface="Arial"/>
                <a:cs typeface="Arial"/>
              </a:rPr>
              <a:t>Scattered invitations</a:t>
            </a:r>
          </a:p>
        </p:txBody>
      </p:sp>
      <p:sp>
        <p:nvSpPr>
          <p:cNvPr id="6" name="">
            <a:extLst xmlns:a="http://schemas.openxmlformats.org/drawingml/2006/main">
              <a:ext uri="{FF2B5EF4-FFF2-40B4-BE49-F238E27FC236}">
                <a16:creationId xmlns:a16="http://schemas.microsoft.com/office/drawing/2014/main" id="{FC5B6A29-6D23-4AD3-8208-F61BBEB62106}"/>
              </a:ext>
            </a:extLst>
          </p:cNvPr>
          <p:cNvSpPr>
            <a:spLocks xmlns:a="http://schemas.openxmlformats.org/drawingml/2006/main" noGrp="1"/>
          </p:cNvSpPr>
          <p:nvPr/>
        </p:nvSpPr>
        <p:spPr>
          <a:xfrm xmlns:a="http://schemas.openxmlformats.org/drawingml/2006/main">
            <a:off x="666750" y="3076575"/>
            <a:ext cx="3232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Group-chat posts quickly disappear under newer messages.</a:t>
            </a:r>
          </a:p>
        </p:txBody>
      </p:sp>
      <p:sp>
        <p:nvSpPr>
          <p:cNvPr id="7" name="">
            <a:extLst xmlns:a="http://schemas.openxmlformats.org/drawingml/2006/main">
              <a:ext uri="{FF2B5EF4-FFF2-40B4-BE49-F238E27FC236}">
                <a16:creationId xmlns:a16="http://schemas.microsoft.com/office/drawing/2014/main" id="{DE688B35-9922-40C5-A485-D74AFA98E7D0}"/>
              </a:ext>
            </a:extLst>
          </p:cNvPr>
          <p:cNvSpPr>
            <a:spLocks xmlns:a="http://schemas.openxmlformats.org/drawingml/2006/main" noGrp="1"/>
          </p:cNvSpPr>
          <p:nvPr/>
        </p:nvSpPr>
        <p:spPr>
          <a:xfrm xmlns:a="http://schemas.openxmlformats.org/drawingml/2006/main">
            <a:off x="4298950" y="2171700"/>
            <a:ext cx="3346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AC6900"/>
                </a:solidFill>
                <a:latin typeface="Arial"/>
                <a:ea typeface="Arial"/>
                <a:cs typeface="Arial"/>
              </a:defRPr>
            </a:defPPr>
          </a:lstStyle>
          <a:p xmlns:a="http://schemas.openxmlformats.org/drawingml/2006/main">
            <a:pPr>
              <a:defRPr sz="2400" b="1">
                <a:solidFill>
                  <a:srgbClr val="AC6900"/>
                </a:solidFill>
                <a:latin typeface="Arial"/>
                <a:ea typeface="Arial"/>
                <a:cs typeface="Arial"/>
              </a:defRPr>
            </a:pPr>
            <a:r>
              <a:rPr sz="2400" b="1">
                <a:solidFill>
                  <a:srgbClr val="AC6900"/>
                </a:solidFill>
                <a:latin typeface="Arial"/>
                <a:ea typeface="Arial"/>
                <a:cs typeface="Arial"/>
              </a:rPr>
              <a:t>Poor fit</a:t>
            </a:r>
          </a:p>
        </p:txBody>
      </p:sp>
      <p:sp>
        <p:nvSpPr>
          <p:cNvPr id="8" name="">
            <a:extLst xmlns:a="http://schemas.openxmlformats.org/drawingml/2006/main">
              <a:ext uri="{FF2B5EF4-FFF2-40B4-BE49-F238E27FC236}">
                <a16:creationId xmlns:a16="http://schemas.microsoft.com/office/drawing/2014/main" id="{0BC74656-2EC3-47F1-9237-A09959863A3D}"/>
              </a:ext>
            </a:extLst>
          </p:cNvPr>
          <p:cNvSpPr>
            <a:spLocks xmlns:a="http://schemas.openxmlformats.org/drawingml/2006/main" noGrp="1"/>
          </p:cNvSpPr>
          <p:nvPr/>
        </p:nvSpPr>
        <p:spPr>
          <a:xfrm xmlns:a="http://schemas.openxmlformats.org/drawingml/2006/main">
            <a:off x="4298950" y="3076575"/>
            <a:ext cx="3232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Available partners may differ in time, location or skill level.</a:t>
            </a:r>
          </a:p>
        </p:txBody>
      </p:sp>
      <p:sp>
        <p:nvSpPr>
          <p:cNvPr id="9" name="">
            <a:extLst xmlns:a="http://schemas.openxmlformats.org/drawingml/2006/main">
              <a:ext uri="{FF2B5EF4-FFF2-40B4-BE49-F238E27FC236}">
                <a16:creationId xmlns:a16="http://schemas.microsoft.com/office/drawing/2014/main" id="{AD8859FD-6BE1-42CC-AB2F-37E1BA7517F3}"/>
              </a:ext>
            </a:extLst>
          </p:cNvPr>
          <p:cNvSpPr>
            <a:spLocks xmlns:a="http://schemas.openxmlformats.org/drawingml/2006/main" noGrp="1"/>
          </p:cNvSpPr>
          <p:nvPr/>
        </p:nvSpPr>
        <p:spPr>
          <a:xfrm xmlns:a="http://schemas.openxmlformats.org/drawingml/2006/main">
            <a:off x="7931150" y="2171700"/>
            <a:ext cx="3346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AC6900"/>
                </a:solidFill>
                <a:latin typeface="Arial"/>
                <a:ea typeface="Arial"/>
                <a:cs typeface="Arial"/>
              </a:defRPr>
            </a:defPPr>
          </a:lstStyle>
          <a:p xmlns:a="http://schemas.openxmlformats.org/drawingml/2006/main">
            <a:pPr>
              <a:defRPr sz="2400" b="1">
                <a:solidFill>
                  <a:srgbClr val="AC6900"/>
                </a:solidFill>
                <a:latin typeface="Arial"/>
                <a:ea typeface="Arial"/>
                <a:cs typeface="Arial"/>
              </a:defRPr>
            </a:pPr>
            <a:r>
              <a:rPr sz="2400" b="1">
                <a:solidFill>
                  <a:srgbClr val="AC6900"/>
                </a:solidFill>
                <a:latin typeface="Arial"/>
                <a:ea typeface="Arial"/>
                <a:cs typeface="Arial"/>
              </a:rPr>
              <a:t>Uncertain attendance</a:t>
            </a:r>
          </a:p>
        </p:txBody>
      </p:sp>
      <p:sp>
        <p:nvSpPr>
          <p:cNvPr id="10" name="">
            <a:extLst xmlns:a="http://schemas.openxmlformats.org/drawingml/2006/main">
              <a:ext uri="{FF2B5EF4-FFF2-40B4-BE49-F238E27FC236}">
                <a16:creationId xmlns:a16="http://schemas.microsoft.com/office/drawing/2014/main" id="{5481F7C4-E35D-473D-88C7-9303EA9F3E0A}"/>
              </a:ext>
            </a:extLst>
          </p:cNvPr>
          <p:cNvSpPr>
            <a:spLocks xmlns:a="http://schemas.openxmlformats.org/drawingml/2006/main" noGrp="1"/>
          </p:cNvSpPr>
          <p:nvPr/>
        </p:nvSpPr>
        <p:spPr>
          <a:xfrm xmlns:a="http://schemas.openxmlformats.org/drawingml/2006/main">
            <a:off x="7931150" y="3076575"/>
            <a:ext cx="3232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Last-minute no-shows can leave an activity short of players.</a:t>
            </a:r>
          </a:p>
        </p:txBody>
      </p:sp>
      <p:sp>
        <p:nvSpPr>
          <p:cNvPr id="11" name="">
            <a:extLst xmlns:a="http://schemas.openxmlformats.org/drawingml/2006/main">
              <a:ext uri="{FF2B5EF4-FFF2-40B4-BE49-F238E27FC236}">
                <a16:creationId xmlns:a16="http://schemas.microsoft.com/office/drawing/2014/main" id="{2FE259C2-960F-49CC-82A3-6CB013FB7595}"/>
              </a:ext>
            </a:extLst>
          </p:cNvPr>
          <p:cNvSpPr>
            <a:spLocks xmlns:a="http://schemas.openxmlformats.org/drawingml/2006/main" noGrp="1"/>
          </p:cNvSpPr>
          <p:nvPr/>
        </p:nvSpPr>
        <p:spPr>
          <a:xfrm xmlns:a="http://schemas.openxmlformats.org/drawingml/2006/main">
            <a:off x="685800" y="5810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76371"/>
                </a:solidFill>
                <a:latin typeface="Arial"/>
                <a:ea typeface="Arial"/>
                <a:cs typeface="Arial"/>
              </a:defRPr>
            </a:defPPr>
          </a:lstStyle>
          <a:p xmlns:a="http://schemas.openxmlformats.org/drawingml/2006/main">
            <a:pPr>
              <a:defRPr sz="1650" b="0">
                <a:solidFill>
                  <a:srgbClr val="476371"/>
                </a:solidFill>
                <a:latin typeface="Arial"/>
                <a:ea typeface="Arial"/>
                <a:cs typeface="Arial"/>
              </a:defRPr>
            </a:pPr>
            <a:r>
              <a:rPr sz="1650" b="0">
                <a:solidFill>
                  <a:srgbClr val="476371"/>
                </a:solidFill>
                <a:latin typeface="Arial"/>
                <a:ea typeface="Arial"/>
                <a:cs typeface="Arial"/>
              </a:rPr>
              <a:t>Requirements analysis completed by Oct 11, ahead of schedule.</a:t>
            </a:r>
          </a:p>
        </p:txBody>
      </p:sp>
    </p:spTree>
    <p:extLst>
      <p:ext uri="{BB962C8B-B14F-4D97-AF65-F5344CB8AC3E}">
        <p14:creationId xmlns:p14="http://schemas.microsoft.com/office/powerpoint/2010/main" val="1634579085"/>
      </p:ext>
    </p:extLst>
  </p:cSld>
</p:sld>
</file>

<file path=ppt/slides/slide8.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76FD490-EA68-45F0-9564-7E66436FD6DD}"/>
              </a:ext>
            </a:extLst>
          </p:cNvPr>
          <p:cNvPicPr>
            <a:picLocks xmlns:a="http://schemas.openxmlformats.org/drawingml/2006/main" noChangeAspect="1"/>
          </p:cNvPicPr>
          <p:nvPr/>
        </p:nvPicPr>
        <p:blipFill>
          <a:blip xmlns:r="http://schemas.openxmlformats.org/officeDocument/2006/relationships" xmlns:a="http://schemas.openxmlformats.org/drawingml/2006/main" r:embed="R494a8a32f5774fa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FCE9D0A-588E-4C20-8DBB-197BC1A81752}"/>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THE PRODUCT VISION</a:t>
            </a:r>
          </a:p>
        </p:txBody>
      </p:sp>
      <p:sp>
        <p:nvSpPr>
          <p:cNvPr id="3" name="">
            <a:extLst xmlns:a="http://schemas.openxmlformats.org/drawingml/2006/main">
              <a:ext uri="{FF2B5EF4-FFF2-40B4-BE49-F238E27FC236}">
                <a16:creationId xmlns:a16="http://schemas.microsoft.com/office/drawing/2014/main" id="{E8603258-08B3-4924-9994-A5C4EB349F51}"/>
              </a:ext>
            </a:extLst>
          </p:cNvPr>
          <p:cNvSpPr>
            <a:spLocks xmlns:a="http://schemas.openxmlformats.org/drawingml/2006/main" noGrp="1"/>
          </p:cNvSpPr>
          <p:nvPr/>
        </p:nvSpPr>
        <p:spPr>
          <a:xfrm xmlns:a="http://schemas.openxmlformats.org/drawingml/2006/main">
            <a:off x="64770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76371"/>
                </a:solidFill>
                <a:latin typeface="Arial"/>
                <a:ea typeface="Arial"/>
                <a:cs typeface="Arial"/>
              </a:defRPr>
            </a:defPPr>
          </a:lstStyle>
          <a:p xmlns:a="http://schemas.openxmlformats.org/drawingml/2006/main">
            <a:pPr>
              <a:defRPr sz="1800" b="0">
                <a:solidFill>
                  <a:srgbClr val="476371"/>
                </a:solidFill>
                <a:latin typeface="Arial"/>
                <a:ea typeface="Arial"/>
                <a:cs typeface="Arial"/>
              </a:defRPr>
            </a:pPr>
            <a:r>
              <a:rPr sz="1800" b="0">
                <a:solidFill>
                  <a:srgbClr val="476371"/>
                </a:solidFill>
                <a:latin typeface="Arial"/>
                <a:ea typeface="Arial"/>
                <a:cs typeface="Arial"/>
              </a:rPr>
              <a:t>Sports matchmaking for university students</a:t>
            </a:r>
          </a:p>
        </p:txBody>
      </p:sp>
      <p:sp>
        <p:nvSpPr>
          <p:cNvPr id="4" name="">
            <a:extLst xmlns:a="http://schemas.openxmlformats.org/drawingml/2006/main">
              <a:ext uri="{FF2B5EF4-FFF2-40B4-BE49-F238E27FC236}">
                <a16:creationId xmlns:a16="http://schemas.microsoft.com/office/drawing/2014/main" id="{9A46B46A-8ED4-4E44-8639-A74F3D1C222A}"/>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AC42850E-6376-4C15-A3C5-E9EDDDE11168}"/>
              </a:ext>
            </a:extLst>
          </p:cNvPr>
          <p:cNvSpPr>
            <a:spLocks xmlns:a="http://schemas.openxmlformats.org/drawingml/2006/main" noGrp="1"/>
          </p:cNvSpPr>
          <p:nvPr/>
        </p:nvSpPr>
        <p:spPr>
          <a:xfrm xmlns:a="http://schemas.openxmlformats.org/drawingml/2006/main">
            <a:off x="666750" y="2171700"/>
            <a:ext cx="3346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AC6900"/>
                </a:solidFill>
                <a:latin typeface="Arial"/>
                <a:ea typeface="Arial"/>
                <a:cs typeface="Arial"/>
              </a:defRPr>
            </a:defPPr>
          </a:lstStyle>
          <a:p xmlns:a="http://schemas.openxmlformats.org/drawingml/2006/main">
            <a:pPr>
              <a:defRPr sz="2400" b="1">
                <a:solidFill>
                  <a:srgbClr val="AC6900"/>
                </a:solidFill>
                <a:latin typeface="Arial"/>
                <a:ea typeface="Arial"/>
                <a:cs typeface="Arial"/>
              </a:defRPr>
            </a:pPr>
            <a:r>
              <a:rPr sz="2400" b="1">
                <a:solidFill>
                  <a:srgbClr val="AC6900"/>
                </a:solidFill>
                <a:latin typeface="Arial"/>
                <a:ea typeface="Arial"/>
                <a:cs typeface="Arial"/>
              </a:rPr>
              <a:t>Buddy up, easily</a:t>
            </a:r>
          </a:p>
        </p:txBody>
      </p:sp>
      <p:sp>
        <p:nvSpPr>
          <p:cNvPr id="6" name="">
            <a:extLst xmlns:a="http://schemas.openxmlformats.org/drawingml/2006/main">
              <a:ext uri="{FF2B5EF4-FFF2-40B4-BE49-F238E27FC236}">
                <a16:creationId xmlns:a16="http://schemas.microsoft.com/office/drawing/2014/main" id="{F1F861B8-614F-4385-93A3-00432C7A665A}"/>
              </a:ext>
            </a:extLst>
          </p:cNvPr>
          <p:cNvSpPr>
            <a:spLocks xmlns:a="http://schemas.openxmlformats.org/drawingml/2006/main" noGrp="1"/>
          </p:cNvSpPr>
          <p:nvPr/>
        </p:nvSpPr>
        <p:spPr>
          <a:xfrm xmlns:a="http://schemas.openxmlformats.org/drawingml/2006/main">
            <a:off x="666750" y="3076575"/>
            <a:ext cx="3232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Create, discover and join an activity when you want to exercise.</a:t>
            </a:r>
          </a:p>
        </p:txBody>
      </p:sp>
      <p:sp>
        <p:nvSpPr>
          <p:cNvPr id="7" name="">
            <a:extLst xmlns:a="http://schemas.openxmlformats.org/drawingml/2006/main">
              <a:ext uri="{FF2B5EF4-FFF2-40B4-BE49-F238E27FC236}">
                <a16:creationId xmlns:a16="http://schemas.microsoft.com/office/drawing/2014/main" id="{52634017-C220-4674-B009-7E852312ABA3}"/>
              </a:ext>
            </a:extLst>
          </p:cNvPr>
          <p:cNvSpPr>
            <a:spLocks xmlns:a="http://schemas.openxmlformats.org/drawingml/2006/main" noGrp="1"/>
          </p:cNvSpPr>
          <p:nvPr/>
        </p:nvSpPr>
        <p:spPr>
          <a:xfrm xmlns:a="http://schemas.openxmlformats.org/drawingml/2006/main">
            <a:off x="4298950" y="2171700"/>
            <a:ext cx="3346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AC6900"/>
                </a:solidFill>
                <a:latin typeface="Arial"/>
                <a:ea typeface="Arial"/>
                <a:cs typeface="Arial"/>
              </a:defRPr>
            </a:defPPr>
          </a:lstStyle>
          <a:p xmlns:a="http://schemas.openxmlformats.org/drawingml/2006/main">
            <a:pPr>
              <a:defRPr sz="2400" b="1">
                <a:solidFill>
                  <a:srgbClr val="AC6900"/>
                </a:solidFill>
                <a:latin typeface="Arial"/>
                <a:ea typeface="Arial"/>
                <a:cs typeface="Arial"/>
              </a:defRPr>
            </a:pPr>
            <a:r>
              <a:rPr sz="2400" b="1">
                <a:solidFill>
                  <a:srgbClr val="AC6900"/>
                </a:solidFill>
                <a:latin typeface="Arial"/>
                <a:ea typeface="Arial"/>
                <a:cs typeface="Arial"/>
              </a:rPr>
              <a:t>Buddy up, well</a:t>
            </a:r>
          </a:p>
        </p:txBody>
      </p:sp>
      <p:sp>
        <p:nvSpPr>
          <p:cNvPr id="8" name="">
            <a:extLst xmlns:a="http://schemas.openxmlformats.org/drawingml/2006/main">
              <a:ext uri="{FF2B5EF4-FFF2-40B4-BE49-F238E27FC236}">
                <a16:creationId xmlns:a16="http://schemas.microsoft.com/office/drawing/2014/main" id="{484DF26C-53AA-4912-8C3B-8482A6C22EDA}"/>
              </a:ext>
            </a:extLst>
          </p:cNvPr>
          <p:cNvSpPr>
            <a:spLocks xmlns:a="http://schemas.openxmlformats.org/drawingml/2006/main" noGrp="1"/>
          </p:cNvSpPr>
          <p:nvPr/>
        </p:nvSpPr>
        <p:spPr>
          <a:xfrm xmlns:a="http://schemas.openxmlformats.org/drawingml/2006/main">
            <a:off x="4298950" y="3076575"/>
            <a:ext cx="3232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Use attendance records and mutual reviews to improve reliability.</a:t>
            </a:r>
          </a:p>
        </p:txBody>
      </p:sp>
      <p:sp>
        <p:nvSpPr>
          <p:cNvPr id="9" name="">
            <a:extLst xmlns:a="http://schemas.openxmlformats.org/drawingml/2006/main">
              <a:ext uri="{FF2B5EF4-FFF2-40B4-BE49-F238E27FC236}">
                <a16:creationId xmlns:a16="http://schemas.microsoft.com/office/drawing/2014/main" id="{20FE3E7C-A06F-46D0-9075-31548B780141}"/>
              </a:ext>
            </a:extLst>
          </p:cNvPr>
          <p:cNvSpPr>
            <a:spLocks xmlns:a="http://schemas.openxmlformats.org/drawingml/2006/main" noGrp="1"/>
          </p:cNvSpPr>
          <p:nvPr/>
        </p:nvSpPr>
        <p:spPr>
          <a:xfrm xmlns:a="http://schemas.openxmlformats.org/drawingml/2006/main">
            <a:off x="7931150" y="2171700"/>
            <a:ext cx="3346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AC6900"/>
                </a:solidFill>
                <a:latin typeface="Arial"/>
                <a:ea typeface="Arial"/>
                <a:cs typeface="Arial"/>
              </a:defRPr>
            </a:defPPr>
          </a:lstStyle>
          <a:p xmlns:a="http://schemas.openxmlformats.org/drawingml/2006/main">
            <a:pPr>
              <a:defRPr sz="2400" b="1">
                <a:solidFill>
                  <a:srgbClr val="AC6900"/>
                </a:solidFill>
                <a:latin typeface="Arial"/>
                <a:ea typeface="Arial"/>
                <a:cs typeface="Arial"/>
              </a:defRPr>
            </a:pPr>
            <a:r>
              <a:rPr sz="2400" b="1">
                <a:solidFill>
                  <a:srgbClr val="AC6900"/>
                </a:solidFill>
                <a:latin typeface="Arial"/>
                <a:ea typeface="Arial"/>
                <a:cs typeface="Arial"/>
              </a:rPr>
              <a:t>Buddy up, precisely</a:t>
            </a:r>
          </a:p>
        </p:txBody>
      </p:sp>
      <p:sp>
        <p:nvSpPr>
          <p:cNvPr id="10" name="">
            <a:extLst xmlns:a="http://schemas.openxmlformats.org/drawingml/2006/main">
              <a:ext uri="{FF2B5EF4-FFF2-40B4-BE49-F238E27FC236}">
                <a16:creationId xmlns:a16="http://schemas.microsoft.com/office/drawing/2014/main" id="{C0BD36DC-3629-416A-81B9-26D44C496D4B}"/>
              </a:ext>
            </a:extLst>
          </p:cNvPr>
          <p:cNvSpPr>
            <a:spLocks xmlns:a="http://schemas.openxmlformats.org/drawingml/2006/main" noGrp="1"/>
          </p:cNvSpPr>
          <p:nvPr/>
        </p:nvSpPr>
        <p:spPr>
          <a:xfrm xmlns:a="http://schemas.openxmlformats.org/drawingml/2006/main">
            <a:off x="7931150" y="3076575"/>
            <a:ext cx="3232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Match by time, place and skill, with faster activity creation.</a:t>
            </a:r>
          </a:p>
        </p:txBody>
      </p:sp>
      <p:sp>
        <p:nvSpPr>
          <p:cNvPr id="11" name="">
            <a:extLst xmlns:a="http://schemas.openxmlformats.org/drawingml/2006/main">
              <a:ext uri="{FF2B5EF4-FFF2-40B4-BE49-F238E27FC236}">
                <a16:creationId xmlns:a16="http://schemas.microsoft.com/office/drawing/2014/main" id="{7CCB0CAE-AFDA-4F9B-8FC9-D7A88C1437C1}"/>
              </a:ext>
            </a:extLst>
          </p:cNvPr>
          <p:cNvSpPr>
            <a:spLocks xmlns:a="http://schemas.openxmlformats.org/drawingml/2006/main" noGrp="1"/>
          </p:cNvSpPr>
          <p:nvPr/>
        </p:nvSpPr>
        <p:spPr>
          <a:xfrm xmlns:a="http://schemas.openxmlformats.org/drawingml/2006/main">
            <a:off x="685800" y="57816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9819B"/>
                </a:solidFill>
                <a:latin typeface="Arial"/>
                <a:ea typeface="Arial"/>
                <a:cs typeface="Arial"/>
              </a:defRPr>
            </a:defPPr>
          </a:lstStyle>
          <a:p xmlns:a="http://schemas.openxmlformats.org/drawingml/2006/main">
            <a:pPr>
              <a:defRPr sz="1800" b="1">
                <a:solidFill>
                  <a:srgbClr val="19819B"/>
                </a:solidFill>
                <a:latin typeface="Arial"/>
                <a:ea typeface="Arial"/>
                <a:cs typeface="Arial"/>
              </a:defRPr>
            </a:pPr>
            <a:r>
              <a:rPr sz="1800" b="1">
                <a:solidFill>
                  <a:srgbClr val="19819B"/>
                </a:solidFill>
                <a:latin typeface="Arial"/>
                <a:ea typeface="Arial"/>
                <a:cs typeface="Arial"/>
              </a:rPr>
              <a:t>First make one campus genuinely usable, then expand based on feedback.</a:t>
            </a:r>
          </a:p>
        </p:txBody>
      </p:sp>
    </p:spTree>
    <p:extLst>
      <p:ext uri="{BB962C8B-B14F-4D97-AF65-F5344CB8AC3E}">
        <p14:creationId xmlns:p14="http://schemas.microsoft.com/office/powerpoint/2010/main" val="306162647"/>
      </p:ext>
    </p:extLst>
  </p:cSld>
</p:sld>
</file>

<file path=ppt/slides/slide9.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A8C228-2997-43FB-A8F3-E842E89ED452}"/>
              </a:ext>
            </a:extLst>
          </p:cNvPr>
          <p:cNvPicPr>
            <a:picLocks xmlns:a="http://schemas.openxmlformats.org/drawingml/2006/main" noChangeAspect="1"/>
          </p:cNvPicPr>
          <p:nvPr/>
        </p:nvPicPr>
        <p:blipFill>
          <a:blip xmlns:r="http://schemas.openxmlformats.org/officeDocument/2006/relationships" xmlns:a="http://schemas.openxmlformats.org/drawingml/2006/main" r:embed="R21659ff5436d43b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88DCF9C-1BE0-44AC-9BF9-29BB92F17124}"/>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THE CORE ACTIVITY FLOW</a:t>
            </a:r>
          </a:p>
        </p:txBody>
      </p:sp>
      <p:sp>
        <p:nvSpPr>
          <p:cNvPr id="3" name="">
            <a:extLst xmlns:a="http://schemas.openxmlformats.org/drawingml/2006/main">
              <a:ext uri="{FF2B5EF4-FFF2-40B4-BE49-F238E27FC236}">
                <a16:creationId xmlns:a16="http://schemas.microsoft.com/office/drawing/2014/main" id="{C9E0CE44-2D11-450A-ADD3-34F742BB9519}"/>
              </a:ext>
            </a:extLst>
          </p:cNvPr>
          <p:cNvSpPr>
            <a:spLocks xmlns:a="http://schemas.openxmlformats.org/drawingml/2006/main" noGrp="1"/>
          </p:cNvSpPr>
          <p:nvPr/>
        </p:nvSpPr>
        <p:spPr>
          <a:xfrm xmlns:a="http://schemas.openxmlformats.org/drawingml/2006/main">
            <a:off x="64770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76371"/>
                </a:solidFill>
                <a:latin typeface="Arial"/>
                <a:ea typeface="Arial"/>
                <a:cs typeface="Arial"/>
              </a:defRPr>
            </a:defPPr>
          </a:lstStyle>
          <a:p xmlns:a="http://schemas.openxmlformats.org/drawingml/2006/main">
            <a:pPr>
              <a:defRPr sz="1800" b="0">
                <a:solidFill>
                  <a:srgbClr val="476371"/>
                </a:solidFill>
                <a:latin typeface="Arial"/>
                <a:ea typeface="Arial"/>
                <a:cs typeface="Arial"/>
              </a:defRPr>
            </a:pPr>
            <a:r>
              <a:rPr sz="1800" b="0">
                <a:solidFill>
                  <a:srgbClr val="476371"/>
                </a:solidFill>
                <a:latin typeface="Arial"/>
                <a:ea typeface="Arial"/>
                <a:cs typeface="Arial"/>
              </a:rPr>
              <a:t>The first release focuses on an end-to-end sports activity</a:t>
            </a:r>
          </a:p>
        </p:txBody>
      </p:sp>
      <p:sp>
        <p:nvSpPr>
          <p:cNvPr id="4" name="">
            <a:extLst xmlns:a="http://schemas.openxmlformats.org/drawingml/2006/main">
              <a:ext uri="{FF2B5EF4-FFF2-40B4-BE49-F238E27FC236}">
                <a16:creationId xmlns:a16="http://schemas.microsoft.com/office/drawing/2014/main" id="{70FD8CBF-31B6-47C8-9250-BBCCCBC6ACB7}"/>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CAD676D7-0B6F-4F24-9E2D-823B5A3100C2}"/>
              </a:ext>
            </a:extLst>
          </p:cNvPr>
          <p:cNvGraphicFramePr/>
          <p:nvPr/>
        </p:nvGraphicFramePr>
        <p:xfrm>
          <a:off xmlns:a="http://schemas.openxmlformats.org/drawingml/2006/main" x="647700" y="1952625"/>
          <a:ext xmlns:a="http://schemas.openxmlformats.org/drawingml/2006/main" cx="10896600" cy="3476625"/>
        </p:xfrm>
        <a:graphic xmlns:a="http://schemas.openxmlformats.org/drawingml/2006/main">
          <a:graphicData uri="http://schemas.openxmlformats.org/drawingml/2006/table">
            <a:tbl>
              <a:tblPr/>
              <a:tblGrid>
                <a:gridCol w="2095500"/>
                <a:gridCol w="3905250"/>
                <a:gridCol w="4895850"/>
              </a:tblGrid>
              <a:tr h="695325">
                <a:tc>
                  <a:txBody>
                    <a:bodyPr/>
                    <a:lstStyle/>
                    <a:p>
                      <a:r>
                        <a:rPr sz="1875" b="1">
                          <a:solidFill>
                            <a:srgbClr val="183E50"/>
                          </a:solidFill>
                          <a:latin typeface="Arial"/>
                          <a:ea typeface="Arial"/>
                          <a:cs typeface="Arial"/>
                        </a:rPr>
                        <a:t>Step</a:t>
                      </a:r>
                    </a:p>
                  </a:txBody>
                  <a:tcPr marL="91440" marR="91440" marT="45720" marB="45720">
                    <a:solidFill>
                      <a:srgbClr val="FFD85C"/>
                    </a:solidFill>
                  </a:tcPr>
                </a:tc>
                <a:tc>
                  <a:txBody>
                    <a:bodyPr/>
                    <a:lstStyle/>
                    <a:p>
                      <a:r>
                        <a:rPr sz="1875" b="1">
                          <a:solidFill>
                            <a:srgbClr val="183E50"/>
                          </a:solidFill>
                          <a:latin typeface="Arial"/>
                          <a:ea typeface="Arial"/>
                          <a:cs typeface="Arial"/>
                        </a:rPr>
                        <a:t>Student action</a:t>
                      </a:r>
                    </a:p>
                  </a:txBody>
                  <a:tcPr marL="91440" marR="91440" marT="45720" marB="45720">
                    <a:solidFill>
                      <a:srgbClr val="FFD85C"/>
                    </a:solidFill>
                  </a:tcPr>
                </a:tc>
                <a:tc>
                  <a:txBody>
                    <a:bodyPr/>
                    <a:lstStyle/>
                    <a:p>
                      <a:r>
                        <a:rPr sz="1875" b="1">
                          <a:solidFill>
                            <a:srgbClr val="183E50"/>
                          </a:solidFill>
                          <a:latin typeface="Arial"/>
                          <a:ea typeface="Arial"/>
                          <a:cs typeface="Arial"/>
                        </a:rPr>
                        <a:t>Information captured</a:t>
                      </a:r>
                    </a:p>
                  </a:txBody>
                  <a:tcPr marL="91440" marR="91440" marT="45720" marB="45720">
                    <a:solidFill>
                      <a:srgbClr val="FFD85C"/>
                    </a:solidFill>
                  </a:tcPr>
                </a:tc>
              </a:tr>
              <a:tr h="695325">
                <a:tc>
                  <a:txBody>
                    <a:bodyPr/>
                    <a:lstStyle/>
                    <a:p>
                      <a:r>
                        <a:rPr sz="1875" b="0">
                          <a:solidFill>
                            <a:srgbClr val="183E50"/>
                          </a:solidFill>
                          <a:latin typeface="Arial"/>
                          <a:ea typeface="Arial"/>
                          <a:cs typeface="Arial"/>
                        </a:rPr>
                        <a:t>01  Create</a:t>
                      </a:r>
                    </a:p>
                  </a:txBody>
                  <a:tcPr marL="91440" marR="91440" marT="45720" marB="45720">
                    <a:solidFill>
                      <a:srgbClr val="FFFFFF"/>
                    </a:solidFill>
                  </a:tcPr>
                </a:tc>
                <a:tc>
                  <a:txBody>
                    <a:bodyPr/>
                    <a:lstStyle/>
                    <a:p>
                      <a:r>
                        <a:rPr sz="1875" b="0">
                          <a:solidFill>
                            <a:srgbClr val="183E50"/>
                          </a:solidFill>
                          <a:latin typeface="Arial"/>
                          <a:ea typeface="Arial"/>
                          <a:cs typeface="Arial"/>
                        </a:rPr>
                        <a:t>Post a sports activity</a:t>
                      </a:r>
                    </a:p>
                  </a:txBody>
                  <a:tcPr marL="91440" marR="91440" marT="45720" marB="45720">
                    <a:solidFill>
                      <a:srgbClr val="FFFFFF"/>
                    </a:solidFill>
                  </a:tcPr>
                </a:tc>
                <a:tc>
                  <a:txBody>
                    <a:bodyPr/>
                    <a:lstStyle/>
                    <a:p>
                      <a:r>
                        <a:rPr sz="1875" b="0">
                          <a:solidFill>
                            <a:srgbClr val="183E50"/>
                          </a:solidFill>
                          <a:latin typeface="Arial"/>
                          <a:ea typeface="Arial"/>
                          <a:cs typeface="Arial"/>
                        </a:rPr>
                        <a:t>Time, place, headcount, skill level</a:t>
                      </a:r>
                    </a:p>
                  </a:txBody>
                  <a:tcPr marL="91440" marR="91440" marT="45720" marB="45720">
                    <a:solidFill>
                      <a:srgbClr val="FFFFFF"/>
                    </a:solidFill>
                  </a:tcPr>
                </a:tc>
              </a:tr>
              <a:tr h="695325">
                <a:tc>
                  <a:txBody>
                    <a:bodyPr/>
                    <a:lstStyle/>
                    <a:p>
                      <a:r>
                        <a:rPr sz="1875" b="0">
                          <a:solidFill>
                            <a:srgbClr val="183E50"/>
                          </a:solidFill>
                          <a:latin typeface="Arial"/>
                          <a:ea typeface="Arial"/>
                          <a:cs typeface="Arial"/>
                        </a:rPr>
                        <a:t>02  Sign up</a:t>
                      </a:r>
                    </a:p>
                  </a:txBody>
                  <a:tcPr marL="91440" marR="91440" marT="45720" marB="45720">
                    <a:solidFill>
                      <a:srgbClr val="EFF7F8"/>
                    </a:solidFill>
                  </a:tcPr>
                </a:tc>
                <a:tc>
                  <a:txBody>
                    <a:bodyPr/>
                    <a:lstStyle/>
                    <a:p>
                      <a:r>
                        <a:rPr sz="1875" b="0">
                          <a:solidFill>
                            <a:srgbClr val="183E50"/>
                          </a:solidFill>
                          <a:latin typeface="Arial"/>
                          <a:ea typeface="Arial"/>
                          <a:cs typeface="Arial"/>
                        </a:rPr>
                        <a:t>Browse and join an activity</a:t>
                      </a:r>
                    </a:p>
                  </a:txBody>
                  <a:tcPr marL="91440" marR="91440" marT="45720" marB="45720">
                    <a:solidFill>
                      <a:srgbClr val="EFF7F8"/>
                    </a:solidFill>
                  </a:tcPr>
                </a:tc>
                <a:tc>
                  <a:txBody>
                    <a:bodyPr/>
                    <a:lstStyle/>
                    <a:p>
                      <a:r>
                        <a:rPr sz="1875" b="0">
                          <a:solidFill>
                            <a:srgbClr val="183E50"/>
                          </a:solidFill>
                          <a:latin typeface="Arial"/>
                          <a:ea typeface="Arial"/>
                          <a:cs typeface="Arial"/>
                        </a:rPr>
                        <a:t>Participation and available places</a:t>
                      </a:r>
                    </a:p>
                  </a:txBody>
                  <a:tcPr marL="91440" marR="91440" marT="45720" marB="45720">
                    <a:solidFill>
                      <a:srgbClr val="EFF7F8"/>
                    </a:solidFill>
                  </a:tcPr>
                </a:tc>
              </a:tr>
              <a:tr h="695325">
                <a:tc>
                  <a:txBody>
                    <a:bodyPr/>
                    <a:lstStyle/>
                    <a:p>
                      <a:r>
                        <a:rPr sz="1875" b="0">
                          <a:solidFill>
                            <a:srgbClr val="183E50"/>
                          </a:solidFill>
                          <a:latin typeface="Arial"/>
                          <a:ea typeface="Arial"/>
                          <a:cs typeface="Arial"/>
                        </a:rPr>
                        <a:t>03  Check in</a:t>
                      </a:r>
                    </a:p>
                  </a:txBody>
                  <a:tcPr marL="91440" marR="91440" marT="45720" marB="45720">
                    <a:solidFill>
                      <a:srgbClr val="FFFFFF"/>
                    </a:solidFill>
                  </a:tcPr>
                </a:tc>
                <a:tc>
                  <a:txBody>
                    <a:bodyPr/>
                    <a:lstStyle/>
                    <a:p>
                      <a:r>
                        <a:rPr sz="1875" b="0">
                          <a:solidFill>
                            <a:srgbClr val="183E50"/>
                          </a:solidFill>
                          <a:latin typeface="Arial"/>
                          <a:ea typeface="Arial"/>
                          <a:cs typeface="Arial"/>
                        </a:rPr>
                        <a:t>Record on-site participation</a:t>
                      </a:r>
                    </a:p>
                  </a:txBody>
                  <a:tcPr marL="91440" marR="91440" marT="45720" marB="45720">
                    <a:solidFill>
                      <a:srgbClr val="FFFFFF"/>
                    </a:solidFill>
                  </a:tcPr>
                </a:tc>
                <a:tc>
                  <a:txBody>
                    <a:bodyPr/>
                    <a:lstStyle/>
                    <a:p>
                      <a:r>
                        <a:rPr sz="1875" b="0">
                          <a:solidFill>
                            <a:srgbClr val="183E50"/>
                          </a:solidFill>
                          <a:latin typeface="Arial"/>
                          <a:ea typeface="Arial"/>
                          <a:cs typeface="Arial"/>
                        </a:rPr>
                        <a:t>Attendance record</a:t>
                      </a:r>
                    </a:p>
                  </a:txBody>
                  <a:tcPr marL="91440" marR="91440" marT="45720" marB="45720">
                    <a:solidFill>
                      <a:srgbClr val="FFFFFF"/>
                    </a:solidFill>
                  </a:tcPr>
                </a:tc>
              </a:tr>
              <a:tr h="695325">
                <a:tc>
                  <a:txBody>
                    <a:bodyPr/>
                    <a:lstStyle/>
                    <a:p>
                      <a:r>
                        <a:rPr sz="1875" b="0">
                          <a:solidFill>
                            <a:srgbClr val="183E50"/>
                          </a:solidFill>
                          <a:latin typeface="Arial"/>
                          <a:ea typeface="Arial"/>
                          <a:cs typeface="Arial"/>
                        </a:rPr>
                        <a:t>04  Review</a:t>
                      </a:r>
                    </a:p>
                  </a:txBody>
                  <a:tcPr marL="91440" marR="91440" marT="45720" marB="45720">
                    <a:solidFill>
                      <a:srgbClr val="EFF7F8"/>
                    </a:solidFill>
                  </a:tcPr>
                </a:tc>
                <a:tc>
                  <a:txBody>
                    <a:bodyPr/>
                    <a:lstStyle/>
                    <a:p>
                      <a:r>
                        <a:rPr sz="1875" b="0">
                          <a:solidFill>
                            <a:srgbClr val="183E50"/>
                          </a:solidFill>
                          <a:latin typeface="Arial"/>
                          <a:ea typeface="Arial"/>
                          <a:cs typeface="Arial"/>
                        </a:rPr>
                        <a:t>Rate fellow participants</a:t>
                      </a:r>
                    </a:p>
                  </a:txBody>
                  <a:tcPr marL="91440" marR="91440" marT="45720" marB="45720">
                    <a:solidFill>
                      <a:srgbClr val="EFF7F8"/>
                    </a:solidFill>
                  </a:tcPr>
                </a:tc>
                <a:tc>
                  <a:txBody>
                    <a:bodyPr/>
                    <a:lstStyle/>
                    <a:p>
                      <a:r>
                        <a:rPr sz="1875" b="0">
                          <a:solidFill>
                            <a:srgbClr val="183E50"/>
                          </a:solidFill>
                          <a:latin typeface="Arial"/>
                          <a:ea typeface="Arial"/>
                          <a:cs typeface="Arial"/>
                        </a:rPr>
                        <a:t>Feedback after the activity</a:t>
                      </a:r>
                    </a:p>
                  </a:txBody>
                  <a:tcPr marL="91440" marR="91440" marT="45720" marB="45720">
                    <a:solidFill>
                      <a:srgbClr val="EFF7F8"/>
                    </a:solidFill>
                  </a:tcPr>
                </a:tc>
              </a:tr>
            </a:tbl>
          </a:graphicData>
        </a:graphic>
      </p:graphicFrame>
    </p:spTree>
    <p:extLst>
      <p:ext uri="{BB962C8B-B14F-4D97-AF65-F5344CB8AC3E}">
        <p14:creationId xmlns:p14="http://schemas.microsoft.com/office/powerpoint/2010/main" val="872810638"/>
      </p:ext>
    </p:extLst>
  </p:cSld>
</p:sld>
</file>

<file path=ppt/slides/slide10.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5D08EA0-32A2-440E-9233-F3D336A5CD6B}"/>
              </a:ext>
            </a:extLst>
          </p:cNvPr>
          <p:cNvPicPr>
            <a:picLocks xmlns:a="http://schemas.openxmlformats.org/drawingml/2006/main" noChangeAspect="1"/>
          </p:cNvPicPr>
          <p:nvPr/>
        </p:nvPicPr>
        <p:blipFill>
          <a:blip xmlns:r="http://schemas.openxmlformats.org/officeDocument/2006/relationships" xmlns:a="http://schemas.openxmlformats.org/drawingml/2006/main" r:embed="R9790e24a729549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C972D13-B679-44BA-84B5-1B11CEB6570E}"/>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PLANNED ENHANCEMENTS</a:t>
            </a:r>
          </a:p>
        </p:txBody>
      </p:sp>
      <p:sp>
        <p:nvSpPr>
          <p:cNvPr id="3" name="">
            <a:extLst xmlns:a="http://schemas.openxmlformats.org/drawingml/2006/main">
              <a:ext uri="{FF2B5EF4-FFF2-40B4-BE49-F238E27FC236}">
                <a16:creationId xmlns:a16="http://schemas.microsoft.com/office/drawing/2014/main" id="{EB7EFC31-2F96-4A31-B92A-9922665A3A4A}"/>
              </a:ext>
            </a:extLst>
          </p:cNvPr>
          <p:cNvSpPr>
            <a:spLocks xmlns:a="http://schemas.openxmlformats.org/drawingml/2006/main" noGrp="1"/>
          </p:cNvSpPr>
          <p:nvPr/>
        </p:nvSpPr>
        <p:spPr>
          <a:xfrm xmlns:a="http://schemas.openxmlformats.org/drawingml/2006/main">
            <a:off x="64770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76371"/>
                </a:solidFill>
                <a:latin typeface="Arial"/>
                <a:ea typeface="Arial"/>
                <a:cs typeface="Arial"/>
              </a:defRPr>
            </a:defPPr>
          </a:lstStyle>
          <a:p xmlns:a="http://schemas.openxmlformats.org/drawingml/2006/main">
            <a:pPr>
              <a:defRPr sz="1800" b="0">
                <a:solidFill>
                  <a:srgbClr val="476371"/>
                </a:solidFill>
                <a:latin typeface="Arial"/>
                <a:ea typeface="Arial"/>
                <a:cs typeface="Arial"/>
              </a:defRPr>
            </a:pPr>
            <a:r>
              <a:rPr sz="1800" b="0">
                <a:solidFill>
                  <a:srgbClr val="476371"/>
                </a:solidFill>
                <a:latin typeface="Arial"/>
                <a:ea typeface="Arial"/>
                <a:cs typeface="Arial"/>
              </a:rPr>
              <a:t>Additional features follow a stable core flow</a:t>
            </a:r>
          </a:p>
        </p:txBody>
      </p:sp>
      <p:sp>
        <p:nvSpPr>
          <p:cNvPr id="4" name="">
            <a:extLst xmlns:a="http://schemas.openxmlformats.org/drawingml/2006/main">
              <a:ext uri="{FF2B5EF4-FFF2-40B4-BE49-F238E27FC236}">
                <a16:creationId xmlns:a16="http://schemas.microsoft.com/office/drawing/2014/main" id="{95ACC44D-BA22-4B67-9245-296FE71598A5}"/>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DE1FDF8C-E0EB-46D3-BB0A-AEEDBFBB3EDF}"/>
              </a:ext>
            </a:extLst>
          </p:cNvPr>
          <p:cNvGraphicFramePr/>
          <p:nvPr/>
        </p:nvGraphicFramePr>
        <p:xfrm>
          <a:off xmlns:a="http://schemas.openxmlformats.org/drawingml/2006/main" x="647700" y="1952625"/>
          <a:ext xmlns:a="http://schemas.openxmlformats.org/drawingml/2006/main" cx="10896600" cy="3476625"/>
        </p:xfrm>
        <a:graphic xmlns:a="http://schemas.openxmlformats.org/drawingml/2006/main">
          <a:graphicData uri="http://schemas.openxmlformats.org/drawingml/2006/table">
            <a:tbl>
              <a:tblPr/>
              <a:tblGrid>
                <a:gridCol w="3143250"/>
                <a:gridCol w="7753350"/>
              </a:tblGrid>
              <a:tr h="695325">
                <a:tc>
                  <a:txBody>
                    <a:bodyPr/>
                    <a:lstStyle/>
                    <a:p>
                      <a:r>
                        <a:rPr sz="1875" b="1">
                          <a:solidFill>
                            <a:srgbClr val="183E50"/>
                          </a:solidFill>
                          <a:latin typeface="Arial"/>
                          <a:ea typeface="Arial"/>
                          <a:cs typeface="Arial"/>
                        </a:rPr>
                        <a:t>Feature</a:t>
                      </a:r>
                    </a:p>
                  </a:txBody>
                  <a:tcPr marL="91440" marR="91440" marT="45720" marB="45720">
                    <a:solidFill>
                      <a:srgbClr val="FFD85C"/>
                    </a:solidFill>
                  </a:tcPr>
                </a:tc>
                <a:tc>
                  <a:txBody>
                    <a:bodyPr/>
                    <a:lstStyle/>
                    <a:p>
                      <a:r>
                        <a:rPr sz="1875" b="1">
                          <a:solidFill>
                            <a:srgbClr val="183E50"/>
                          </a:solidFill>
                          <a:latin typeface="Arial"/>
                          <a:ea typeface="Arial"/>
                          <a:cs typeface="Arial"/>
                        </a:rPr>
                        <a:t>Purpose</a:t>
                      </a:r>
                    </a:p>
                  </a:txBody>
                  <a:tcPr marL="91440" marR="91440" marT="45720" marB="45720">
                    <a:solidFill>
                      <a:srgbClr val="FFD85C"/>
                    </a:solidFill>
                  </a:tcPr>
                </a:tc>
              </a:tr>
              <a:tr h="695325">
                <a:tc>
                  <a:txBody>
                    <a:bodyPr/>
                    <a:lstStyle/>
                    <a:p>
                      <a:r>
                        <a:rPr sz="1875" b="0">
                          <a:solidFill>
                            <a:srgbClr val="183E50"/>
                          </a:solidFill>
                          <a:latin typeface="Arial"/>
                          <a:ea typeface="Arial"/>
                          <a:cs typeface="Arial"/>
                        </a:rPr>
                        <a:t>Reliability score</a:t>
                      </a:r>
                    </a:p>
                  </a:txBody>
                  <a:tcPr marL="91440" marR="91440" marT="45720" marB="45720">
                    <a:solidFill>
                      <a:srgbClr val="FFFFFF"/>
                    </a:solidFill>
                  </a:tcPr>
                </a:tc>
                <a:tc>
                  <a:txBody>
                    <a:bodyPr/>
                    <a:lstStyle/>
                    <a:p>
                      <a:r>
                        <a:rPr sz="1875" b="0">
                          <a:solidFill>
                            <a:srgbClr val="183E50"/>
                          </a:solidFill>
                          <a:latin typeface="Arial"/>
                          <a:ea typeface="Arial"/>
                          <a:cs typeface="Arial"/>
                        </a:rPr>
                        <a:t>Use attendance and reviews to discourage no-shows</a:t>
                      </a:r>
                    </a:p>
                  </a:txBody>
                  <a:tcPr marL="91440" marR="91440" marT="45720" marB="45720">
                    <a:solidFill>
                      <a:srgbClr val="FFFFFF"/>
                    </a:solidFill>
                  </a:tcPr>
                </a:tc>
              </a:tr>
              <a:tr h="695325">
                <a:tc>
                  <a:txBody>
                    <a:bodyPr/>
                    <a:lstStyle/>
                    <a:p>
                      <a:r>
                        <a:rPr sz="1875" b="0">
                          <a:solidFill>
                            <a:srgbClr val="183E50"/>
                          </a:solidFill>
                          <a:latin typeface="Arial"/>
                          <a:ea typeface="Arial"/>
                          <a:cs typeface="Arial"/>
                        </a:rPr>
                        <a:t>Smart matching</a:t>
                      </a:r>
                    </a:p>
                  </a:txBody>
                  <a:tcPr marL="91440" marR="91440" marT="45720" marB="45720">
                    <a:solidFill>
                      <a:srgbClr val="EFF7F8"/>
                    </a:solidFill>
                  </a:tcPr>
                </a:tc>
                <a:tc>
                  <a:txBody>
                    <a:bodyPr/>
                    <a:lstStyle/>
                    <a:p>
                      <a:r>
                        <a:rPr sz="1875" b="0">
                          <a:solidFill>
                            <a:srgbClr val="183E50"/>
                          </a:solidFill>
                          <a:latin typeface="Arial"/>
                          <a:ea typeface="Arial"/>
                          <a:cs typeface="Arial"/>
                        </a:rPr>
                        <a:t>Recommend activities and partners by time, place and skill</a:t>
                      </a:r>
                    </a:p>
                  </a:txBody>
                  <a:tcPr marL="91440" marR="91440" marT="45720" marB="45720">
                    <a:solidFill>
                      <a:srgbClr val="EFF7F8"/>
                    </a:solidFill>
                  </a:tcPr>
                </a:tc>
              </a:tr>
              <a:tr h="695325">
                <a:tc>
                  <a:txBody>
                    <a:bodyPr/>
                    <a:lstStyle/>
                    <a:p>
                      <a:r>
                        <a:rPr sz="1875" b="0">
                          <a:solidFill>
                            <a:srgbClr val="183E50"/>
                          </a:solidFill>
                          <a:latin typeface="Arial"/>
                          <a:ea typeface="Arial"/>
                          <a:cs typeface="Arial"/>
                        </a:rPr>
                        <a:t>One-line creation</a:t>
                      </a:r>
                    </a:p>
                  </a:txBody>
                  <a:tcPr marL="91440" marR="91440" marT="45720" marB="45720">
                    <a:solidFill>
                      <a:srgbClr val="FFFFFF"/>
                    </a:solidFill>
                  </a:tcPr>
                </a:tc>
                <a:tc>
                  <a:txBody>
                    <a:bodyPr/>
                    <a:lstStyle/>
                    <a:p>
                      <a:r>
                        <a:rPr sz="1875" b="0">
                          <a:solidFill>
                            <a:srgbClr val="183E50"/>
                          </a:solidFill>
                          <a:latin typeface="Arial"/>
                          <a:ea typeface="Arial"/>
                          <a:cs typeface="Arial"/>
                        </a:rPr>
                        <a:t>Create an activity from a natural-language sentence</a:t>
                      </a:r>
                    </a:p>
                  </a:txBody>
                  <a:tcPr marL="91440" marR="91440" marT="45720" marB="45720">
                    <a:solidFill>
                      <a:srgbClr val="FFFFFF"/>
                    </a:solidFill>
                  </a:tcPr>
                </a:tc>
              </a:tr>
              <a:tr h="695325">
                <a:tc>
                  <a:txBody>
                    <a:bodyPr/>
                    <a:lstStyle/>
                    <a:p>
                      <a:r>
                        <a:rPr sz="1875" b="0">
                          <a:solidFill>
                            <a:srgbClr val="183E50"/>
                          </a:solidFill>
                          <a:latin typeface="Arial"/>
                          <a:ea typeface="Arial"/>
                          <a:cs typeface="Arial"/>
                        </a:rPr>
                        <a:t>Weather tips</a:t>
                      </a:r>
                    </a:p>
                  </a:txBody>
                  <a:tcPr marL="91440" marR="91440" marT="45720" marB="45720">
                    <a:solidFill>
                      <a:srgbClr val="EFF7F8"/>
                    </a:solidFill>
                  </a:tcPr>
                </a:tc>
                <a:tc>
                  <a:txBody>
                    <a:bodyPr/>
                    <a:lstStyle/>
                    <a:p>
                      <a:r>
                        <a:rPr sz="1875" b="0">
                          <a:solidFill>
                            <a:srgbClr val="183E50"/>
                          </a:solidFill>
                          <a:latin typeface="Arial"/>
                          <a:ea typeface="Arial"/>
                          <a:cs typeface="Arial"/>
                        </a:rPr>
                        <a:t>Offer activity suggestions based on weather</a:t>
                      </a:r>
                    </a:p>
                  </a:txBody>
                  <a:tcPr marL="91440" marR="91440" marT="45720" marB="45720">
                    <a:solidFill>
                      <a:srgbClr val="EFF7F8"/>
                    </a:solidFill>
                  </a:tcPr>
                </a:tc>
              </a:tr>
            </a:tbl>
          </a:graphicData>
        </a:graphic>
      </p:graphicFrame>
      <p:sp>
        <p:nvSpPr>
          <p:cNvPr id="6" name="">
            <a:extLst xmlns:a="http://schemas.openxmlformats.org/drawingml/2006/main">
              <a:ext uri="{FF2B5EF4-FFF2-40B4-BE49-F238E27FC236}">
                <a16:creationId xmlns:a16="http://schemas.microsoft.com/office/drawing/2014/main" id="{AC00CD29-7950-42CD-8706-F73B674D2A7C}"/>
              </a:ext>
            </a:extLst>
          </p:cNvPr>
          <p:cNvSpPr>
            <a:spLocks xmlns:a="http://schemas.openxmlformats.org/drawingml/2006/main" noGrp="1"/>
          </p:cNvSpPr>
          <p:nvPr/>
        </p:nvSpPr>
        <p:spPr>
          <a:xfrm xmlns:a="http://schemas.openxmlformats.org/drawingml/2006/main">
            <a:off x="685800" y="5791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76371"/>
                </a:solidFill>
                <a:latin typeface="Arial"/>
                <a:ea typeface="Arial"/>
                <a:cs typeface="Arial"/>
              </a:defRPr>
            </a:defPPr>
          </a:lstStyle>
          <a:p xmlns:a="http://schemas.openxmlformats.org/drawingml/2006/main">
            <a:pPr>
              <a:defRPr sz="1725" b="0">
                <a:solidFill>
                  <a:srgbClr val="476371"/>
                </a:solidFill>
                <a:latin typeface="Arial"/>
                <a:ea typeface="Arial"/>
                <a:cs typeface="Arial"/>
              </a:defRPr>
            </a:pPr>
            <a:r>
              <a:rPr sz="1725" b="0">
                <a:solidFill>
                  <a:srgbClr val="476371"/>
                </a:solidFill>
                <a:latin typeface="Arial"/>
                <a:ea typeface="Arial"/>
                <a:cs typeface="Arial"/>
              </a:rPr>
              <a:t>Technology stack: to be decided during the design phase.</a:t>
            </a:r>
          </a:p>
        </p:txBody>
      </p:sp>
    </p:spTree>
    <p:extLst>
      <p:ext uri="{BB962C8B-B14F-4D97-AF65-F5344CB8AC3E}">
        <p14:creationId xmlns:p14="http://schemas.microsoft.com/office/powerpoint/2010/main" val="772684"/>
      </p:ext>
    </p:extLst>
  </p:cSld>
</p:sld>
</file>

<file path=ppt/slides/slide11.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3E9DEC9-D64D-4AD7-85E8-E5F49EC17ABB}"/>
              </a:ext>
            </a:extLst>
          </p:cNvPr>
          <p:cNvPicPr>
            <a:picLocks xmlns:a="http://schemas.openxmlformats.org/drawingml/2006/main" noChangeAspect="1"/>
          </p:cNvPicPr>
          <p:nvPr/>
        </p:nvPicPr>
        <p:blipFill>
          <a:blip xmlns:r="http://schemas.openxmlformats.org/officeDocument/2006/relationships" xmlns:a="http://schemas.openxmlformats.org/drawingml/2006/main" r:embed="R635fba017c0746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30BE8FF-F7BB-4AE3-ACC8-04AE73D91378}"/>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NABCD: NEED, APPROACH AND BENEFIT</a:t>
            </a:r>
          </a:p>
        </p:txBody>
      </p:sp>
      <p:sp>
        <p:nvSpPr>
          <p:cNvPr id="3" name="">
            <a:extLst xmlns:a="http://schemas.openxmlformats.org/drawingml/2006/main">
              <a:ext uri="{FF2B5EF4-FFF2-40B4-BE49-F238E27FC236}">
                <a16:creationId xmlns:a16="http://schemas.microsoft.com/office/drawing/2014/main" id="{5D486424-66CC-4ED2-876C-3D36DE4E5ADF}"/>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2A1A274A-8F98-4485-9F82-ABF2427014E9}"/>
              </a:ext>
            </a:extLst>
          </p:cNvPr>
          <p:cNvSpPr>
            <a:spLocks xmlns:a="http://schemas.openxmlformats.org/drawingml/2006/main" noGrp="1"/>
          </p:cNvSpPr>
          <p:nvPr/>
        </p:nvSpPr>
        <p:spPr>
          <a:xfrm xmlns:a="http://schemas.openxmlformats.org/drawingml/2006/main">
            <a:off x="666750" y="1933575"/>
            <a:ext cx="685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0">
                <a:solidFill>
                  <a:srgbClr val="AC6900"/>
                </a:solidFill>
                <a:latin typeface="Impact"/>
                <a:ea typeface="Impact"/>
                <a:cs typeface="Impact"/>
              </a:defRPr>
            </a:defPPr>
          </a:lstStyle>
          <a:p xmlns:a="http://schemas.openxmlformats.org/drawingml/2006/main">
            <a:pPr>
              <a:defRPr sz="4050" b="0">
                <a:solidFill>
                  <a:srgbClr val="AC6900"/>
                </a:solidFill>
                <a:latin typeface="Impact"/>
                <a:ea typeface="Impact"/>
                <a:cs typeface="Impact"/>
              </a:defRPr>
            </a:pPr>
            <a:r>
              <a:rPr sz="4050" b="0">
                <a:solidFill>
                  <a:srgbClr val="AC6900"/>
                </a:solidFill>
                <a:latin typeface="Impact"/>
                <a:ea typeface="Impact"/>
                <a:cs typeface="Impact"/>
              </a:rPr>
              <a:t>N</a:t>
            </a:r>
          </a:p>
        </p:txBody>
      </p:sp>
      <p:sp>
        <p:nvSpPr>
          <p:cNvPr id="5" name="">
            <a:extLst xmlns:a="http://schemas.openxmlformats.org/drawingml/2006/main">
              <a:ext uri="{FF2B5EF4-FFF2-40B4-BE49-F238E27FC236}">
                <a16:creationId xmlns:a16="http://schemas.microsoft.com/office/drawing/2014/main" id="{9C83F52D-DC1B-4C49-8F85-05964FA660E4}"/>
              </a:ext>
            </a:extLst>
          </p:cNvPr>
          <p:cNvSpPr>
            <a:spLocks xmlns:a="http://schemas.openxmlformats.org/drawingml/2006/main" noGrp="1"/>
          </p:cNvSpPr>
          <p:nvPr/>
        </p:nvSpPr>
        <p:spPr>
          <a:xfrm xmlns:a="http://schemas.openxmlformats.org/drawingml/2006/main">
            <a:off x="1638300" y="19526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9819B"/>
                </a:solidFill>
                <a:latin typeface="Arial"/>
                <a:ea typeface="Arial"/>
                <a:cs typeface="Arial"/>
              </a:defRPr>
            </a:defPPr>
          </a:lstStyle>
          <a:p xmlns:a="http://schemas.openxmlformats.org/drawingml/2006/main">
            <a:pPr>
              <a:defRPr sz="2250" b="1">
                <a:solidFill>
                  <a:srgbClr val="19819B"/>
                </a:solidFill>
                <a:latin typeface="Arial"/>
                <a:ea typeface="Arial"/>
                <a:cs typeface="Arial"/>
              </a:defRPr>
            </a:pPr>
            <a:r>
              <a:rPr sz="2250" b="1">
                <a:solidFill>
                  <a:srgbClr val="19819B"/>
                </a:solidFill>
                <a:latin typeface="Arial"/>
                <a:ea typeface="Arial"/>
                <a:cs typeface="Arial"/>
              </a:rPr>
              <a:t>Need</a:t>
            </a:r>
          </a:p>
        </p:txBody>
      </p:sp>
      <p:sp>
        <p:nvSpPr>
          <p:cNvPr id="6" name="">
            <a:extLst xmlns:a="http://schemas.openxmlformats.org/drawingml/2006/main">
              <a:ext uri="{FF2B5EF4-FFF2-40B4-BE49-F238E27FC236}">
                <a16:creationId xmlns:a16="http://schemas.microsoft.com/office/drawing/2014/main" id="{4180A9C8-B41D-4B49-844C-D1616C5DEF0F}"/>
              </a:ext>
            </a:extLst>
          </p:cNvPr>
          <p:cNvSpPr>
            <a:spLocks xmlns:a="http://schemas.openxmlformats.org/drawingml/2006/main" noGrp="1"/>
          </p:cNvSpPr>
          <p:nvPr/>
        </p:nvSpPr>
        <p:spPr>
          <a:xfrm xmlns:a="http://schemas.openxmlformats.org/drawingml/2006/main">
            <a:off x="3962400" y="1933575"/>
            <a:ext cx="7429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E50"/>
                </a:solidFill>
                <a:latin typeface="Arial"/>
                <a:ea typeface="Arial"/>
                <a:cs typeface="Arial"/>
              </a:defRPr>
            </a:defPPr>
          </a:lstStyle>
          <a:p xmlns:a="http://schemas.openxmlformats.org/drawingml/2006/main">
            <a:pPr>
              <a:defRPr sz="2175" b="0">
                <a:solidFill>
                  <a:srgbClr val="183E50"/>
                </a:solidFill>
                <a:latin typeface="Arial"/>
                <a:ea typeface="Arial"/>
                <a:cs typeface="Arial"/>
              </a:defRPr>
            </a:pPr>
            <a:r>
              <a:rPr sz="2175" b="0">
                <a:solidFill>
                  <a:srgbClr val="183E50"/>
                </a:solidFill>
                <a:latin typeface="Arial"/>
                <a:ea typeface="Arial"/>
                <a:cs typeface="Arial"/>
              </a:rPr>
              <a:t>Students need a lightweight way to find sports partners who fit their plans and show up.</a:t>
            </a:r>
          </a:p>
        </p:txBody>
      </p:sp>
      <p:sp>
        <p:nvSpPr>
          <p:cNvPr id="7" name="">
            <a:extLst xmlns:a="http://schemas.openxmlformats.org/drawingml/2006/main">
              <a:ext uri="{FF2B5EF4-FFF2-40B4-BE49-F238E27FC236}">
                <a16:creationId xmlns:a16="http://schemas.microsoft.com/office/drawing/2014/main" id="{5DBFE380-B7E0-4C7A-8119-C1294313A87B}"/>
              </a:ext>
            </a:extLst>
          </p:cNvPr>
          <p:cNvSpPr>
            <a:spLocks xmlns:a="http://schemas.openxmlformats.org/drawingml/2006/main" noGrp="1"/>
          </p:cNvSpPr>
          <p:nvPr/>
        </p:nvSpPr>
        <p:spPr>
          <a:xfrm xmlns:a="http://schemas.openxmlformats.org/drawingml/2006/main">
            <a:off x="666750" y="3257550"/>
            <a:ext cx="685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0">
                <a:solidFill>
                  <a:srgbClr val="AC6900"/>
                </a:solidFill>
                <a:latin typeface="Impact"/>
                <a:ea typeface="Impact"/>
                <a:cs typeface="Impact"/>
              </a:defRPr>
            </a:defPPr>
          </a:lstStyle>
          <a:p xmlns:a="http://schemas.openxmlformats.org/drawingml/2006/main">
            <a:pPr>
              <a:defRPr sz="4050" b="0">
                <a:solidFill>
                  <a:srgbClr val="AC6900"/>
                </a:solidFill>
                <a:latin typeface="Impact"/>
                <a:ea typeface="Impact"/>
                <a:cs typeface="Impact"/>
              </a:defRPr>
            </a:pPr>
            <a:r>
              <a:rPr sz="4050" b="0">
                <a:solidFill>
                  <a:srgbClr val="AC6900"/>
                </a:solidFill>
                <a:latin typeface="Impact"/>
                <a:ea typeface="Impact"/>
                <a:cs typeface="Impact"/>
              </a:rPr>
              <a:t>A</a:t>
            </a:r>
          </a:p>
        </p:txBody>
      </p:sp>
      <p:sp>
        <p:nvSpPr>
          <p:cNvPr id="8" name="">
            <a:extLst xmlns:a="http://schemas.openxmlformats.org/drawingml/2006/main">
              <a:ext uri="{FF2B5EF4-FFF2-40B4-BE49-F238E27FC236}">
                <a16:creationId xmlns:a16="http://schemas.microsoft.com/office/drawing/2014/main" id="{BA4D2A34-8B58-4BC2-80A9-297C28FD4A5B}"/>
              </a:ext>
            </a:extLst>
          </p:cNvPr>
          <p:cNvSpPr>
            <a:spLocks xmlns:a="http://schemas.openxmlformats.org/drawingml/2006/main" noGrp="1"/>
          </p:cNvSpPr>
          <p:nvPr/>
        </p:nvSpPr>
        <p:spPr>
          <a:xfrm xmlns:a="http://schemas.openxmlformats.org/drawingml/2006/main">
            <a:off x="1638300" y="32766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9819B"/>
                </a:solidFill>
                <a:latin typeface="Arial"/>
                <a:ea typeface="Arial"/>
                <a:cs typeface="Arial"/>
              </a:defRPr>
            </a:defPPr>
          </a:lstStyle>
          <a:p xmlns:a="http://schemas.openxmlformats.org/drawingml/2006/main">
            <a:pPr>
              <a:defRPr sz="2250" b="1">
                <a:solidFill>
                  <a:srgbClr val="19819B"/>
                </a:solidFill>
                <a:latin typeface="Arial"/>
                <a:ea typeface="Arial"/>
                <a:cs typeface="Arial"/>
              </a:defRPr>
            </a:pPr>
            <a:r>
              <a:rPr sz="2250" b="1">
                <a:solidFill>
                  <a:srgbClr val="19819B"/>
                </a:solidFill>
                <a:latin typeface="Arial"/>
                <a:ea typeface="Arial"/>
                <a:cs typeface="Arial"/>
              </a:rPr>
              <a:t>Approach</a:t>
            </a:r>
          </a:p>
        </p:txBody>
      </p:sp>
      <p:sp>
        <p:nvSpPr>
          <p:cNvPr id="9" name="">
            <a:extLst xmlns:a="http://schemas.openxmlformats.org/drawingml/2006/main">
              <a:ext uri="{FF2B5EF4-FFF2-40B4-BE49-F238E27FC236}">
                <a16:creationId xmlns:a16="http://schemas.microsoft.com/office/drawing/2014/main" id="{1A11165B-E37E-45F5-A00E-F892DB02DCF1}"/>
              </a:ext>
            </a:extLst>
          </p:cNvPr>
          <p:cNvSpPr>
            <a:spLocks xmlns:a="http://schemas.openxmlformats.org/drawingml/2006/main" noGrp="1"/>
          </p:cNvSpPr>
          <p:nvPr/>
        </p:nvSpPr>
        <p:spPr>
          <a:xfrm xmlns:a="http://schemas.openxmlformats.org/drawingml/2006/main">
            <a:off x="3962400" y="3257550"/>
            <a:ext cx="7429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E50"/>
                </a:solidFill>
                <a:latin typeface="Arial"/>
                <a:ea typeface="Arial"/>
                <a:cs typeface="Arial"/>
              </a:defRPr>
            </a:defPPr>
          </a:lstStyle>
          <a:p xmlns:a="http://schemas.openxmlformats.org/drawingml/2006/main">
            <a:pPr>
              <a:defRPr sz="2175" b="0">
                <a:solidFill>
                  <a:srgbClr val="183E50"/>
                </a:solidFill>
                <a:latin typeface="Arial"/>
                <a:ea typeface="Arial"/>
                <a:cs typeface="Arial"/>
              </a:defRPr>
            </a:pPr>
            <a:r>
              <a:rPr sz="2175" b="0">
                <a:solidFill>
                  <a:srgbClr val="183E50"/>
                </a:solidFill>
                <a:latin typeface="Arial"/>
                <a:ea typeface="Arial"/>
                <a:cs typeface="Arial"/>
              </a:rPr>
              <a:t>Build the activity flow first, then introduce reliability scoring and smarter matching.</a:t>
            </a:r>
          </a:p>
        </p:txBody>
      </p:sp>
      <p:sp>
        <p:nvSpPr>
          <p:cNvPr id="10" name="">
            <a:extLst xmlns:a="http://schemas.openxmlformats.org/drawingml/2006/main">
              <a:ext uri="{FF2B5EF4-FFF2-40B4-BE49-F238E27FC236}">
                <a16:creationId xmlns:a16="http://schemas.microsoft.com/office/drawing/2014/main" id="{FF5E3429-BAC4-431E-9C5D-23142F0F7868}"/>
              </a:ext>
            </a:extLst>
          </p:cNvPr>
          <p:cNvSpPr>
            <a:spLocks xmlns:a="http://schemas.openxmlformats.org/drawingml/2006/main" noGrp="1"/>
          </p:cNvSpPr>
          <p:nvPr/>
        </p:nvSpPr>
        <p:spPr>
          <a:xfrm xmlns:a="http://schemas.openxmlformats.org/drawingml/2006/main">
            <a:off x="666750" y="4581525"/>
            <a:ext cx="685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0">
                <a:solidFill>
                  <a:srgbClr val="AC6900"/>
                </a:solidFill>
                <a:latin typeface="Impact"/>
                <a:ea typeface="Impact"/>
                <a:cs typeface="Impact"/>
              </a:defRPr>
            </a:defPPr>
          </a:lstStyle>
          <a:p xmlns:a="http://schemas.openxmlformats.org/drawingml/2006/main">
            <a:pPr>
              <a:defRPr sz="4050" b="0">
                <a:solidFill>
                  <a:srgbClr val="AC6900"/>
                </a:solidFill>
                <a:latin typeface="Impact"/>
                <a:ea typeface="Impact"/>
                <a:cs typeface="Impact"/>
              </a:defRPr>
            </a:pPr>
            <a:r>
              <a:rPr sz="4050" b="0">
                <a:solidFill>
                  <a:srgbClr val="AC6900"/>
                </a:solidFill>
                <a:latin typeface="Impact"/>
                <a:ea typeface="Impact"/>
                <a:cs typeface="Impact"/>
              </a:rPr>
              <a:t>B</a:t>
            </a:r>
          </a:p>
        </p:txBody>
      </p:sp>
      <p:sp>
        <p:nvSpPr>
          <p:cNvPr id="11" name="">
            <a:extLst xmlns:a="http://schemas.openxmlformats.org/drawingml/2006/main">
              <a:ext uri="{FF2B5EF4-FFF2-40B4-BE49-F238E27FC236}">
                <a16:creationId xmlns:a16="http://schemas.microsoft.com/office/drawing/2014/main" id="{9FDA6D81-322A-4366-93C0-C5D074574981}"/>
              </a:ext>
            </a:extLst>
          </p:cNvPr>
          <p:cNvSpPr>
            <a:spLocks xmlns:a="http://schemas.openxmlformats.org/drawingml/2006/main" noGrp="1"/>
          </p:cNvSpPr>
          <p:nvPr/>
        </p:nvSpPr>
        <p:spPr>
          <a:xfrm xmlns:a="http://schemas.openxmlformats.org/drawingml/2006/main">
            <a:off x="1638300" y="460057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9819B"/>
                </a:solidFill>
                <a:latin typeface="Arial"/>
                <a:ea typeface="Arial"/>
                <a:cs typeface="Arial"/>
              </a:defRPr>
            </a:defPPr>
          </a:lstStyle>
          <a:p xmlns:a="http://schemas.openxmlformats.org/drawingml/2006/main">
            <a:pPr>
              <a:defRPr sz="2250" b="1">
                <a:solidFill>
                  <a:srgbClr val="19819B"/>
                </a:solidFill>
                <a:latin typeface="Arial"/>
                <a:ea typeface="Arial"/>
                <a:cs typeface="Arial"/>
              </a:defRPr>
            </a:pPr>
            <a:r>
              <a:rPr sz="2250" b="1">
                <a:solidFill>
                  <a:srgbClr val="19819B"/>
                </a:solidFill>
                <a:latin typeface="Arial"/>
                <a:ea typeface="Arial"/>
                <a:cs typeface="Arial"/>
              </a:rPr>
              <a:t>Benefit</a:t>
            </a:r>
          </a:p>
        </p:txBody>
      </p:sp>
      <p:sp>
        <p:nvSpPr>
          <p:cNvPr id="12" name="">
            <a:extLst xmlns:a="http://schemas.openxmlformats.org/drawingml/2006/main">
              <a:ext uri="{FF2B5EF4-FFF2-40B4-BE49-F238E27FC236}">
                <a16:creationId xmlns:a16="http://schemas.microsoft.com/office/drawing/2014/main" id="{0F9DC6C7-B4B1-420A-AA9C-AF2545711A40}"/>
              </a:ext>
            </a:extLst>
          </p:cNvPr>
          <p:cNvSpPr>
            <a:spLocks xmlns:a="http://schemas.openxmlformats.org/drawingml/2006/main" noGrp="1"/>
          </p:cNvSpPr>
          <p:nvPr/>
        </p:nvSpPr>
        <p:spPr>
          <a:xfrm xmlns:a="http://schemas.openxmlformats.org/drawingml/2006/main">
            <a:off x="3962400" y="4581525"/>
            <a:ext cx="7429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E50"/>
                </a:solidFill>
                <a:latin typeface="Arial"/>
                <a:ea typeface="Arial"/>
                <a:cs typeface="Arial"/>
              </a:defRPr>
            </a:defPPr>
          </a:lstStyle>
          <a:p xmlns:a="http://schemas.openxmlformats.org/drawingml/2006/main">
            <a:pPr>
              <a:defRPr sz="2175" b="0">
                <a:solidFill>
                  <a:srgbClr val="183E50"/>
                </a:solidFill>
                <a:latin typeface="Arial"/>
                <a:ea typeface="Arial"/>
                <a:cs typeface="Arial"/>
              </a:defRPr>
            </a:pPr>
            <a:r>
              <a:rPr sz="2175" b="0">
                <a:solidFill>
                  <a:srgbClr val="183E50"/>
                </a:solidFill>
                <a:latin typeface="Arial"/>
                <a:ea typeface="Arial"/>
                <a:cs typeface="Arial"/>
              </a:rPr>
              <a:t>Make sports easier to organize, reduce no-shows and improve the experience of playing together.</a:t>
            </a:r>
          </a:p>
        </p:txBody>
      </p:sp>
    </p:spTree>
    <p:extLst>
      <p:ext uri="{BB962C8B-B14F-4D97-AF65-F5344CB8AC3E}">
        <p14:creationId xmlns:p14="http://schemas.microsoft.com/office/powerpoint/2010/main" val="1234371322"/>
      </p:ext>
    </p:extLst>
  </p:cSld>
</p:sld>
</file>

<file path=ppt/slides/slide12.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331995A7-A8C8-4A60-81C8-B3CBAA1DD953}"/>
              </a:ext>
            </a:extLst>
          </p:cNvPr>
          <p:cNvPicPr>
            <a:picLocks xmlns:a="http://schemas.openxmlformats.org/drawingml/2006/main" noChangeAspect="1"/>
          </p:cNvPicPr>
          <p:nvPr/>
        </p:nvPicPr>
        <p:blipFill>
          <a:blip xmlns:r="http://schemas.openxmlformats.org/officeDocument/2006/relationships" xmlns:a="http://schemas.openxmlformats.org/drawingml/2006/main" r:embed="R4201e90d760f4c3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8C3C19A-78B3-4A2C-9007-D5151F20EDA2}"/>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NABCD: COMPETITOR POSITIONING</a:t>
            </a:r>
          </a:p>
        </p:txBody>
      </p:sp>
      <p:sp>
        <p:nvSpPr>
          <p:cNvPr id="3" name="">
            <a:extLst xmlns:a="http://schemas.openxmlformats.org/drawingml/2006/main">
              <a:ext uri="{FF2B5EF4-FFF2-40B4-BE49-F238E27FC236}">
                <a16:creationId xmlns:a16="http://schemas.microsoft.com/office/drawing/2014/main" id="{63D3C42A-9A8F-4366-BFE2-5567E872C222}"/>
              </a:ext>
            </a:extLst>
          </p:cNvPr>
          <p:cNvSpPr>
            <a:spLocks xmlns:a="http://schemas.openxmlformats.org/drawingml/2006/main" noGrp="1"/>
          </p:cNvSpPr>
          <p:nvPr/>
        </p:nvSpPr>
        <p:spPr>
          <a:xfrm xmlns:a="http://schemas.openxmlformats.org/drawingml/2006/main">
            <a:off x="64770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76371"/>
                </a:solidFill>
                <a:latin typeface="Arial"/>
                <a:ea typeface="Arial"/>
                <a:cs typeface="Arial"/>
              </a:defRPr>
            </a:defPPr>
          </a:lstStyle>
          <a:p xmlns:a="http://schemas.openxmlformats.org/drawingml/2006/main">
            <a:pPr>
              <a:defRPr sz="1800" b="0">
                <a:solidFill>
                  <a:srgbClr val="476371"/>
                </a:solidFill>
                <a:latin typeface="Arial"/>
                <a:ea typeface="Arial"/>
                <a:cs typeface="Arial"/>
              </a:defRPr>
            </a:pPr>
            <a:r>
              <a:rPr sz="1800" b="0">
                <a:solidFill>
                  <a:srgbClr val="476371"/>
                </a:solidFill>
                <a:latin typeface="Arial"/>
                <a:ea typeface="Arial"/>
                <a:cs typeface="Arial"/>
              </a:rPr>
              <a:t>Initial comparisons from the team proposal; further research is pending</a:t>
            </a:r>
          </a:p>
        </p:txBody>
      </p:sp>
      <p:sp>
        <p:nvSpPr>
          <p:cNvPr id="4" name="">
            <a:extLst xmlns:a="http://schemas.openxmlformats.org/drawingml/2006/main">
              <a:ext uri="{FF2B5EF4-FFF2-40B4-BE49-F238E27FC236}">
                <a16:creationId xmlns:a16="http://schemas.microsoft.com/office/drawing/2014/main" id="{2722571E-6407-4A53-A1E4-620F3DDD8C0B}"/>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669AE152-C821-474C-89BD-C7E0A1E345E2}"/>
              </a:ext>
            </a:extLst>
          </p:cNvPr>
          <p:cNvGraphicFramePr/>
          <p:nvPr/>
        </p:nvGraphicFramePr>
        <p:xfrm>
          <a:off xmlns:a="http://schemas.openxmlformats.org/drawingml/2006/main" x="647700" y="2009775"/>
          <a:ext xmlns:a="http://schemas.openxmlformats.org/drawingml/2006/main" cx="10896600" cy="3476625"/>
        </p:xfrm>
        <a:graphic xmlns:a="http://schemas.openxmlformats.org/drawingml/2006/main">
          <a:graphicData uri="http://schemas.openxmlformats.org/drawingml/2006/table">
            <a:tbl>
              <a:tblPr/>
              <a:tblGrid>
                <a:gridCol w="3095625"/>
                <a:gridCol w="3619500"/>
                <a:gridCol w="4181475"/>
              </a:tblGrid>
              <a:tr h="695325">
                <a:tc>
                  <a:txBody>
                    <a:bodyPr/>
                    <a:lstStyle/>
                    <a:p>
                      <a:r>
                        <a:rPr sz="1800" b="1">
                          <a:solidFill>
                            <a:srgbClr val="183E50"/>
                          </a:solidFill>
                          <a:latin typeface="Arial"/>
                          <a:ea typeface="Arial"/>
                          <a:cs typeface="Arial"/>
                        </a:rPr>
                        <a:t>Alternative</a:t>
                      </a:r>
                    </a:p>
                  </a:txBody>
                  <a:tcPr marL="91440" marR="91440" marT="45720" marB="45720">
                    <a:solidFill>
                      <a:srgbClr val="FFD85C"/>
                    </a:solidFill>
                  </a:tcPr>
                </a:tc>
                <a:tc>
                  <a:txBody>
                    <a:bodyPr/>
                    <a:lstStyle/>
                    <a:p>
                      <a:r>
                        <a:rPr sz="1800" b="1">
                          <a:solidFill>
                            <a:srgbClr val="183E50"/>
                          </a:solidFill>
                          <a:latin typeface="Arial"/>
                          <a:ea typeface="Arial"/>
                          <a:cs typeface="Arial"/>
                        </a:rPr>
                        <a:t>Existing strength</a:t>
                      </a:r>
                    </a:p>
                  </a:txBody>
                  <a:tcPr marL="91440" marR="91440" marT="45720" marB="45720">
                    <a:solidFill>
                      <a:srgbClr val="FFD85C"/>
                    </a:solidFill>
                  </a:tcPr>
                </a:tc>
                <a:tc>
                  <a:txBody>
                    <a:bodyPr/>
                    <a:lstStyle/>
                    <a:p>
                      <a:r>
                        <a:rPr sz="1800" b="1">
                          <a:solidFill>
                            <a:srgbClr val="183E50"/>
                          </a:solidFill>
                          <a:latin typeface="Arial"/>
                          <a:ea typeface="Arial"/>
                          <a:cs typeface="Arial"/>
                        </a:rPr>
                        <a:t>Sports Buddy focus</a:t>
                      </a:r>
                    </a:p>
                  </a:txBody>
                  <a:tcPr marL="91440" marR="91440" marT="45720" marB="45720">
                    <a:solidFill>
                      <a:srgbClr val="FFD85C"/>
                    </a:solidFill>
                  </a:tcPr>
                </a:tc>
              </a:tr>
              <a:tr h="695325">
                <a:tc>
                  <a:txBody>
                    <a:bodyPr/>
                    <a:lstStyle/>
                    <a:p>
                      <a:r>
                        <a:rPr sz="1800" b="0">
                          <a:solidFill>
                            <a:srgbClr val="183E50"/>
                          </a:solidFill>
                          <a:latin typeface="Arial"/>
                          <a:ea typeface="Arial"/>
                          <a:cs typeface="Arial"/>
                        </a:rPr>
                        <a:t>WeChat / QQ groups</a:t>
                      </a:r>
                    </a:p>
                  </a:txBody>
                  <a:tcPr marL="91440" marR="91440" marT="45720" marB="45720">
                    <a:solidFill>
                      <a:srgbClr val="FFFFFF"/>
                    </a:solidFill>
                  </a:tcPr>
                </a:tc>
                <a:tc>
                  <a:txBody>
                    <a:bodyPr/>
                    <a:lstStyle/>
                    <a:p>
                      <a:r>
                        <a:rPr sz="1800" b="0">
                          <a:solidFill>
                            <a:srgbClr val="183E50"/>
                          </a:solidFill>
                          <a:latin typeface="Arial"/>
                          <a:ea typeface="Arial"/>
                          <a:cs typeface="Arial"/>
                        </a:rPr>
                        <a:t>Familiar and easy to access</a:t>
                      </a:r>
                    </a:p>
                  </a:txBody>
                  <a:tcPr marL="91440" marR="91440" marT="45720" marB="45720">
                    <a:solidFill>
                      <a:srgbClr val="FFFFFF"/>
                    </a:solidFill>
                  </a:tcPr>
                </a:tc>
                <a:tc>
                  <a:txBody>
                    <a:bodyPr/>
                    <a:lstStyle/>
                    <a:p>
                      <a:r>
                        <a:rPr sz="1800" b="0">
                          <a:solidFill>
                            <a:srgbClr val="183E50"/>
                          </a:solidFill>
                          <a:latin typeface="Arial"/>
                          <a:ea typeface="Arial"/>
                          <a:cs typeface="Arial"/>
                        </a:rPr>
                        <a:t>Structured activities and reliability</a:t>
                      </a:r>
                    </a:p>
                  </a:txBody>
                  <a:tcPr marL="91440" marR="91440" marT="45720" marB="45720">
                    <a:solidFill>
                      <a:srgbClr val="FFFFFF"/>
                    </a:solidFill>
                  </a:tcPr>
                </a:tc>
              </a:tr>
              <a:tr h="695325">
                <a:tc>
                  <a:txBody>
                    <a:bodyPr/>
                    <a:lstStyle/>
                    <a:p>
                      <a:r>
                        <a:rPr sz="1800" b="0">
                          <a:solidFill>
                            <a:srgbClr val="183E50"/>
                          </a:solidFill>
                          <a:latin typeface="Arial"/>
                          <a:ea typeface="Arial"/>
                          <a:cs typeface="Arial"/>
                        </a:rPr>
                        <a:t>Campus forums</a:t>
                      </a:r>
                    </a:p>
                  </a:txBody>
                  <a:tcPr marL="91440" marR="91440" marT="45720" marB="45720">
                    <a:solidFill>
                      <a:srgbClr val="EFF7F8"/>
                    </a:solidFill>
                  </a:tcPr>
                </a:tc>
                <a:tc>
                  <a:txBody>
                    <a:bodyPr/>
                    <a:lstStyle/>
                    <a:p>
                      <a:r>
                        <a:rPr sz="1800" b="0">
                          <a:solidFill>
                            <a:srgbClr val="183E50"/>
                          </a:solidFill>
                          <a:latin typeface="Arial"/>
                          <a:ea typeface="Arial"/>
                          <a:cs typeface="Arial"/>
                        </a:rPr>
                        <a:t>Wide campus reach</a:t>
                      </a:r>
                    </a:p>
                  </a:txBody>
                  <a:tcPr marL="91440" marR="91440" marT="45720" marB="45720">
                    <a:solidFill>
                      <a:srgbClr val="EFF7F8"/>
                    </a:solidFill>
                  </a:tcPr>
                </a:tc>
                <a:tc>
                  <a:txBody>
                    <a:bodyPr/>
                    <a:lstStyle/>
                    <a:p>
                      <a:r>
                        <a:rPr sz="1800" b="0">
                          <a:solidFill>
                            <a:srgbClr val="183E50"/>
                          </a:solidFill>
                          <a:latin typeface="Arial"/>
                          <a:ea typeface="Arial"/>
                          <a:cs typeface="Arial"/>
                        </a:rPr>
                        <a:t>Sign-up, check-in and reviews</a:t>
                      </a:r>
                    </a:p>
                  </a:txBody>
                  <a:tcPr marL="91440" marR="91440" marT="45720" marB="45720">
                    <a:solidFill>
                      <a:srgbClr val="EFF7F8"/>
                    </a:solidFill>
                  </a:tcPr>
                </a:tc>
              </a:tr>
              <a:tr h="695325">
                <a:tc>
                  <a:txBody>
                    <a:bodyPr/>
                    <a:lstStyle/>
                    <a:p>
                      <a:r>
                        <a:rPr sz="1800" b="0">
                          <a:solidFill>
                            <a:srgbClr val="183E50"/>
                          </a:solidFill>
                          <a:latin typeface="Arial"/>
                          <a:ea typeface="Arial"/>
                          <a:cs typeface="Arial"/>
                        </a:rPr>
                        <a:t>Fitness apps such as Keep</a:t>
                      </a:r>
                    </a:p>
                  </a:txBody>
                  <a:tcPr marL="91440" marR="91440" marT="45720" marB="45720">
                    <a:solidFill>
                      <a:srgbClr val="FFFFFF"/>
                    </a:solidFill>
                  </a:tcPr>
                </a:tc>
                <a:tc>
                  <a:txBody>
                    <a:bodyPr/>
                    <a:lstStyle/>
                    <a:p>
                      <a:r>
                        <a:rPr sz="1800" b="0">
                          <a:solidFill>
                            <a:srgbClr val="183E50"/>
                          </a:solidFill>
                          <a:latin typeface="Arial"/>
                          <a:ea typeface="Arial"/>
                          <a:cs typeface="Arial"/>
                        </a:rPr>
                        <a:t>Personal fitness tools and scale</a:t>
                      </a:r>
                    </a:p>
                  </a:txBody>
                  <a:tcPr marL="91440" marR="91440" marT="45720" marB="45720">
                    <a:solidFill>
                      <a:srgbClr val="FFFFFF"/>
                    </a:solidFill>
                  </a:tcPr>
                </a:tc>
                <a:tc>
                  <a:txBody>
                    <a:bodyPr/>
                    <a:lstStyle/>
                    <a:p>
                      <a:r>
                        <a:rPr sz="1800" b="0">
                          <a:solidFill>
                            <a:srgbClr val="183E50"/>
                          </a:solidFill>
                          <a:latin typeface="Arial"/>
                          <a:ea typeface="Arial"/>
                          <a:cs typeface="Arial"/>
                        </a:rPr>
                        <a:t>Finding campus sports partners</a:t>
                      </a:r>
                    </a:p>
                  </a:txBody>
                  <a:tcPr marL="91440" marR="91440" marT="45720" marB="45720">
                    <a:solidFill>
                      <a:srgbClr val="FFFFFF"/>
                    </a:solidFill>
                  </a:tcPr>
                </a:tc>
              </a:tr>
              <a:tr h="695325">
                <a:tc>
                  <a:txBody>
                    <a:bodyPr/>
                    <a:lstStyle/>
                    <a:p>
                      <a:r>
                        <a:rPr sz="1800" b="0">
                          <a:solidFill>
                            <a:srgbClr val="183E50"/>
                          </a:solidFill>
                          <a:latin typeface="Arial"/>
                          <a:ea typeface="Arial"/>
                          <a:cs typeface="Arial"/>
                        </a:rPr>
                        <a:t>General companion apps</a:t>
                      </a:r>
                    </a:p>
                  </a:txBody>
                  <a:tcPr marL="91440" marR="91440" marT="45720" marB="45720">
                    <a:solidFill>
                      <a:srgbClr val="EFF7F8"/>
                    </a:solidFill>
                  </a:tcPr>
                </a:tc>
                <a:tc>
                  <a:txBody>
                    <a:bodyPr/>
                    <a:lstStyle/>
                    <a:p>
                      <a:r>
                        <a:rPr sz="1800" b="0">
                          <a:solidFill>
                            <a:srgbClr val="183E50"/>
                          </a:solidFill>
                          <a:latin typeface="Arial"/>
                          <a:ea typeface="Arial"/>
                          <a:cs typeface="Arial"/>
                        </a:rPr>
                        <a:t>Research pending</a:t>
                      </a:r>
                    </a:p>
                  </a:txBody>
                  <a:tcPr marL="91440" marR="91440" marT="45720" marB="45720">
                    <a:solidFill>
                      <a:srgbClr val="EFF7F8"/>
                    </a:solidFill>
                  </a:tcPr>
                </a:tc>
                <a:tc>
                  <a:txBody>
                    <a:bodyPr/>
                    <a:lstStyle/>
                    <a:p>
                      <a:r>
                        <a:rPr sz="1800" b="0">
                          <a:solidFill>
                            <a:srgbClr val="183E50"/>
                          </a:solidFill>
                          <a:latin typeface="Arial"/>
                          <a:ea typeface="Arial"/>
                          <a:cs typeface="Arial"/>
                        </a:rPr>
                        <a:t>Research pending</a:t>
                      </a:r>
                    </a:p>
                  </a:txBody>
                  <a:tcPr marL="91440" marR="91440" marT="45720" marB="45720">
                    <a:solidFill>
                      <a:srgbClr val="EFF7F8"/>
                    </a:solidFill>
                  </a:tcPr>
                </a:tc>
              </a:tr>
            </a:tbl>
          </a:graphicData>
        </a:graphic>
      </p:graphicFrame>
    </p:spTree>
    <p:extLst>
      <p:ext uri="{BB962C8B-B14F-4D97-AF65-F5344CB8AC3E}">
        <p14:creationId xmlns:p14="http://schemas.microsoft.com/office/powerpoint/2010/main" val="1717556830"/>
      </p:ext>
    </p:extLst>
  </p:cSld>
</p:sld>
</file>

<file path=ppt/slides/slide13.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04FF734-FA95-4291-880A-4FCDE0F5C52E}"/>
              </a:ext>
            </a:extLst>
          </p:cNvPr>
          <p:cNvPicPr>
            <a:picLocks xmlns:a="http://schemas.openxmlformats.org/drawingml/2006/main" noChangeAspect="1"/>
          </p:cNvPicPr>
          <p:nvPr/>
        </p:nvPicPr>
        <p:blipFill>
          <a:blip xmlns:r="http://schemas.openxmlformats.org/officeDocument/2006/relationships" xmlns:a="http://schemas.openxmlformats.org/drawingml/2006/main" r:embed="R7aef5e236a6747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C9DF6F0-C883-4ADF-95FA-A3FC2CFFCBCF}"/>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NABCD: DELIVERY AND ROLLOUT</a:t>
            </a:r>
          </a:p>
        </p:txBody>
      </p:sp>
      <p:sp>
        <p:nvSpPr>
          <p:cNvPr id="3" name="">
            <a:extLst xmlns:a="http://schemas.openxmlformats.org/drawingml/2006/main">
              <a:ext uri="{FF2B5EF4-FFF2-40B4-BE49-F238E27FC236}">
                <a16:creationId xmlns:a16="http://schemas.microsoft.com/office/drawing/2014/main" id="{4AD65DF9-D9EA-40F5-85F6-07BA31AD71EA}"/>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A2ADED5C-5FAD-4A06-B222-373673BEFFC8}"/>
              </a:ext>
            </a:extLst>
          </p:cNvPr>
          <p:cNvSpPr>
            <a:spLocks xmlns:a="http://schemas.openxmlformats.org/drawingml/2006/main" noGrp="1"/>
          </p:cNvSpPr>
          <p:nvPr/>
        </p:nvSpPr>
        <p:spPr>
          <a:xfrm xmlns:a="http://schemas.openxmlformats.org/drawingml/2006/main">
            <a:off x="666750" y="2171700"/>
            <a:ext cx="3346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AC6900"/>
                </a:solidFill>
                <a:latin typeface="Arial"/>
                <a:ea typeface="Arial"/>
                <a:cs typeface="Arial"/>
              </a:defRPr>
            </a:defPPr>
          </a:lstStyle>
          <a:p xmlns:a="http://schemas.openxmlformats.org/drawingml/2006/main">
            <a:pPr>
              <a:defRPr sz="2400" b="1">
                <a:solidFill>
                  <a:srgbClr val="AC6900"/>
                </a:solidFill>
                <a:latin typeface="Arial"/>
                <a:ea typeface="Arial"/>
                <a:cs typeface="Arial"/>
              </a:defRPr>
            </a:pPr>
            <a:r>
              <a:rPr sz="2400" b="1">
                <a:solidFill>
                  <a:srgbClr val="AC6900"/>
                </a:solidFill>
                <a:latin typeface="Arial"/>
                <a:ea typeface="Arial"/>
                <a:cs typeface="Arial"/>
              </a:rPr>
              <a:t>Phase 1</a:t>
            </a:r>
          </a:p>
        </p:txBody>
      </p:sp>
      <p:sp>
        <p:nvSpPr>
          <p:cNvPr id="5" name="">
            <a:extLst xmlns:a="http://schemas.openxmlformats.org/drawingml/2006/main">
              <a:ext uri="{FF2B5EF4-FFF2-40B4-BE49-F238E27FC236}">
                <a16:creationId xmlns:a16="http://schemas.microsoft.com/office/drawing/2014/main" id="{9F78A8F7-89B6-4899-9C88-BEA367CAE240}"/>
              </a:ext>
            </a:extLst>
          </p:cNvPr>
          <p:cNvSpPr>
            <a:spLocks xmlns:a="http://schemas.openxmlformats.org/drawingml/2006/main" noGrp="1"/>
          </p:cNvSpPr>
          <p:nvPr/>
        </p:nvSpPr>
        <p:spPr>
          <a:xfrm xmlns:a="http://schemas.openxmlformats.org/drawingml/2006/main">
            <a:off x="666750" y="3076575"/>
            <a:ext cx="3232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Release the MVP on one campus: create, sign up, check in and review.</a:t>
            </a:r>
          </a:p>
        </p:txBody>
      </p:sp>
      <p:sp>
        <p:nvSpPr>
          <p:cNvPr id="6" name="">
            <a:extLst xmlns:a="http://schemas.openxmlformats.org/drawingml/2006/main">
              <a:ext uri="{FF2B5EF4-FFF2-40B4-BE49-F238E27FC236}">
                <a16:creationId xmlns:a16="http://schemas.microsoft.com/office/drawing/2014/main" id="{34DC571E-66C9-4C2F-9EA5-E02E33916E32}"/>
              </a:ext>
            </a:extLst>
          </p:cNvPr>
          <p:cNvSpPr>
            <a:spLocks xmlns:a="http://schemas.openxmlformats.org/drawingml/2006/main" noGrp="1"/>
          </p:cNvSpPr>
          <p:nvPr/>
        </p:nvSpPr>
        <p:spPr>
          <a:xfrm xmlns:a="http://schemas.openxmlformats.org/drawingml/2006/main">
            <a:off x="4298950" y="2171700"/>
            <a:ext cx="3346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AC6900"/>
                </a:solidFill>
                <a:latin typeface="Arial"/>
                <a:ea typeface="Arial"/>
                <a:cs typeface="Arial"/>
              </a:defRPr>
            </a:defPPr>
          </a:lstStyle>
          <a:p xmlns:a="http://schemas.openxmlformats.org/drawingml/2006/main">
            <a:pPr>
              <a:defRPr sz="2400" b="1">
                <a:solidFill>
                  <a:srgbClr val="AC6900"/>
                </a:solidFill>
                <a:latin typeface="Arial"/>
                <a:ea typeface="Arial"/>
                <a:cs typeface="Arial"/>
              </a:defRPr>
            </a:pPr>
            <a:r>
              <a:rPr sz="2400" b="1">
                <a:solidFill>
                  <a:srgbClr val="AC6900"/>
                </a:solidFill>
                <a:latin typeface="Arial"/>
                <a:ea typeface="Arial"/>
                <a:cs typeface="Arial"/>
              </a:rPr>
              <a:t>Phase 2</a:t>
            </a:r>
          </a:p>
        </p:txBody>
      </p:sp>
      <p:sp>
        <p:nvSpPr>
          <p:cNvPr id="7" name="">
            <a:extLst xmlns:a="http://schemas.openxmlformats.org/drawingml/2006/main">
              <a:ext uri="{FF2B5EF4-FFF2-40B4-BE49-F238E27FC236}">
                <a16:creationId xmlns:a16="http://schemas.microsoft.com/office/drawing/2014/main" id="{818FA3AD-C2BE-4B48-ACC0-AB1049398AE4}"/>
              </a:ext>
            </a:extLst>
          </p:cNvPr>
          <p:cNvSpPr>
            <a:spLocks xmlns:a="http://schemas.openxmlformats.org/drawingml/2006/main" noGrp="1"/>
          </p:cNvSpPr>
          <p:nvPr/>
        </p:nvSpPr>
        <p:spPr>
          <a:xfrm xmlns:a="http://schemas.openxmlformats.org/drawingml/2006/main">
            <a:off x="4298950" y="3076575"/>
            <a:ext cx="3232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Add reliability scores, smart matching and one-line activity creation.</a:t>
            </a:r>
          </a:p>
        </p:txBody>
      </p:sp>
      <p:sp>
        <p:nvSpPr>
          <p:cNvPr id="8" name="">
            <a:extLst xmlns:a="http://schemas.openxmlformats.org/drawingml/2006/main">
              <a:ext uri="{FF2B5EF4-FFF2-40B4-BE49-F238E27FC236}">
                <a16:creationId xmlns:a16="http://schemas.microsoft.com/office/drawing/2014/main" id="{846CC43D-342C-46E7-949A-2D35A566006A}"/>
              </a:ext>
            </a:extLst>
          </p:cNvPr>
          <p:cNvSpPr>
            <a:spLocks xmlns:a="http://schemas.openxmlformats.org/drawingml/2006/main" noGrp="1"/>
          </p:cNvSpPr>
          <p:nvPr/>
        </p:nvSpPr>
        <p:spPr>
          <a:xfrm xmlns:a="http://schemas.openxmlformats.org/drawingml/2006/main">
            <a:off x="7931150" y="2171700"/>
            <a:ext cx="3346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AC6900"/>
                </a:solidFill>
                <a:latin typeface="Arial"/>
                <a:ea typeface="Arial"/>
                <a:cs typeface="Arial"/>
              </a:defRPr>
            </a:defPPr>
          </a:lstStyle>
          <a:p xmlns:a="http://schemas.openxmlformats.org/drawingml/2006/main">
            <a:pPr>
              <a:defRPr sz="2400" b="1">
                <a:solidFill>
                  <a:srgbClr val="AC6900"/>
                </a:solidFill>
                <a:latin typeface="Arial"/>
                <a:ea typeface="Arial"/>
                <a:cs typeface="Arial"/>
              </a:defRPr>
            </a:pPr>
            <a:r>
              <a:rPr sz="2400" b="1">
                <a:solidFill>
                  <a:srgbClr val="AC6900"/>
                </a:solidFill>
                <a:latin typeface="Arial"/>
                <a:ea typeface="Arial"/>
                <a:cs typeface="Arial"/>
              </a:rPr>
              <a:t>Phase 3</a:t>
            </a:r>
          </a:p>
        </p:txBody>
      </p:sp>
      <p:sp>
        <p:nvSpPr>
          <p:cNvPr id="9" name="">
            <a:extLst xmlns:a="http://schemas.openxmlformats.org/drawingml/2006/main">
              <a:ext uri="{FF2B5EF4-FFF2-40B4-BE49-F238E27FC236}">
                <a16:creationId xmlns:a16="http://schemas.microsoft.com/office/drawing/2014/main" id="{8C139297-0076-45B8-8DA1-2254B900BF0D}"/>
              </a:ext>
            </a:extLst>
          </p:cNvPr>
          <p:cNvSpPr>
            <a:spLocks xmlns:a="http://schemas.openxmlformats.org/drawingml/2006/main" noGrp="1"/>
          </p:cNvSpPr>
          <p:nvPr/>
        </p:nvSpPr>
        <p:spPr>
          <a:xfrm xmlns:a="http://schemas.openxmlformats.org/drawingml/2006/main">
            <a:off x="7931150" y="3076575"/>
            <a:ext cx="3232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Iterate from trial feedback and introduce the product to more campuses and clubs.</a:t>
            </a:r>
          </a:p>
        </p:txBody>
      </p:sp>
      <p:sp>
        <p:nvSpPr>
          <p:cNvPr id="10" name="">
            <a:extLst xmlns:a="http://schemas.openxmlformats.org/drawingml/2006/main">
              <a:ext uri="{FF2B5EF4-FFF2-40B4-BE49-F238E27FC236}">
                <a16:creationId xmlns:a16="http://schemas.microsoft.com/office/drawing/2014/main" id="{7F6C2747-18B2-402C-AA2B-D63822AAD575}"/>
              </a:ext>
            </a:extLst>
          </p:cNvPr>
          <p:cNvSpPr>
            <a:spLocks xmlns:a="http://schemas.openxmlformats.org/drawingml/2006/main" noGrp="1"/>
          </p:cNvSpPr>
          <p:nvPr/>
        </p:nvSpPr>
        <p:spPr>
          <a:xfrm xmlns:a="http://schemas.openxmlformats.org/drawingml/2006/main">
            <a:off x="685800" y="54864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9819B"/>
                </a:solidFill>
                <a:latin typeface="Arial"/>
                <a:ea typeface="Arial"/>
                <a:cs typeface="Arial"/>
              </a:defRPr>
            </a:defPPr>
          </a:lstStyle>
          <a:p xmlns:a="http://schemas.openxmlformats.org/drawingml/2006/main">
            <a:pPr>
              <a:defRPr sz="1875" b="1">
                <a:solidFill>
                  <a:srgbClr val="19819B"/>
                </a:solidFill>
                <a:latin typeface="Arial"/>
                <a:ea typeface="Arial"/>
                <a:cs typeface="Arial"/>
              </a:defRPr>
            </a:pPr>
            <a:r>
              <a:rPr sz="1875" b="1">
                <a:solidFill>
                  <a:srgbClr val="19819B"/>
                </a:solidFill>
                <a:latin typeface="Arial"/>
                <a:ea typeface="Arial"/>
                <a:cs typeface="Arial"/>
              </a:rPr>
              <a:t>Initial activities: badminton, basketball, running and gym sessions.</a:t>
            </a:r>
          </a:p>
        </p:txBody>
      </p:sp>
      <p:sp>
        <p:nvSpPr>
          <p:cNvPr id="11" name="">
            <a:extLst xmlns:a="http://schemas.openxmlformats.org/drawingml/2006/main">
              <a:ext uri="{FF2B5EF4-FFF2-40B4-BE49-F238E27FC236}">
                <a16:creationId xmlns:a16="http://schemas.microsoft.com/office/drawing/2014/main" id="{12D00C6F-DBF8-4CF9-A99A-BF0944BA6050}"/>
              </a:ext>
            </a:extLst>
          </p:cNvPr>
          <p:cNvSpPr>
            <a:spLocks xmlns:a="http://schemas.openxmlformats.org/drawingml/2006/main" noGrp="1"/>
          </p:cNvSpPr>
          <p:nvPr/>
        </p:nvSpPr>
        <p:spPr>
          <a:xfrm xmlns:a="http://schemas.openxmlformats.org/drawingml/2006/main">
            <a:off x="685800" y="59817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76371"/>
                </a:solidFill>
                <a:latin typeface="Arial"/>
                <a:ea typeface="Arial"/>
                <a:cs typeface="Arial"/>
              </a:defRPr>
            </a:defPPr>
          </a:lstStyle>
          <a:p xmlns:a="http://schemas.openxmlformats.org/drawingml/2006/main">
            <a:pPr>
              <a:defRPr sz="1725" b="0">
                <a:solidFill>
                  <a:srgbClr val="476371"/>
                </a:solidFill>
                <a:latin typeface="Arial"/>
                <a:ea typeface="Arial"/>
                <a:cs typeface="Arial"/>
              </a:defRPr>
            </a:pPr>
            <a:r>
              <a:rPr sz="1725" b="0">
                <a:solidFill>
                  <a:srgbClr val="476371"/>
                </a:solidFill>
                <a:latin typeface="Arial"/>
                <a:ea typeface="Arial"/>
                <a:cs typeface="Arial"/>
              </a:rPr>
              <a:t>Later possibilities: club events, weekend hikes and nearby communities.</a:t>
            </a:r>
          </a:p>
        </p:txBody>
      </p:sp>
    </p:spTree>
    <p:extLst>
      <p:ext uri="{BB962C8B-B14F-4D97-AF65-F5344CB8AC3E}">
        <p14:creationId xmlns:p14="http://schemas.microsoft.com/office/powerpoint/2010/main" val="197709639"/>
      </p:ext>
    </p:extLst>
  </p:cSld>
</p:sld>
</file>

<file path=ppt/slides/slide14.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AD74C13B-8408-4A8B-9FEF-AA0367634EA3}"/>
              </a:ext>
            </a:extLst>
          </p:cNvPr>
          <p:cNvPicPr>
            <a:picLocks xmlns:a="http://schemas.openxmlformats.org/drawingml/2006/main" noChangeAspect="1"/>
          </p:cNvPicPr>
          <p:nvPr/>
        </p:nvPicPr>
        <p:blipFill>
          <a:blip xmlns:r="http://schemas.openxmlformats.org/officeDocument/2006/relationships" xmlns:a="http://schemas.openxmlformats.org/drawingml/2006/main" r:embed="R4e747098e9b7423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A5C945-3674-4CED-844F-DF81559DBA32}"/>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SIX-PHASE PROJECT ROADMAP</a:t>
            </a:r>
          </a:p>
        </p:txBody>
      </p:sp>
      <p:sp>
        <p:nvSpPr>
          <p:cNvPr id="3" name="">
            <a:extLst xmlns:a="http://schemas.openxmlformats.org/drawingml/2006/main">
              <a:ext uri="{FF2B5EF4-FFF2-40B4-BE49-F238E27FC236}">
                <a16:creationId xmlns:a16="http://schemas.microsoft.com/office/drawing/2014/main" id="{28A04C57-EF50-4602-9F50-0A192CAD96CD}"/>
              </a:ext>
            </a:extLst>
          </p:cNvPr>
          <p:cNvSpPr>
            <a:spLocks xmlns:a="http://schemas.openxmlformats.org/drawingml/2006/main" noGrp="1"/>
          </p:cNvSpPr>
          <p:nvPr/>
        </p:nvSpPr>
        <p:spPr>
          <a:xfrm xmlns:a="http://schemas.openxmlformats.org/drawingml/2006/main">
            <a:off x="64770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76371"/>
                </a:solidFill>
                <a:latin typeface="Arial"/>
                <a:ea typeface="Arial"/>
                <a:cs typeface="Arial"/>
              </a:defRPr>
            </a:defPPr>
          </a:lstStyle>
          <a:p xmlns:a="http://schemas.openxmlformats.org/drawingml/2006/main">
            <a:pPr>
              <a:defRPr sz="1800" b="0">
                <a:solidFill>
                  <a:srgbClr val="476371"/>
                </a:solidFill>
                <a:latin typeface="Arial"/>
                <a:ea typeface="Arial"/>
                <a:cs typeface="Arial"/>
              </a:defRPr>
            </a:pPr>
            <a:r>
              <a:rPr sz="1800" b="0">
                <a:solidFill>
                  <a:srgbClr val="476371"/>
                </a:solidFill>
                <a:latin typeface="Arial"/>
                <a:ea typeface="Arial"/>
                <a:cs typeface="Arial"/>
              </a:rPr>
              <a:t>Planned dates remain subject to course arrangements</a:t>
            </a:r>
          </a:p>
        </p:txBody>
      </p:sp>
      <p:sp>
        <p:nvSpPr>
          <p:cNvPr id="4" name="">
            <a:extLst xmlns:a="http://schemas.openxmlformats.org/drawingml/2006/main">
              <a:ext uri="{FF2B5EF4-FFF2-40B4-BE49-F238E27FC236}">
                <a16:creationId xmlns:a16="http://schemas.microsoft.com/office/drawing/2014/main" id="{BFAE0326-D2C4-44DB-BC4E-E350EAA4D0D1}"/>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102D2A48-E13E-4D30-B690-958E1170CA3E}"/>
              </a:ext>
            </a:extLst>
          </p:cNvPr>
          <p:cNvGraphicFramePr/>
          <p:nvPr/>
        </p:nvGraphicFramePr>
        <p:xfrm>
          <a:off xmlns:a="http://schemas.openxmlformats.org/drawingml/2006/main" x="647700" y="1847850"/>
          <a:ext xmlns:a="http://schemas.openxmlformats.org/drawingml/2006/main" cx="10896600" cy="4095750"/>
        </p:xfrm>
        <a:graphic xmlns:a="http://schemas.openxmlformats.org/drawingml/2006/main">
          <a:graphicData uri="http://schemas.openxmlformats.org/drawingml/2006/table">
            <a:tbl>
              <a:tblPr/>
              <a:tblGrid>
                <a:gridCol w="3000375"/>
                <a:gridCol w="2381250"/>
                <a:gridCol w="5514975"/>
              </a:tblGrid>
              <a:tr h="585107">
                <a:tc>
                  <a:txBody>
                    <a:bodyPr/>
                    <a:lstStyle/>
                    <a:p>
                      <a:r>
                        <a:rPr sz="1725" b="1">
                          <a:solidFill>
                            <a:srgbClr val="183E50"/>
                          </a:solidFill>
                          <a:latin typeface="Arial"/>
                          <a:ea typeface="Arial"/>
                          <a:cs typeface="Arial"/>
                        </a:rPr>
                        <a:t>Phase</a:t>
                      </a:r>
                    </a:p>
                  </a:txBody>
                  <a:tcPr marL="91440" marR="91440" marT="45720" marB="45720">
                    <a:solidFill>
                      <a:srgbClr val="FFD85C"/>
                    </a:solidFill>
                  </a:tcPr>
                </a:tc>
                <a:tc>
                  <a:txBody>
                    <a:bodyPr/>
                    <a:lstStyle/>
                    <a:p>
                      <a:r>
                        <a:rPr sz="1725" b="1">
                          <a:solidFill>
                            <a:srgbClr val="183E50"/>
                          </a:solidFill>
                          <a:latin typeface="Arial"/>
                          <a:ea typeface="Arial"/>
                          <a:cs typeface="Arial"/>
                        </a:rPr>
                        <a:t>Planned window</a:t>
                      </a:r>
                    </a:p>
                  </a:txBody>
                  <a:tcPr marL="91440" marR="91440" marT="45720" marB="45720">
                    <a:solidFill>
                      <a:srgbClr val="FFD85C"/>
                    </a:solidFill>
                  </a:tcPr>
                </a:tc>
                <a:tc>
                  <a:txBody>
                    <a:bodyPr/>
                    <a:lstStyle/>
                    <a:p>
                      <a:r>
                        <a:rPr sz="1725" b="1">
                          <a:solidFill>
                            <a:srgbClr val="183E50"/>
                          </a:solidFill>
                          <a:latin typeface="Arial"/>
                          <a:ea typeface="Arial"/>
                          <a:cs typeface="Arial"/>
                        </a:rPr>
                        <a:t>Main deliverable</a:t>
                      </a:r>
                    </a:p>
                  </a:txBody>
                  <a:tcPr marL="91440" marR="91440" marT="45720" marB="45720">
                    <a:solidFill>
                      <a:srgbClr val="FFD85C"/>
                    </a:solidFill>
                  </a:tcPr>
                </a:tc>
              </a:tr>
              <a:tr h="585107">
                <a:tc>
                  <a:txBody>
                    <a:bodyPr/>
                    <a:lstStyle/>
                    <a:p>
                      <a:r>
                        <a:rPr sz="1725" b="0">
                          <a:solidFill>
                            <a:srgbClr val="183E50"/>
                          </a:solidFill>
                          <a:latin typeface="Arial"/>
                          <a:ea typeface="Arial"/>
                          <a:cs typeface="Arial"/>
                        </a:rPr>
                        <a:t>0  Formation &amp; topic</a:t>
                      </a:r>
                    </a:p>
                  </a:txBody>
                  <a:tcPr marL="91440" marR="91440" marT="45720" marB="45720">
                    <a:solidFill>
                      <a:srgbClr val="FFFFFF"/>
                    </a:solidFill>
                  </a:tcPr>
                </a:tc>
                <a:tc>
                  <a:txBody>
                    <a:bodyPr/>
                    <a:lstStyle/>
                    <a:p>
                      <a:r>
                        <a:rPr sz="1725" b="0">
                          <a:solidFill>
                            <a:srgbClr val="183E50"/>
                          </a:solidFill>
                          <a:latin typeface="Arial"/>
                          <a:ea typeface="Arial"/>
                          <a:cs typeface="Arial"/>
                        </a:rPr>
                        <a:t>By Oct 11</a:t>
                      </a:r>
                    </a:p>
                  </a:txBody>
                  <a:tcPr marL="91440" marR="91440" marT="45720" marB="45720">
                    <a:solidFill>
                      <a:srgbClr val="FFFFFF"/>
                    </a:solidFill>
                  </a:tcPr>
                </a:tc>
                <a:tc>
                  <a:txBody>
                    <a:bodyPr/>
                    <a:lstStyle/>
                    <a:p>
                      <a:r>
                        <a:rPr sz="1725" b="0">
                          <a:solidFill>
                            <a:srgbClr val="183E50"/>
                          </a:solidFill>
                          <a:latin typeface="Arial"/>
                          <a:ea typeface="Arial"/>
                          <a:cs typeface="Arial"/>
                        </a:rPr>
                        <a:t>Blog and SRS V2.2 delivered; PPT in progress</a:t>
                      </a:r>
                    </a:p>
                  </a:txBody>
                  <a:tcPr marL="91440" marR="91440" marT="45720" marB="45720">
                    <a:solidFill>
                      <a:srgbClr val="FFFFFF"/>
                    </a:solidFill>
                  </a:tcPr>
                </a:tc>
              </a:tr>
              <a:tr h="585107">
                <a:tc>
                  <a:txBody>
                    <a:bodyPr/>
                    <a:lstStyle/>
                    <a:p>
                      <a:r>
                        <a:rPr sz="1725" b="0">
                          <a:solidFill>
                            <a:srgbClr val="183E50"/>
                          </a:solidFill>
                          <a:latin typeface="Arial"/>
                          <a:ea typeface="Arial"/>
                          <a:cs typeface="Arial"/>
                        </a:rPr>
                        <a:t>1  Requirements</a:t>
                      </a:r>
                    </a:p>
                  </a:txBody>
                  <a:tcPr marL="91440" marR="91440" marT="45720" marB="45720">
                    <a:solidFill>
                      <a:srgbClr val="EFF7F8"/>
                    </a:solidFill>
                  </a:tcPr>
                </a:tc>
                <a:tc>
                  <a:txBody>
                    <a:bodyPr/>
                    <a:lstStyle/>
                    <a:p>
                      <a:r>
                        <a:rPr sz="1725" b="0">
                          <a:solidFill>
                            <a:srgbClr val="183E50"/>
                          </a:solidFill>
                          <a:latin typeface="Arial"/>
                          <a:ea typeface="Arial"/>
                          <a:cs typeface="Arial"/>
                        </a:rPr>
                        <a:t>By Oct 11 (done)</a:t>
                      </a:r>
                    </a:p>
                  </a:txBody>
                  <a:tcPr marL="91440" marR="91440" marT="45720" marB="45720">
                    <a:solidFill>
                      <a:srgbClr val="EFF7F8"/>
                    </a:solidFill>
                  </a:tcPr>
                </a:tc>
                <a:tc>
                  <a:txBody>
                    <a:bodyPr/>
                    <a:lstStyle/>
                    <a:p>
                      <a:r>
                        <a:rPr sz="1725" b="0">
                          <a:solidFill>
                            <a:srgbClr val="183E50"/>
                          </a:solidFill>
                          <a:latin typeface="Arial"/>
                          <a:ea typeface="Arial"/>
                          <a:cs typeface="Arial"/>
                        </a:rPr>
                        <a:t>Requirements Specification V2.2 delivered</a:t>
                      </a:r>
                    </a:p>
                  </a:txBody>
                  <a:tcPr marL="91440" marR="91440" marT="45720" marB="45720">
                    <a:solidFill>
                      <a:srgbClr val="EFF7F8"/>
                    </a:solidFill>
                  </a:tcPr>
                </a:tc>
              </a:tr>
              <a:tr h="585107">
                <a:tc>
                  <a:txBody>
                    <a:bodyPr/>
                    <a:lstStyle/>
                    <a:p>
                      <a:r>
                        <a:rPr sz="1725" b="0">
                          <a:solidFill>
                            <a:srgbClr val="183E50"/>
                          </a:solidFill>
                          <a:latin typeface="Arial"/>
                          <a:ea typeface="Arial"/>
                          <a:cs typeface="Arial"/>
                        </a:rPr>
                        <a:t>2  Design</a:t>
                      </a:r>
                    </a:p>
                  </a:txBody>
                  <a:tcPr marL="91440" marR="91440" marT="45720" marB="45720">
                    <a:solidFill>
                      <a:srgbClr val="FFFFFF"/>
                    </a:solidFill>
                  </a:tcPr>
                </a:tc>
                <a:tc>
                  <a:txBody>
                    <a:bodyPr/>
                    <a:lstStyle/>
                    <a:p>
                      <a:r>
                        <a:rPr sz="1725" b="0">
                          <a:solidFill>
                            <a:srgbClr val="183E50"/>
                          </a:solidFill>
                          <a:latin typeface="Arial"/>
                          <a:ea typeface="Arial"/>
                          <a:cs typeface="Arial"/>
                        </a:rPr>
                        <a:t>Oct 19–Nov 1</a:t>
                      </a:r>
                    </a:p>
                  </a:txBody>
                  <a:tcPr marL="91440" marR="91440" marT="45720" marB="45720">
                    <a:solidFill>
                      <a:srgbClr val="FFFFFF"/>
                    </a:solidFill>
                  </a:tcPr>
                </a:tc>
                <a:tc>
                  <a:txBody>
                    <a:bodyPr/>
                    <a:lstStyle/>
                    <a:p>
                      <a:r>
                        <a:rPr sz="1725" b="0">
                          <a:solidFill>
                            <a:srgbClr val="183E50"/>
                          </a:solidFill>
                          <a:latin typeface="Arial"/>
                          <a:ea typeface="Arial"/>
                          <a:cs typeface="Arial"/>
                        </a:rPr>
                        <a:t>Prototype, architecture and API documents</a:t>
                      </a:r>
                    </a:p>
                  </a:txBody>
                  <a:tcPr marL="91440" marR="91440" marT="45720" marB="45720">
                    <a:solidFill>
                      <a:srgbClr val="FFFFFF"/>
                    </a:solidFill>
                  </a:tcPr>
                </a:tc>
              </a:tr>
              <a:tr h="585107">
                <a:tc>
                  <a:txBody>
                    <a:bodyPr/>
                    <a:lstStyle/>
                    <a:p>
                      <a:r>
                        <a:rPr sz="1725" b="0">
                          <a:solidFill>
                            <a:srgbClr val="183E50"/>
                          </a:solidFill>
                          <a:latin typeface="Arial"/>
                          <a:ea typeface="Arial"/>
                          <a:cs typeface="Arial"/>
                        </a:rPr>
                        <a:t>3  Development</a:t>
                      </a:r>
                    </a:p>
                  </a:txBody>
                  <a:tcPr marL="91440" marR="91440" marT="45720" marB="45720">
                    <a:solidFill>
                      <a:srgbClr val="EFF7F8"/>
                    </a:solidFill>
                  </a:tcPr>
                </a:tc>
                <a:tc>
                  <a:txBody>
                    <a:bodyPr/>
                    <a:lstStyle/>
                    <a:p>
                      <a:r>
                        <a:rPr sz="1725" b="0">
                          <a:solidFill>
                            <a:srgbClr val="183E50"/>
                          </a:solidFill>
                          <a:latin typeface="Arial"/>
                          <a:ea typeface="Arial"/>
                          <a:cs typeface="Arial"/>
                        </a:rPr>
                        <a:t>Nov 2–29</a:t>
                      </a:r>
                    </a:p>
                  </a:txBody>
                  <a:tcPr marL="91440" marR="91440" marT="45720" marB="45720">
                    <a:solidFill>
                      <a:srgbClr val="EFF7F8"/>
                    </a:solidFill>
                  </a:tcPr>
                </a:tc>
                <a:tc>
                  <a:txBody>
                    <a:bodyPr/>
                    <a:lstStyle/>
                    <a:p>
                      <a:r>
                        <a:rPr sz="1725" b="0">
                          <a:solidFill>
                            <a:srgbClr val="183E50"/>
                          </a:solidFill>
                          <a:latin typeface="Arial"/>
                          <a:ea typeface="Arial"/>
                          <a:cs typeface="Arial"/>
                        </a:rPr>
                        <a:t>Runnable versions for iteration reviews</a:t>
                      </a:r>
                    </a:p>
                  </a:txBody>
                  <a:tcPr marL="91440" marR="91440" marT="45720" marB="45720">
                    <a:solidFill>
                      <a:srgbClr val="EFF7F8"/>
                    </a:solidFill>
                  </a:tcPr>
                </a:tc>
              </a:tr>
              <a:tr h="585107">
                <a:tc>
                  <a:txBody>
                    <a:bodyPr/>
                    <a:lstStyle/>
                    <a:p>
                      <a:r>
                        <a:rPr sz="1725" b="0">
                          <a:solidFill>
                            <a:srgbClr val="183E50"/>
                          </a:solidFill>
                          <a:latin typeface="Arial"/>
                          <a:ea typeface="Arial"/>
                          <a:cs typeface="Arial"/>
                        </a:rPr>
                        <a:t>4  Testing &amp; beta</a:t>
                      </a:r>
                    </a:p>
                  </a:txBody>
                  <a:tcPr marL="91440" marR="91440" marT="45720" marB="45720">
                    <a:solidFill>
                      <a:srgbClr val="FFFFFF"/>
                    </a:solidFill>
                  </a:tcPr>
                </a:tc>
                <a:tc>
                  <a:txBody>
                    <a:bodyPr/>
                    <a:lstStyle/>
                    <a:p>
                      <a:r>
                        <a:rPr sz="1725" b="0">
                          <a:solidFill>
                            <a:srgbClr val="183E50"/>
                          </a:solidFill>
                          <a:latin typeface="Arial"/>
                          <a:ea typeface="Arial"/>
                          <a:cs typeface="Arial"/>
                        </a:rPr>
                        <a:t>Nov 30–Dec 13</a:t>
                      </a:r>
                    </a:p>
                  </a:txBody>
                  <a:tcPr marL="91440" marR="91440" marT="45720" marB="45720">
                    <a:solidFill>
                      <a:srgbClr val="FFFFFF"/>
                    </a:solidFill>
                  </a:tcPr>
                </a:tc>
                <a:tc>
                  <a:txBody>
                    <a:bodyPr/>
                    <a:lstStyle/>
                    <a:p>
                      <a:r>
                        <a:rPr sz="1725" b="0">
                          <a:solidFill>
                            <a:srgbClr val="183E50"/>
                          </a:solidFill>
                          <a:latin typeface="Arial"/>
                          <a:ea typeface="Arial"/>
                          <a:cs typeface="Arial"/>
                        </a:rPr>
                        <a:t>Test report and feedback from 30–50 students</a:t>
                      </a:r>
                    </a:p>
                  </a:txBody>
                  <a:tcPr marL="91440" marR="91440" marT="45720" marB="45720">
                    <a:solidFill>
                      <a:srgbClr val="FFFFFF"/>
                    </a:solidFill>
                  </a:tcPr>
                </a:tc>
              </a:tr>
              <a:tr h="585107">
                <a:tc>
                  <a:txBody>
                    <a:bodyPr/>
                    <a:lstStyle/>
                    <a:p>
                      <a:r>
                        <a:rPr sz="1725" b="0">
                          <a:solidFill>
                            <a:srgbClr val="183E50"/>
                          </a:solidFill>
                          <a:latin typeface="Arial"/>
                          <a:ea typeface="Arial"/>
                          <a:cs typeface="Arial"/>
                        </a:rPr>
                        <a:t>5  Wrap-up &amp; showcase</a:t>
                      </a:r>
                    </a:p>
                  </a:txBody>
                  <a:tcPr marL="91440" marR="91440" marT="45720" marB="45720">
                    <a:solidFill>
                      <a:srgbClr val="EFF7F8"/>
                    </a:solidFill>
                  </a:tcPr>
                </a:tc>
                <a:tc>
                  <a:txBody>
                    <a:bodyPr/>
                    <a:lstStyle/>
                    <a:p>
                      <a:r>
                        <a:rPr sz="1725" b="0">
                          <a:solidFill>
                            <a:srgbClr val="183E50"/>
                          </a:solidFill>
                          <a:latin typeface="Arial"/>
                          <a:ea typeface="Arial"/>
                          <a:cs typeface="Arial"/>
                        </a:rPr>
                        <a:t>Dec 14–27</a:t>
                      </a:r>
                    </a:p>
                  </a:txBody>
                  <a:tcPr marL="91440" marR="91440" marT="45720" marB="45720">
                    <a:solidFill>
                      <a:srgbClr val="EFF7F8"/>
                    </a:solidFill>
                  </a:tcPr>
                </a:tc>
                <a:tc>
                  <a:txBody>
                    <a:bodyPr/>
                    <a:lstStyle/>
                    <a:p>
                      <a:r>
                        <a:rPr sz="1725" b="0">
                          <a:solidFill>
                            <a:srgbClr val="183E50"/>
                          </a:solidFill>
                          <a:latin typeface="Arial"/>
                          <a:ea typeface="Arial"/>
                          <a:cs typeface="Arial"/>
                        </a:rPr>
                        <a:t>Final version, summary and demonstration</a:t>
                      </a:r>
                    </a:p>
                  </a:txBody>
                  <a:tcPr marL="91440" marR="91440" marT="45720" marB="45720">
                    <a:solidFill>
                      <a:srgbClr val="EFF7F8"/>
                    </a:solidFill>
                  </a:tcPr>
                </a:tc>
              </a:tr>
            </a:tbl>
          </a:graphicData>
        </a:graphic>
      </p:graphicFrame>
    </p:spTree>
    <p:extLst>
      <p:ext uri="{BB962C8B-B14F-4D97-AF65-F5344CB8AC3E}">
        <p14:creationId xmlns:p14="http://schemas.microsoft.com/office/powerpoint/2010/main" val="953440170"/>
      </p:ext>
    </p:extLst>
  </p:cSld>
</p:sld>
</file>

<file path=ppt/slides/slide15.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44AE329-0F57-4374-AE73-0DC6E2192749}"/>
              </a:ext>
            </a:extLst>
          </p:cNvPr>
          <p:cNvPicPr>
            <a:picLocks xmlns:a="http://schemas.openxmlformats.org/drawingml/2006/main" noChangeAspect="1"/>
          </p:cNvPicPr>
          <p:nvPr/>
        </p:nvPicPr>
        <p:blipFill>
          <a:blip xmlns:r="http://schemas.openxmlformats.org/officeDocument/2006/relationships" xmlns:a="http://schemas.openxmlformats.org/drawingml/2006/main" r:embed="R8804f459f3a941a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D89051F-2288-4737-9C97-FA6D9413AEA3}"/>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DEVELOPMENT SCOPE AND CADENCE</a:t>
            </a:r>
          </a:p>
        </p:txBody>
      </p:sp>
      <p:sp>
        <p:nvSpPr>
          <p:cNvPr id="3" name="">
            <a:extLst xmlns:a="http://schemas.openxmlformats.org/drawingml/2006/main">
              <a:ext uri="{FF2B5EF4-FFF2-40B4-BE49-F238E27FC236}">
                <a16:creationId xmlns:a16="http://schemas.microsoft.com/office/drawing/2014/main" id="{A6C15CE8-2958-4F7B-A826-3940C185CC0E}"/>
              </a:ext>
            </a:extLst>
          </p:cNvPr>
          <p:cNvSpPr>
            <a:spLocks xmlns:a="http://schemas.openxmlformats.org/drawingml/2006/main" noGrp="1"/>
          </p:cNvSpPr>
          <p:nvPr/>
        </p:nvSpPr>
        <p:spPr>
          <a:xfrm xmlns:a="http://schemas.openxmlformats.org/drawingml/2006/main">
            <a:off x="64770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76371"/>
                </a:solidFill>
                <a:latin typeface="Arial"/>
                <a:ea typeface="Arial"/>
                <a:cs typeface="Arial"/>
              </a:defRPr>
            </a:defPPr>
          </a:lstStyle>
          <a:p xmlns:a="http://schemas.openxmlformats.org/drawingml/2006/main">
            <a:pPr>
              <a:defRPr sz="1800" b="0">
                <a:solidFill>
                  <a:srgbClr val="476371"/>
                </a:solidFill>
                <a:latin typeface="Arial"/>
                <a:ea typeface="Arial"/>
                <a:cs typeface="Arial"/>
              </a:defRPr>
            </a:pPr>
            <a:r>
              <a:rPr sz="1800" b="0">
                <a:solidFill>
                  <a:srgbClr val="476371"/>
                </a:solidFill>
                <a:latin typeface="Arial"/>
                <a:ea typeface="Arial"/>
                <a:cs typeface="Arial"/>
              </a:rPr>
              <a:t>Planned feature sequence</a:t>
            </a:r>
          </a:p>
        </p:txBody>
      </p:sp>
      <p:sp>
        <p:nvSpPr>
          <p:cNvPr id="4" name="">
            <a:extLst xmlns:a="http://schemas.openxmlformats.org/drawingml/2006/main">
              <a:ext uri="{FF2B5EF4-FFF2-40B4-BE49-F238E27FC236}">
                <a16:creationId xmlns:a16="http://schemas.microsoft.com/office/drawing/2014/main" id="{7FDE9F7E-77B0-489E-A4FA-0FBA143FFFCF}"/>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15</a:t>
            </a:r>
          </a:p>
        </p:txBody>
      </p:sp>
      <p:graphicFrame>
        <p:nvGraphicFramePr>
          <p:cNvPr id="5" name="">
            <a:extLst xmlns:a="http://schemas.openxmlformats.org/drawingml/2006/main">
              <a:ext uri="{FF2B5EF4-FFF2-40B4-BE49-F238E27FC236}">
                <a16:creationId xmlns:a16="http://schemas.microsoft.com/office/drawing/2014/main" id="{E263739F-56C2-4A7B-8F9D-B03F95BD109A}"/>
              </a:ext>
            </a:extLst>
          </p:cNvPr>
          <p:cNvGraphicFramePr/>
          <p:nvPr/>
        </p:nvGraphicFramePr>
        <p:xfrm>
          <a:off xmlns:a="http://schemas.openxmlformats.org/drawingml/2006/main" x="647700" y="1838325"/>
          <a:ext xmlns:a="http://schemas.openxmlformats.org/drawingml/2006/main" cx="10896600" cy="2667000"/>
        </p:xfrm>
        <a:graphic xmlns:a="http://schemas.openxmlformats.org/drawingml/2006/main">
          <a:graphicData uri="http://schemas.openxmlformats.org/drawingml/2006/table">
            <a:tbl>
              <a:tblPr/>
              <a:tblGrid>
                <a:gridCol w="2095500"/>
                <a:gridCol w="8801100"/>
              </a:tblGrid>
              <a:tr h="666750">
                <a:tc>
                  <a:txBody>
                    <a:bodyPr/>
                    <a:lstStyle/>
                    <a:p>
                      <a:r>
                        <a:rPr sz="1875" b="1">
                          <a:solidFill>
                            <a:srgbClr val="183E50"/>
                          </a:solidFill>
                          <a:latin typeface="Arial"/>
                          <a:ea typeface="Arial"/>
                          <a:cs typeface="Arial"/>
                        </a:rPr>
                        <a:t>Iteration</a:t>
                      </a:r>
                    </a:p>
                  </a:txBody>
                  <a:tcPr marL="91440" marR="91440" marT="45720" marB="45720">
                    <a:solidFill>
                      <a:srgbClr val="FFD85C"/>
                    </a:solidFill>
                  </a:tcPr>
                </a:tc>
                <a:tc>
                  <a:txBody>
                    <a:bodyPr/>
                    <a:lstStyle/>
                    <a:p>
                      <a:r>
                        <a:rPr sz="1875" b="1">
                          <a:solidFill>
                            <a:srgbClr val="183E50"/>
                          </a:solidFill>
                          <a:latin typeface="Arial"/>
                          <a:ea typeface="Arial"/>
                          <a:cs typeface="Arial"/>
                        </a:rPr>
                        <a:t>Planned scope</a:t>
                      </a:r>
                    </a:p>
                  </a:txBody>
                  <a:tcPr marL="91440" marR="91440" marT="45720" marB="45720">
                    <a:solidFill>
                      <a:srgbClr val="FFD85C"/>
                    </a:solidFill>
                  </a:tcPr>
                </a:tc>
              </a:tr>
              <a:tr h="666750">
                <a:tc>
                  <a:txBody>
                    <a:bodyPr/>
                    <a:lstStyle/>
                    <a:p>
                      <a:r>
                        <a:rPr sz="1875" b="0">
                          <a:solidFill>
                            <a:srgbClr val="183E50"/>
                          </a:solidFill>
                          <a:latin typeface="Arial"/>
                          <a:ea typeface="Arial"/>
                          <a:cs typeface="Arial"/>
                        </a:rPr>
                        <a:t>1</a:t>
                      </a:r>
                    </a:p>
                  </a:txBody>
                  <a:tcPr marL="91440" marR="91440" marT="45720" marB="45720">
                    <a:solidFill>
                      <a:srgbClr val="FFFFFF"/>
                    </a:solidFill>
                  </a:tcPr>
                </a:tc>
                <a:tc>
                  <a:txBody>
                    <a:bodyPr/>
                    <a:lstStyle/>
                    <a:p>
                      <a:r>
                        <a:rPr sz="1875" b="0">
                          <a:solidFill>
                            <a:srgbClr val="183E50"/>
                          </a:solidFill>
                          <a:latin typeface="Arial"/>
                          <a:ea typeface="Arial"/>
                          <a:cs typeface="Arial"/>
                        </a:rPr>
                        <a:t>Login, profile, activity creation and browsing</a:t>
                      </a:r>
                    </a:p>
                  </a:txBody>
                  <a:tcPr marL="91440" marR="91440" marT="45720" marB="45720">
                    <a:solidFill>
                      <a:srgbClr val="FFFFFF"/>
                    </a:solidFill>
                  </a:tcPr>
                </a:tc>
              </a:tr>
              <a:tr h="666750">
                <a:tc>
                  <a:txBody>
                    <a:bodyPr/>
                    <a:lstStyle/>
                    <a:p>
                      <a:r>
                        <a:rPr sz="1875" b="0">
                          <a:solidFill>
                            <a:srgbClr val="183E50"/>
                          </a:solidFill>
                          <a:latin typeface="Arial"/>
                          <a:ea typeface="Arial"/>
                          <a:cs typeface="Arial"/>
                        </a:rPr>
                        <a:t>2</a:t>
                      </a:r>
                    </a:p>
                  </a:txBody>
                  <a:tcPr marL="91440" marR="91440" marT="45720" marB="45720">
                    <a:solidFill>
                      <a:srgbClr val="EFF7F8"/>
                    </a:solidFill>
                  </a:tcPr>
                </a:tc>
                <a:tc>
                  <a:txBody>
                    <a:bodyPr/>
                    <a:lstStyle/>
                    <a:p>
                      <a:r>
                        <a:rPr sz="1875" b="0">
                          <a:solidFill>
                            <a:srgbClr val="183E50"/>
                          </a:solidFill>
                          <a:latin typeface="Arial"/>
                          <a:ea typeface="Arial"/>
                          <a:cs typeface="Arial"/>
                        </a:rPr>
                        <a:t>Sign-up, matching, notifications and check-in</a:t>
                      </a:r>
                    </a:p>
                  </a:txBody>
                  <a:tcPr marL="91440" marR="91440" marT="45720" marB="45720">
                    <a:solidFill>
                      <a:srgbClr val="EFF7F8"/>
                    </a:solidFill>
                  </a:tcPr>
                </a:tc>
              </a:tr>
              <a:tr h="666750">
                <a:tc>
                  <a:txBody>
                    <a:bodyPr/>
                    <a:lstStyle/>
                    <a:p>
                      <a:r>
                        <a:rPr sz="1875" b="0">
                          <a:solidFill>
                            <a:srgbClr val="183E50"/>
                          </a:solidFill>
                          <a:latin typeface="Arial"/>
                          <a:ea typeface="Arial"/>
                          <a:cs typeface="Arial"/>
                        </a:rPr>
                        <a:t>3</a:t>
                      </a:r>
                    </a:p>
                  </a:txBody>
                  <a:tcPr marL="91440" marR="91440" marT="45720" marB="45720">
                    <a:solidFill>
                      <a:srgbClr val="FFFFFF"/>
                    </a:solidFill>
                  </a:tcPr>
                </a:tc>
                <a:tc>
                  <a:txBody>
                    <a:bodyPr/>
                    <a:lstStyle/>
                    <a:p>
                      <a:r>
                        <a:rPr sz="1875" b="0">
                          <a:solidFill>
                            <a:srgbClr val="183E50"/>
                          </a:solidFill>
                          <a:latin typeface="Arial"/>
                          <a:ea typeface="Arial"/>
                          <a:cs typeface="Arial"/>
                        </a:rPr>
                        <a:t>Reliability score, reviews, one-line creation and weather tips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2BCE701-E13D-473B-8E9F-BB81C908BD8E}"/>
              </a:ext>
            </a:extLst>
          </p:cNvPr>
          <p:cNvSpPr>
            <a:spLocks xmlns:a="http://schemas.openxmlformats.org/drawingml/2006/main" noGrp="1"/>
          </p:cNvSpPr>
          <p:nvPr/>
        </p:nvSpPr>
        <p:spPr>
          <a:xfrm xmlns:a="http://schemas.openxmlformats.org/drawingml/2006/main">
            <a:off x="685800" y="4810125"/>
            <a:ext cx="1028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AC6900"/>
                </a:solidFill>
                <a:latin typeface="Arial"/>
                <a:ea typeface="Arial"/>
                <a:cs typeface="Arial"/>
              </a:defRPr>
            </a:defPPr>
          </a:lstStyle>
          <a:p xmlns:a="http://schemas.openxmlformats.org/drawingml/2006/main">
            <a:pPr>
              <a:defRPr sz="2025" b="1">
                <a:solidFill>
                  <a:srgbClr val="AC6900"/>
                </a:solidFill>
                <a:latin typeface="Arial"/>
                <a:ea typeface="Arial"/>
                <a:cs typeface="Arial"/>
              </a:defRPr>
            </a:pPr>
            <a:r>
              <a:rPr sz="2025" b="1">
                <a:solidFill>
                  <a:srgbClr val="AC6900"/>
                </a:solidFill>
                <a:latin typeface="Arial"/>
                <a:ea typeface="Arial"/>
                <a:cs typeface="Arial"/>
              </a:rPr>
              <a:t>Three iterations, about 1.5 weeks each</a:t>
            </a:r>
          </a:p>
        </p:txBody>
      </p:sp>
      <p:sp>
        <p:nvSpPr>
          <p:cNvPr id="7" name="">
            <a:extLst xmlns:a="http://schemas.openxmlformats.org/drawingml/2006/main">
              <a:ext uri="{FF2B5EF4-FFF2-40B4-BE49-F238E27FC236}">
                <a16:creationId xmlns:a16="http://schemas.microsoft.com/office/drawing/2014/main" id="{11E0B086-C75A-4898-BD37-44B7D74DAADC}"/>
              </a:ext>
            </a:extLst>
          </p:cNvPr>
          <p:cNvSpPr>
            <a:spLocks xmlns:a="http://schemas.openxmlformats.org/drawingml/2006/main" noGrp="1"/>
          </p:cNvSpPr>
          <p:nvPr/>
        </p:nvSpPr>
        <p:spPr>
          <a:xfrm xmlns:a="http://schemas.openxmlformats.org/drawingml/2006/main">
            <a:off x="685800" y="52673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83E50"/>
                </a:solidFill>
                <a:latin typeface="Arial"/>
                <a:ea typeface="Arial"/>
                <a:cs typeface="Arial"/>
              </a:defRPr>
            </a:defPPr>
          </a:lstStyle>
          <a:p xmlns:a="http://schemas.openxmlformats.org/drawingml/2006/main">
            <a:pPr>
              <a:defRPr sz="1800" b="0">
                <a:solidFill>
                  <a:srgbClr val="183E50"/>
                </a:solidFill>
                <a:latin typeface="Arial"/>
                <a:ea typeface="Arial"/>
                <a:cs typeface="Arial"/>
              </a:defRPr>
            </a:pPr>
            <a:r>
              <a:rPr sz="1800" b="0">
                <a:solidFill>
                  <a:srgbClr val="183E50"/>
                </a:solidFill>
                <a:latin typeface="Arial"/>
                <a:ea typeface="Arial"/>
                <a:cs typeface="Arial"/>
              </a:rPr>
              <a:t>MVP first, a runnable demonstration at each iteration review,</a:t>
            </a:r>
          </a:p>
          <a:p xmlns:a="http://schemas.openxmlformats.org/drawingml/2006/main">
            <a:pPr>
              <a:defRPr sz="1800" b="0">
                <a:solidFill>
                  <a:srgbClr val="183E50"/>
                </a:solidFill>
                <a:latin typeface="Arial"/>
                <a:ea typeface="Arial"/>
                <a:cs typeface="Arial"/>
              </a:defRPr>
            </a:pPr>
            <a:r>
              <a:rPr sz="1800" b="0">
                <a:solidFill>
                  <a:srgbClr val="183E50"/>
                </a:solidFill>
                <a:latin typeface="Arial"/>
                <a:ea typeface="Arial"/>
                <a:cs typeface="Arial"/>
              </a:rPr>
              <a:t>and buffer time for changes and unexpected delays.</a:t>
            </a:r>
          </a:p>
        </p:txBody>
      </p:sp>
    </p:spTree>
    <p:extLst>
      <p:ext uri="{BB962C8B-B14F-4D97-AF65-F5344CB8AC3E}">
        <p14:creationId xmlns:p14="http://schemas.microsoft.com/office/powerpoint/2010/main" val="338995022"/>
      </p:ext>
    </p:extLst>
  </p:cSld>
</p:sld>
</file>

<file path=ppt/slides/slide16.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7231B15-50EF-4A9B-809C-84BDA68268AC}"/>
              </a:ext>
            </a:extLst>
          </p:cNvPr>
          <p:cNvPicPr>
            <a:picLocks xmlns:a="http://schemas.openxmlformats.org/drawingml/2006/main" noChangeAspect="1"/>
          </p:cNvPicPr>
          <p:nvPr/>
        </p:nvPicPr>
        <p:blipFill>
          <a:blip xmlns:r="http://schemas.openxmlformats.org/officeDocument/2006/relationships" xmlns:a="http://schemas.openxmlformats.org/drawingml/2006/main" r:embed="R33fd97c6551041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D39307D-4A01-4670-9A94-150CB139A77D}"/>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PERFORMANCE ASSESSMENT</a:t>
            </a:r>
          </a:p>
        </p:txBody>
      </p:sp>
      <p:sp>
        <p:nvSpPr>
          <p:cNvPr id="3" name="">
            <a:extLst xmlns:a="http://schemas.openxmlformats.org/drawingml/2006/main">
              <a:ext uri="{FF2B5EF4-FFF2-40B4-BE49-F238E27FC236}">
                <a16:creationId xmlns:a16="http://schemas.microsoft.com/office/drawing/2014/main" id="{D3A6AC81-5961-42E1-9870-9B7C8B75C2A2}"/>
              </a:ext>
            </a:extLst>
          </p:cNvPr>
          <p:cNvSpPr>
            <a:spLocks xmlns:a="http://schemas.openxmlformats.org/drawingml/2006/main" noGrp="1"/>
          </p:cNvSpPr>
          <p:nvPr/>
        </p:nvSpPr>
        <p:spPr>
          <a:xfrm xmlns:a="http://schemas.openxmlformats.org/drawingml/2006/main">
            <a:off x="647700" y="1219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76371"/>
                </a:solidFill>
                <a:latin typeface="Arial"/>
                <a:ea typeface="Arial"/>
                <a:cs typeface="Arial"/>
              </a:defRPr>
            </a:defPPr>
          </a:lstStyle>
          <a:p xmlns:a="http://schemas.openxmlformats.org/drawingml/2006/main">
            <a:pPr>
              <a:defRPr sz="1800" b="0">
                <a:solidFill>
                  <a:srgbClr val="476371"/>
                </a:solidFill>
                <a:latin typeface="Arial"/>
                <a:ea typeface="Arial"/>
                <a:cs typeface="Arial"/>
              </a:defRPr>
            </a:pPr>
            <a:r>
              <a:rPr sz="1800" b="0">
                <a:solidFill>
                  <a:srgbClr val="476371"/>
                </a:solidFill>
                <a:latin typeface="Arial"/>
                <a:ea typeface="Arial"/>
                <a:cs typeface="Arial"/>
              </a:rPr>
              <a:t>Each iteration ends with an evidence-based review</a:t>
            </a:r>
          </a:p>
        </p:txBody>
      </p:sp>
      <p:sp>
        <p:nvSpPr>
          <p:cNvPr id="4" name="">
            <a:extLst xmlns:a="http://schemas.openxmlformats.org/drawingml/2006/main">
              <a:ext uri="{FF2B5EF4-FFF2-40B4-BE49-F238E27FC236}">
                <a16:creationId xmlns:a16="http://schemas.microsoft.com/office/drawing/2014/main" id="{B928A782-3F9F-48DB-B492-0C5D13E35BA0}"/>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16</a:t>
            </a:r>
          </a:p>
        </p:txBody>
      </p:sp>
      <p:graphicFrame>
        <p:nvGraphicFramePr>
          <p:cNvPr id="5" name="">
            <a:extLst xmlns:a="http://schemas.openxmlformats.org/drawingml/2006/main">
              <a:ext uri="{FF2B5EF4-FFF2-40B4-BE49-F238E27FC236}">
                <a16:creationId xmlns:a16="http://schemas.microsoft.com/office/drawing/2014/main" id="{4474BB57-B959-45E9-BEAD-08982222B757}"/>
              </a:ext>
            </a:extLst>
          </p:cNvPr>
          <p:cNvGraphicFramePr/>
          <p:nvPr/>
        </p:nvGraphicFramePr>
        <p:xfrm>
          <a:off xmlns:a="http://schemas.openxmlformats.org/drawingml/2006/main" x="647700" y="1809750"/>
          <a:ext xmlns:a="http://schemas.openxmlformats.org/drawingml/2006/main" cx="10896600" cy="3352800"/>
        </p:xfrm>
        <a:graphic xmlns:a="http://schemas.openxmlformats.org/drawingml/2006/main">
          <a:graphicData uri="http://schemas.openxmlformats.org/drawingml/2006/table">
            <a:tbl>
              <a:tblPr/>
              <a:tblGrid>
                <a:gridCol w="3857625"/>
                <a:gridCol w="1333500"/>
                <a:gridCol w="5705475"/>
              </a:tblGrid>
              <a:tr h="558800">
                <a:tc>
                  <a:txBody>
                    <a:bodyPr/>
                    <a:lstStyle/>
                    <a:p>
                      <a:r>
                        <a:rPr sz="1800" b="1">
                          <a:solidFill>
                            <a:srgbClr val="183E50"/>
                          </a:solidFill>
                          <a:latin typeface="Arial"/>
                          <a:ea typeface="Arial"/>
                          <a:cs typeface="Arial"/>
                        </a:rPr>
                        <a:t>Dimension</a:t>
                      </a:r>
                    </a:p>
                  </a:txBody>
                  <a:tcPr marL="91440" marR="91440" marT="45720" marB="45720">
                    <a:solidFill>
                      <a:srgbClr val="FFD85C"/>
                    </a:solidFill>
                  </a:tcPr>
                </a:tc>
                <a:tc>
                  <a:txBody>
                    <a:bodyPr/>
                    <a:lstStyle/>
                    <a:p>
                      <a:r>
                        <a:rPr sz="1800" b="1">
                          <a:solidFill>
                            <a:srgbClr val="183E50"/>
                          </a:solidFill>
                          <a:latin typeface="Arial"/>
                          <a:ea typeface="Arial"/>
                          <a:cs typeface="Arial"/>
                        </a:rPr>
                        <a:t>Weight</a:t>
                      </a:r>
                    </a:p>
                  </a:txBody>
                  <a:tcPr marL="91440" marR="91440" marT="45720" marB="45720">
                    <a:solidFill>
                      <a:srgbClr val="FFD85C"/>
                    </a:solidFill>
                  </a:tcPr>
                </a:tc>
                <a:tc>
                  <a:txBody>
                    <a:bodyPr/>
                    <a:lstStyle/>
                    <a:p>
                      <a:r>
                        <a:rPr sz="1800" b="1">
                          <a:solidFill>
                            <a:srgbClr val="183E50"/>
                          </a:solidFill>
                          <a:latin typeface="Arial"/>
                          <a:ea typeface="Arial"/>
                          <a:cs typeface="Arial"/>
                        </a:rPr>
                        <a:t>Evidence</a:t>
                      </a:r>
                    </a:p>
                  </a:txBody>
                  <a:tcPr marL="91440" marR="91440" marT="45720" marB="45720">
                    <a:solidFill>
                      <a:srgbClr val="FFD85C"/>
                    </a:solidFill>
                  </a:tcPr>
                </a:tc>
              </a:tr>
              <a:tr h="558800">
                <a:tc>
                  <a:txBody>
                    <a:bodyPr/>
                    <a:lstStyle/>
                    <a:p>
                      <a:r>
                        <a:rPr sz="1800" b="0">
                          <a:solidFill>
                            <a:srgbClr val="183E50"/>
                          </a:solidFill>
                          <a:latin typeface="Arial"/>
                          <a:ea typeface="Arial"/>
                          <a:cs typeface="Arial"/>
                        </a:rPr>
                        <a:t>Task completion &amp; quality</a:t>
                      </a:r>
                    </a:p>
                  </a:txBody>
                  <a:tcPr marL="91440" marR="91440" marT="45720" marB="45720">
                    <a:solidFill>
                      <a:srgbClr val="FFFFFF"/>
                    </a:solidFill>
                  </a:tcPr>
                </a:tc>
                <a:tc>
                  <a:txBody>
                    <a:bodyPr/>
                    <a:lstStyle/>
                    <a:p>
                      <a:r>
                        <a:rPr sz="1800" b="0">
                          <a:solidFill>
                            <a:srgbClr val="183E50"/>
                          </a:solidFill>
                          <a:latin typeface="Arial"/>
                          <a:ea typeface="Arial"/>
                          <a:cs typeface="Arial"/>
                        </a:rPr>
                        <a:t>40%</a:t>
                      </a:r>
                    </a:p>
                  </a:txBody>
                  <a:tcPr marL="91440" marR="91440" marT="45720" marB="45720">
                    <a:solidFill>
                      <a:srgbClr val="FFFFFF"/>
                    </a:solidFill>
                  </a:tcPr>
                </a:tc>
                <a:tc>
                  <a:txBody>
                    <a:bodyPr/>
                    <a:lstStyle/>
                    <a:p>
                      <a:r>
                        <a:rPr sz="1800" b="0">
                          <a:solidFill>
                            <a:srgbClr val="183E50"/>
                          </a:solidFill>
                          <a:latin typeface="Arial"/>
                          <a:ea typeface="Arial"/>
                          <a:cs typeface="Arial"/>
                        </a:rPr>
                        <a:t>On-time completion and acceptance</a:t>
                      </a:r>
                    </a:p>
                  </a:txBody>
                  <a:tcPr marL="91440" marR="91440" marT="45720" marB="45720">
                    <a:solidFill>
                      <a:srgbClr val="FFFFFF"/>
                    </a:solidFill>
                  </a:tcPr>
                </a:tc>
              </a:tr>
              <a:tr h="558800">
                <a:tc>
                  <a:txBody>
                    <a:bodyPr/>
                    <a:lstStyle/>
                    <a:p>
                      <a:r>
                        <a:rPr sz="1800" b="0">
                          <a:solidFill>
                            <a:srgbClr val="183E50"/>
                          </a:solidFill>
                          <a:latin typeface="Arial"/>
                          <a:ea typeface="Arial"/>
                          <a:cs typeface="Arial"/>
                        </a:rPr>
                        <a:t>Code / document quality</a:t>
                      </a:r>
                    </a:p>
                  </a:txBody>
                  <a:tcPr marL="91440" marR="91440" marT="45720" marB="45720">
                    <a:solidFill>
                      <a:srgbClr val="EFF7F8"/>
                    </a:solidFill>
                  </a:tcPr>
                </a:tc>
                <a:tc>
                  <a:txBody>
                    <a:bodyPr/>
                    <a:lstStyle/>
                    <a:p>
                      <a:r>
                        <a:rPr sz="1800" b="0">
                          <a:solidFill>
                            <a:srgbClr val="183E50"/>
                          </a:solidFill>
                          <a:latin typeface="Arial"/>
                          <a:ea typeface="Arial"/>
                          <a:cs typeface="Arial"/>
                        </a:rPr>
                        <a:t>20%</a:t>
                      </a:r>
                    </a:p>
                  </a:txBody>
                  <a:tcPr marL="91440" marR="91440" marT="45720" marB="45720">
                    <a:solidFill>
                      <a:srgbClr val="EFF7F8"/>
                    </a:solidFill>
                  </a:tcPr>
                </a:tc>
                <a:tc>
                  <a:txBody>
                    <a:bodyPr/>
                    <a:lstStyle/>
                    <a:p>
                      <a:r>
                        <a:rPr sz="1800" b="0">
                          <a:solidFill>
                            <a:srgbClr val="183E50"/>
                          </a:solidFill>
                          <a:latin typeface="Arial"/>
                          <a:ea typeface="Arial"/>
                          <a:cs typeface="Arial"/>
                        </a:rPr>
                        <a:t>Code and document reviews</a:t>
                      </a:r>
                    </a:p>
                  </a:txBody>
                  <a:tcPr marL="91440" marR="91440" marT="45720" marB="45720">
                    <a:solidFill>
                      <a:srgbClr val="EFF7F8"/>
                    </a:solidFill>
                  </a:tcPr>
                </a:tc>
              </a:tr>
              <a:tr h="558800">
                <a:tc>
                  <a:txBody>
                    <a:bodyPr/>
                    <a:lstStyle/>
                    <a:p>
                      <a:r>
                        <a:rPr sz="1800" b="0">
                          <a:solidFill>
                            <a:srgbClr val="183E50"/>
                          </a:solidFill>
                          <a:latin typeface="Arial"/>
                          <a:ea typeface="Arial"/>
                          <a:cs typeface="Arial"/>
                        </a:rPr>
                        <a:t>Collaboration &amp; communication</a:t>
                      </a:r>
                    </a:p>
                  </a:txBody>
                  <a:tcPr marL="91440" marR="91440" marT="45720" marB="45720">
                    <a:solidFill>
                      <a:srgbClr val="FFFFFF"/>
                    </a:solidFill>
                  </a:tcPr>
                </a:tc>
                <a:tc>
                  <a:txBody>
                    <a:bodyPr/>
                    <a:lstStyle/>
                    <a:p>
                      <a:r>
                        <a:rPr sz="1800" b="0">
                          <a:solidFill>
                            <a:srgbClr val="183E50"/>
                          </a:solidFill>
                          <a:latin typeface="Arial"/>
                          <a:ea typeface="Arial"/>
                          <a:cs typeface="Arial"/>
                        </a:rPr>
                        <a:t>15%</a:t>
                      </a:r>
                    </a:p>
                  </a:txBody>
                  <a:tcPr marL="91440" marR="91440" marT="45720" marB="45720">
                    <a:solidFill>
                      <a:srgbClr val="FFFFFF"/>
                    </a:solidFill>
                  </a:tcPr>
                </a:tc>
                <a:tc>
                  <a:txBody>
                    <a:bodyPr/>
                    <a:lstStyle/>
                    <a:p>
                      <a:r>
                        <a:rPr sz="1800" b="0">
                          <a:solidFill>
                            <a:srgbClr val="183E50"/>
                          </a:solidFill>
                          <a:latin typeface="Arial"/>
                          <a:ea typeface="Arial"/>
                          <a:cs typeface="Arial"/>
                        </a:rPr>
                        <a:t>Participation, response and support</a:t>
                      </a:r>
                    </a:p>
                  </a:txBody>
                  <a:tcPr marL="91440" marR="91440" marT="45720" marB="45720">
                    <a:solidFill>
                      <a:srgbClr val="FFFFFF"/>
                    </a:solidFill>
                  </a:tcPr>
                </a:tc>
              </a:tr>
              <a:tr h="558800">
                <a:tc>
                  <a:txBody>
                    <a:bodyPr/>
                    <a:lstStyle/>
                    <a:p>
                      <a:r>
                        <a:rPr sz="1800" b="0">
                          <a:solidFill>
                            <a:srgbClr val="183E50"/>
                          </a:solidFill>
                          <a:latin typeface="Arial"/>
                          <a:ea typeface="Arial"/>
                          <a:cs typeface="Arial"/>
                        </a:rPr>
                        <a:t>Attendance &amp; punctuality</a:t>
                      </a:r>
                    </a:p>
                  </a:txBody>
                  <a:tcPr marL="91440" marR="91440" marT="45720" marB="45720">
                    <a:solidFill>
                      <a:srgbClr val="EFF7F8"/>
                    </a:solidFill>
                  </a:tcPr>
                </a:tc>
                <a:tc>
                  <a:txBody>
                    <a:bodyPr/>
                    <a:lstStyle/>
                    <a:p>
                      <a:r>
                        <a:rPr sz="1800" b="0">
                          <a:solidFill>
                            <a:srgbClr val="183E50"/>
                          </a:solidFill>
                          <a:latin typeface="Arial"/>
                          <a:ea typeface="Arial"/>
                          <a:cs typeface="Arial"/>
                        </a:rPr>
                        <a:t>10%</a:t>
                      </a:r>
                    </a:p>
                  </a:txBody>
                  <a:tcPr marL="91440" marR="91440" marT="45720" marB="45720">
                    <a:solidFill>
                      <a:srgbClr val="EFF7F8"/>
                    </a:solidFill>
                  </a:tcPr>
                </a:tc>
                <a:tc>
                  <a:txBody>
                    <a:bodyPr/>
                    <a:lstStyle/>
                    <a:p>
                      <a:r>
                        <a:rPr sz="1800" b="0">
                          <a:solidFill>
                            <a:srgbClr val="183E50"/>
                          </a:solidFill>
                          <a:latin typeface="Arial"/>
                          <a:ea typeface="Arial"/>
                          <a:cs typeface="Arial"/>
                        </a:rPr>
                        <a:t>Meeting attendance and delivery timing</a:t>
                      </a:r>
                    </a:p>
                  </a:txBody>
                  <a:tcPr marL="91440" marR="91440" marT="45720" marB="45720">
                    <a:solidFill>
                      <a:srgbClr val="EFF7F8"/>
                    </a:solidFill>
                  </a:tcPr>
                </a:tc>
              </a:tr>
              <a:tr h="558800">
                <a:tc>
                  <a:txBody>
                    <a:bodyPr/>
                    <a:lstStyle/>
                    <a:p>
                      <a:r>
                        <a:rPr sz="1800" b="0">
                          <a:solidFill>
                            <a:srgbClr val="183E50"/>
                          </a:solidFill>
                          <a:latin typeface="Arial"/>
                          <a:ea typeface="Arial"/>
                          <a:cs typeface="Arial"/>
                        </a:rPr>
                        <a:t>Peer review</a:t>
                      </a:r>
                    </a:p>
                  </a:txBody>
                  <a:tcPr marL="91440" marR="91440" marT="45720" marB="45720">
                    <a:solidFill>
                      <a:srgbClr val="FFFFFF"/>
                    </a:solidFill>
                  </a:tcPr>
                </a:tc>
                <a:tc>
                  <a:txBody>
                    <a:bodyPr/>
                    <a:lstStyle/>
                    <a:p>
                      <a:r>
                        <a:rPr sz="1800" b="0">
                          <a:solidFill>
                            <a:srgbClr val="183E50"/>
                          </a:solidFill>
                          <a:latin typeface="Arial"/>
                          <a:ea typeface="Arial"/>
                          <a:cs typeface="Arial"/>
                        </a:rPr>
                        <a:t>15%</a:t>
                      </a:r>
                    </a:p>
                  </a:txBody>
                  <a:tcPr marL="91440" marR="91440" marT="45720" marB="45720">
                    <a:solidFill>
                      <a:srgbClr val="FFFFFF"/>
                    </a:solidFill>
                  </a:tcPr>
                </a:tc>
                <a:tc>
                  <a:txBody>
                    <a:bodyPr/>
                    <a:lstStyle/>
                    <a:p>
                      <a:r>
                        <a:rPr sz="1800" b="0">
                          <a:solidFill>
                            <a:srgbClr val="183E50"/>
                          </a:solidFill>
                          <a:latin typeface="Arial"/>
                          <a:ea typeface="Arial"/>
                          <a:cs typeface="Arial"/>
                        </a:rPr>
                        <a:t>Anonymous feedback each iteration</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1FE6057-BF6F-4C55-91B1-DF478A60C32F}"/>
              </a:ext>
            </a:extLst>
          </p:cNvPr>
          <p:cNvSpPr>
            <a:spLocks xmlns:a="http://schemas.openxmlformats.org/drawingml/2006/main" noGrp="1"/>
          </p:cNvSpPr>
          <p:nvPr/>
        </p:nvSpPr>
        <p:spPr>
          <a:xfrm xmlns:a="http://schemas.openxmlformats.org/drawingml/2006/main">
            <a:off x="685800" y="54959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819B"/>
                </a:solidFill>
                <a:latin typeface="Arial"/>
                <a:ea typeface="Arial"/>
                <a:cs typeface="Arial"/>
              </a:defRPr>
            </a:defPPr>
          </a:lstStyle>
          <a:p xmlns:a="http://schemas.openxmlformats.org/drawingml/2006/main">
            <a:pPr>
              <a:defRPr sz="2025" b="1">
                <a:solidFill>
                  <a:srgbClr val="19819B"/>
                </a:solidFill>
                <a:latin typeface="Arial"/>
                <a:ea typeface="Arial"/>
                <a:cs typeface="Arial"/>
              </a:defRPr>
            </a:pPr>
            <a:r>
              <a:rPr sz="2025" b="1">
                <a:solidFill>
                  <a:srgbClr val="19819B"/>
                </a:solidFill>
                <a:latin typeface="Arial"/>
                <a:ea typeface="Arial"/>
                <a:cs typeface="Arial"/>
              </a:rPr>
              <a:t>Score = sum of dimension scores × weights</a:t>
            </a:r>
          </a:p>
        </p:txBody>
      </p:sp>
      <p:sp>
        <p:nvSpPr>
          <p:cNvPr id="7" name="">
            <a:extLst xmlns:a="http://schemas.openxmlformats.org/drawingml/2006/main">
              <a:ext uri="{FF2B5EF4-FFF2-40B4-BE49-F238E27FC236}">
                <a16:creationId xmlns:a16="http://schemas.microsoft.com/office/drawing/2014/main" id="{1B722FB7-C4BC-444E-B493-6D81055179B3}"/>
              </a:ext>
            </a:extLst>
          </p:cNvPr>
          <p:cNvSpPr>
            <a:spLocks xmlns:a="http://schemas.openxmlformats.org/drawingml/2006/main" noGrp="1"/>
          </p:cNvSpPr>
          <p:nvPr/>
        </p:nvSpPr>
        <p:spPr>
          <a:xfrm xmlns:a="http://schemas.openxmlformats.org/drawingml/2006/main">
            <a:off x="685800" y="6000750"/>
            <a:ext cx="10715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76371"/>
                </a:solidFill>
                <a:latin typeface="Arial"/>
                <a:ea typeface="Arial"/>
                <a:cs typeface="Arial"/>
              </a:defRPr>
            </a:defPPr>
          </a:lstStyle>
          <a:p xmlns:a="http://schemas.openxmlformats.org/drawingml/2006/main">
            <a:pPr>
              <a:defRPr sz="1650" b="0">
                <a:solidFill>
                  <a:srgbClr val="476371"/>
                </a:solidFill>
                <a:latin typeface="Arial"/>
                <a:ea typeface="Arial"/>
                <a:cs typeface="Arial"/>
              </a:defRPr>
            </a:pPr>
            <a:r>
              <a:rPr sz="1650" b="0">
                <a:solidFill>
                  <a:srgbClr val="476371"/>
                </a:solidFill>
                <a:latin typeface="Arial"/>
                <a:ea typeface="Arial"/>
                <a:cs typeface="Arial"/>
              </a:rPr>
              <a:t>90–100 Excellent     75–89 Good     60–74 Pass     Below 60 Needs Improvement</a:t>
            </a:r>
          </a:p>
        </p:txBody>
      </p:sp>
    </p:spTree>
    <p:extLst>
      <p:ext uri="{BB962C8B-B14F-4D97-AF65-F5344CB8AC3E}">
        <p14:creationId xmlns:p14="http://schemas.microsoft.com/office/powerpoint/2010/main" val="1758703309"/>
      </p:ext>
    </p:extLst>
  </p:cSld>
</p:sld>
</file>

<file path=ppt/slides/slide17.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E7C23A8-02F4-4C04-9081-1125D7C40BFB}"/>
              </a:ext>
            </a:extLst>
          </p:cNvPr>
          <p:cNvPicPr>
            <a:picLocks xmlns:a="http://schemas.openxmlformats.org/drawingml/2006/main" noChangeAspect="1"/>
          </p:cNvPicPr>
          <p:nvPr/>
        </p:nvPicPr>
        <p:blipFill>
          <a:blip xmlns:r="http://schemas.openxmlformats.org/officeDocument/2006/relationships" xmlns:a="http://schemas.openxmlformats.org/drawingml/2006/main" r:embed="R041633df10f0412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A0AA1C7-E6EA-49B7-A3D5-D5F8AFC20246}"/>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FAIRNESS, FEEDBACK AND APPEALS</a:t>
            </a:r>
          </a:p>
        </p:txBody>
      </p:sp>
      <p:sp>
        <p:nvSpPr>
          <p:cNvPr id="3" name="">
            <a:extLst xmlns:a="http://schemas.openxmlformats.org/drawingml/2006/main">
              <a:ext uri="{FF2B5EF4-FFF2-40B4-BE49-F238E27FC236}">
                <a16:creationId xmlns:a16="http://schemas.microsoft.com/office/drawing/2014/main" id="{4D7E839D-64B9-413E-BF16-0D833254B2BE}"/>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875913CF-D4AA-4FAD-9481-092C151A9508}"/>
              </a:ext>
            </a:extLst>
          </p:cNvPr>
          <p:cNvSpPr>
            <a:spLocks xmlns:a="http://schemas.openxmlformats.org/drawingml/2006/main" noGrp="1"/>
          </p:cNvSpPr>
          <p:nvPr/>
        </p:nvSpPr>
        <p:spPr>
          <a:xfrm xmlns:a="http://schemas.openxmlformats.org/drawingml/2006/main">
            <a:off x="666750" y="1981200"/>
            <a:ext cx="3346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AC6900"/>
                </a:solidFill>
                <a:latin typeface="Arial"/>
                <a:ea typeface="Arial"/>
                <a:cs typeface="Arial"/>
              </a:defRPr>
            </a:defPPr>
          </a:lstStyle>
          <a:p xmlns:a="http://schemas.openxmlformats.org/drawingml/2006/main">
            <a:pPr>
              <a:defRPr sz="2400" b="1">
                <a:solidFill>
                  <a:srgbClr val="AC6900"/>
                </a:solidFill>
                <a:latin typeface="Arial"/>
                <a:ea typeface="Arial"/>
                <a:cs typeface="Arial"/>
              </a:defRPr>
            </a:pPr>
            <a:r>
              <a:rPr sz="2400" b="1">
                <a:solidFill>
                  <a:srgbClr val="AC6900"/>
                </a:solidFill>
                <a:latin typeface="Arial"/>
                <a:ea typeface="Arial"/>
                <a:cs typeface="Arial"/>
              </a:rPr>
              <a:t>Fair evaluation</a:t>
            </a:r>
          </a:p>
        </p:txBody>
      </p:sp>
      <p:sp>
        <p:nvSpPr>
          <p:cNvPr id="5" name="">
            <a:extLst xmlns:a="http://schemas.openxmlformats.org/drawingml/2006/main">
              <a:ext uri="{FF2B5EF4-FFF2-40B4-BE49-F238E27FC236}">
                <a16:creationId xmlns:a16="http://schemas.microsoft.com/office/drawing/2014/main" id="{8A24ADBA-A9C4-4577-9758-5C902ED29E28}"/>
              </a:ext>
            </a:extLst>
          </p:cNvPr>
          <p:cNvSpPr>
            <a:spLocks xmlns:a="http://schemas.openxmlformats.org/drawingml/2006/main" noGrp="1"/>
          </p:cNvSpPr>
          <p:nvPr/>
        </p:nvSpPr>
        <p:spPr>
          <a:xfrm xmlns:a="http://schemas.openxmlformats.org/drawingml/2006/main">
            <a:off x="666750" y="2886075"/>
            <a:ext cx="3232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Review task difficulty and effort. Commit count alone does not measure contribution.</a:t>
            </a:r>
          </a:p>
        </p:txBody>
      </p:sp>
      <p:sp>
        <p:nvSpPr>
          <p:cNvPr id="6" name="">
            <a:extLst xmlns:a="http://schemas.openxmlformats.org/drawingml/2006/main">
              <a:ext uri="{FF2B5EF4-FFF2-40B4-BE49-F238E27FC236}">
                <a16:creationId xmlns:a16="http://schemas.microsoft.com/office/drawing/2014/main" id="{12E0890C-F734-496C-8912-948AC822265A}"/>
              </a:ext>
            </a:extLst>
          </p:cNvPr>
          <p:cNvSpPr>
            <a:spLocks xmlns:a="http://schemas.openxmlformats.org/drawingml/2006/main" noGrp="1"/>
          </p:cNvSpPr>
          <p:nvPr/>
        </p:nvSpPr>
        <p:spPr>
          <a:xfrm xmlns:a="http://schemas.openxmlformats.org/drawingml/2006/main">
            <a:off x="4298950" y="1981200"/>
            <a:ext cx="3346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AC6900"/>
                </a:solidFill>
                <a:latin typeface="Arial"/>
                <a:ea typeface="Arial"/>
                <a:cs typeface="Arial"/>
              </a:defRPr>
            </a:defPPr>
          </a:lstStyle>
          <a:p xmlns:a="http://schemas.openxmlformats.org/drawingml/2006/main">
            <a:pPr>
              <a:defRPr sz="2400" b="1">
                <a:solidFill>
                  <a:srgbClr val="AC6900"/>
                </a:solidFill>
                <a:latin typeface="Arial"/>
                <a:ea typeface="Arial"/>
                <a:cs typeface="Arial"/>
              </a:defRPr>
            </a:pPr>
            <a:r>
              <a:rPr sz="2400" b="1">
                <a:solidFill>
                  <a:srgbClr val="AC6900"/>
                </a:solidFill>
                <a:latin typeface="Arial"/>
                <a:ea typeface="Arial"/>
                <a:cs typeface="Arial"/>
              </a:rPr>
              <a:t>Peer assessment</a:t>
            </a:r>
          </a:p>
        </p:txBody>
      </p:sp>
      <p:sp>
        <p:nvSpPr>
          <p:cNvPr id="7" name="">
            <a:extLst xmlns:a="http://schemas.openxmlformats.org/drawingml/2006/main">
              <a:ext uri="{FF2B5EF4-FFF2-40B4-BE49-F238E27FC236}">
                <a16:creationId xmlns:a16="http://schemas.microsoft.com/office/drawing/2014/main" id="{CB908463-2F23-4E0C-B1BB-70E2D9D46FBD}"/>
              </a:ext>
            </a:extLst>
          </p:cNvPr>
          <p:cNvSpPr>
            <a:spLocks xmlns:a="http://schemas.openxmlformats.org/drawingml/2006/main" noGrp="1"/>
          </p:cNvSpPr>
          <p:nvPr/>
        </p:nvSpPr>
        <p:spPr>
          <a:xfrm xmlns:a="http://schemas.openxmlformats.org/drawingml/2006/main">
            <a:off x="4298950" y="2886075"/>
            <a:ext cx="3232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Use anonymous reviews and drop the highest and lowest scores before averaging.</a:t>
            </a:r>
          </a:p>
        </p:txBody>
      </p:sp>
      <p:sp>
        <p:nvSpPr>
          <p:cNvPr id="8" name="">
            <a:extLst xmlns:a="http://schemas.openxmlformats.org/drawingml/2006/main">
              <a:ext uri="{FF2B5EF4-FFF2-40B4-BE49-F238E27FC236}">
                <a16:creationId xmlns:a16="http://schemas.microsoft.com/office/drawing/2014/main" id="{FA04D346-81CD-429C-A5F1-10FC580620C0}"/>
              </a:ext>
            </a:extLst>
          </p:cNvPr>
          <p:cNvSpPr>
            <a:spLocks xmlns:a="http://schemas.openxmlformats.org/drawingml/2006/main" noGrp="1"/>
          </p:cNvSpPr>
          <p:nvPr/>
        </p:nvSpPr>
        <p:spPr>
          <a:xfrm xmlns:a="http://schemas.openxmlformats.org/drawingml/2006/main">
            <a:off x="7931150" y="1981200"/>
            <a:ext cx="3346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AC6900"/>
                </a:solidFill>
                <a:latin typeface="Arial"/>
                <a:ea typeface="Arial"/>
                <a:cs typeface="Arial"/>
              </a:defRPr>
            </a:defPPr>
          </a:lstStyle>
          <a:p xmlns:a="http://schemas.openxmlformats.org/drawingml/2006/main">
            <a:pPr>
              <a:defRPr sz="2400" b="1">
                <a:solidFill>
                  <a:srgbClr val="AC6900"/>
                </a:solidFill>
                <a:latin typeface="Arial"/>
                <a:ea typeface="Arial"/>
                <a:cs typeface="Arial"/>
              </a:defRPr>
            </a:pPr>
            <a:r>
              <a:rPr sz="2400" b="1">
                <a:solidFill>
                  <a:srgbClr val="AC6900"/>
                </a:solidFill>
                <a:latin typeface="Arial"/>
                <a:ea typeface="Arial"/>
                <a:cs typeface="Arial"/>
              </a:rPr>
              <a:t>Feedback and appeal</a:t>
            </a:r>
          </a:p>
        </p:txBody>
      </p:sp>
      <p:sp>
        <p:nvSpPr>
          <p:cNvPr id="9" name="">
            <a:extLst xmlns:a="http://schemas.openxmlformats.org/drawingml/2006/main">
              <a:ext uri="{FF2B5EF4-FFF2-40B4-BE49-F238E27FC236}">
                <a16:creationId xmlns:a16="http://schemas.microsoft.com/office/drawing/2014/main" id="{1817454E-D468-4BE7-83FA-70A3CEBFE023}"/>
              </a:ext>
            </a:extLst>
          </p:cNvPr>
          <p:cNvSpPr>
            <a:spLocks xmlns:a="http://schemas.openxmlformats.org/drawingml/2006/main" noGrp="1"/>
          </p:cNvSpPr>
          <p:nvPr/>
        </p:nvSpPr>
        <p:spPr>
          <a:xfrm xmlns:a="http://schemas.openxmlformats.org/drawingml/2006/main">
            <a:off x="7931150" y="2886075"/>
            <a:ext cx="3232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Appeal within three days. Two consecutive low ratings trigger a discussion with the team lead.</a:t>
            </a:r>
          </a:p>
        </p:txBody>
      </p:sp>
      <p:sp>
        <p:nvSpPr>
          <p:cNvPr id="10" name="">
            <a:extLst xmlns:a="http://schemas.openxmlformats.org/drawingml/2006/main">
              <a:ext uri="{FF2B5EF4-FFF2-40B4-BE49-F238E27FC236}">
                <a16:creationId xmlns:a16="http://schemas.microsoft.com/office/drawing/2014/main" id="{EB65C33E-34B0-4878-9AC4-8E3F9A9F86F5}"/>
              </a:ext>
            </a:extLst>
          </p:cNvPr>
          <p:cNvSpPr>
            <a:spLocks xmlns:a="http://schemas.openxmlformats.org/drawingml/2006/main" noGrp="1"/>
          </p:cNvSpPr>
          <p:nvPr/>
        </p:nvSpPr>
        <p:spPr>
          <a:xfrm xmlns:a="http://schemas.openxmlformats.org/drawingml/2006/main">
            <a:off x="685800" y="5476875"/>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9819B"/>
                </a:solidFill>
                <a:latin typeface="Arial"/>
                <a:ea typeface="Arial"/>
                <a:cs typeface="Arial"/>
              </a:defRPr>
            </a:defPPr>
          </a:lstStyle>
          <a:p xmlns:a="http://schemas.openxmlformats.org/drawingml/2006/main">
            <a:pPr>
              <a:defRPr sz="1800" b="1">
                <a:solidFill>
                  <a:srgbClr val="19819B"/>
                </a:solidFill>
                <a:latin typeface="Arial"/>
                <a:ea typeface="Arial"/>
                <a:cs typeface="Arial"/>
              </a:defRPr>
            </a:pPr>
            <a:r>
              <a:rPr sz="1800" b="1">
                <a:solidFill>
                  <a:srgbClr val="19819B"/>
                </a:solidFill>
                <a:latin typeface="Arial"/>
                <a:ea typeface="Arial"/>
                <a:cs typeface="Arial"/>
              </a:rPr>
              <a:t>Evidence: repository history, review records, the task board, sign-ins and peer forms.</a:t>
            </a:r>
          </a:p>
        </p:txBody>
      </p:sp>
    </p:spTree>
    <p:extLst>
      <p:ext uri="{BB962C8B-B14F-4D97-AF65-F5344CB8AC3E}">
        <p14:creationId xmlns:p14="http://schemas.microsoft.com/office/powerpoint/2010/main" val="1743983181"/>
      </p:ext>
    </p:extLst>
  </p:cSld>
</p:sld>
</file>

<file path=ppt/slides/slide18.xml><?xml version="1.0" encoding="utf-8"?>
<p:sld xmlns:p="http://schemas.openxmlformats.org/presentationml/2006/main">
  <p:cSld>
    <p:bg>
      <p:bgPr>
        <a:solidFill xmlns:a="http://schemas.openxmlformats.org/drawingml/2006/main">
          <a:srgbClr val="FAFCF7"/>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7F7EC1C-D598-4843-ACFB-CE35332B41C7}"/>
              </a:ext>
            </a:extLst>
          </p:cNvPr>
          <p:cNvPicPr>
            <a:picLocks xmlns:a="http://schemas.openxmlformats.org/drawingml/2006/main" noChangeAspect="1"/>
          </p:cNvPicPr>
          <p:nvPr/>
        </p:nvPicPr>
        <p:blipFill>
          <a:blip xmlns:r="http://schemas.openxmlformats.org/officeDocument/2006/relationships" xmlns:a="http://schemas.openxmlformats.org/drawingml/2006/main" r:embed="R238b7b327663488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B020754-4A32-4681-A523-3D94E3E261F6}"/>
              </a:ext>
            </a:extLst>
          </p:cNvPr>
          <p:cNvSpPr>
            <a:spLocks xmlns:a="http://schemas.openxmlformats.org/drawingml/2006/main" noGrp="1"/>
          </p:cNvSpPr>
          <p:nvPr/>
        </p:nvSpPr>
        <p:spPr>
          <a:xfrm xmlns:a="http://schemas.openxmlformats.org/drawingml/2006/main">
            <a:off x="628650" y="4476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183E50"/>
                </a:solidFill>
                <a:latin typeface="Impact"/>
                <a:ea typeface="Impact"/>
                <a:cs typeface="Impact"/>
              </a:defRPr>
            </a:defPPr>
          </a:lstStyle>
          <a:p xmlns:a="http://schemas.openxmlformats.org/drawingml/2006/main">
            <a:pPr>
              <a:defRPr sz="3600" b="0">
                <a:solidFill>
                  <a:srgbClr val="183E50"/>
                </a:solidFill>
                <a:latin typeface="Impact"/>
                <a:ea typeface="Impact"/>
                <a:cs typeface="Impact"/>
              </a:defRPr>
            </a:pPr>
            <a:r>
              <a:rPr sz="3600" b="0">
                <a:solidFill>
                  <a:srgbClr val="183E50"/>
                </a:solidFill>
                <a:latin typeface="Impact"/>
                <a:ea typeface="Impact"/>
                <a:cs typeface="Impact"/>
              </a:rPr>
              <a:t>REQUIREMENTS AND NEXT DECISIONS</a:t>
            </a:r>
          </a:p>
        </p:txBody>
      </p:sp>
      <p:sp>
        <p:nvSpPr>
          <p:cNvPr id="3" name="">
            <a:extLst xmlns:a="http://schemas.openxmlformats.org/drawingml/2006/main">
              <a:ext uri="{FF2B5EF4-FFF2-40B4-BE49-F238E27FC236}">
                <a16:creationId xmlns:a16="http://schemas.microsoft.com/office/drawing/2014/main" id="{BB3D62B9-BC99-4283-91A9-28D77ACA0545}"/>
              </a:ext>
            </a:extLst>
          </p:cNvPr>
          <p:cNvSpPr>
            <a:spLocks xmlns:a="http://schemas.openxmlformats.org/drawingml/2006/main" noGrp="1"/>
          </p:cNvSpPr>
          <p:nvPr/>
        </p:nvSpPr>
        <p:spPr>
          <a:xfrm xmlns:a="http://schemas.openxmlformats.org/drawingml/2006/main">
            <a:off x="228600" y="6257925"/>
            <a:ext cx="552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AC6900"/>
                </a:solidFill>
                <a:latin typeface="Arial"/>
                <a:ea typeface="Arial"/>
                <a:cs typeface="Arial"/>
              </a:defRPr>
            </a:defPPr>
          </a:lstStyle>
          <a:p xmlns:a="http://schemas.openxmlformats.org/drawingml/2006/main">
            <a:pPr>
              <a:defRPr sz="2175" b="1">
                <a:solidFill>
                  <a:srgbClr val="AC6900"/>
                </a:solidFill>
                <a:latin typeface="Arial"/>
                <a:ea typeface="Arial"/>
                <a:cs typeface="Arial"/>
              </a:defRPr>
            </a:pPr>
            <a:r>
              <a:rPr sz="2175" b="1">
                <a:solidFill>
                  <a:srgbClr val="AC6900"/>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C75D7833-B46F-45A9-854F-145970B8AD66}"/>
              </a:ext>
            </a:extLst>
          </p:cNvPr>
          <p:cNvSpPr>
            <a:spLocks xmlns:a="http://schemas.openxmlformats.org/drawingml/2006/main" noGrp="1"/>
          </p:cNvSpPr>
          <p:nvPr/>
        </p:nvSpPr>
        <p:spPr>
          <a:xfrm xmlns:a="http://schemas.openxmlformats.org/drawingml/2006/main">
            <a:off x="695325" y="204787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0">
                <a:solidFill>
                  <a:srgbClr val="AC6900"/>
                </a:solidFill>
                <a:latin typeface="Impact"/>
                <a:ea typeface="Impact"/>
                <a:cs typeface="Impact"/>
              </a:defRPr>
            </a:defPPr>
          </a:lstStyle>
          <a:p xmlns:a="http://schemas.openxmlformats.org/drawingml/2006/main">
            <a:pPr>
              <a:defRPr sz="5400" b="0">
                <a:solidFill>
                  <a:srgbClr val="AC6900"/>
                </a:solidFill>
                <a:latin typeface="Impact"/>
                <a:ea typeface="Impact"/>
                <a:cs typeface="Impact"/>
              </a:defRPr>
            </a:pPr>
            <a:r>
              <a:rPr sz="5400" b="0">
                <a:solidFill>
                  <a:srgbClr val="AC6900"/>
                </a:solidFill>
                <a:latin typeface="Impact"/>
                <a:ea typeface="Impact"/>
                <a:cs typeface="Impact"/>
              </a:rPr>
              <a:t>48</a:t>
            </a:r>
          </a:p>
        </p:txBody>
      </p:sp>
      <p:sp>
        <p:nvSpPr>
          <p:cNvPr id="5" name="">
            <a:extLst xmlns:a="http://schemas.openxmlformats.org/drawingml/2006/main">
              <a:ext uri="{FF2B5EF4-FFF2-40B4-BE49-F238E27FC236}">
                <a16:creationId xmlns:a16="http://schemas.microsoft.com/office/drawing/2014/main" id="{C86BF99A-42F2-4C2A-A9F1-987B61A63D59}"/>
              </a:ext>
            </a:extLst>
          </p:cNvPr>
          <p:cNvSpPr>
            <a:spLocks xmlns:a="http://schemas.openxmlformats.org/drawingml/2006/main" noGrp="1"/>
          </p:cNvSpPr>
          <p:nvPr/>
        </p:nvSpPr>
        <p:spPr>
          <a:xfrm xmlns:a="http://schemas.openxmlformats.org/drawingml/2006/main">
            <a:off x="704850" y="298132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functional requirements</a:t>
            </a:r>
          </a:p>
        </p:txBody>
      </p:sp>
      <p:sp>
        <p:nvSpPr>
          <p:cNvPr id="6" name="">
            <a:extLst xmlns:a="http://schemas.openxmlformats.org/drawingml/2006/main">
              <a:ext uri="{FF2B5EF4-FFF2-40B4-BE49-F238E27FC236}">
                <a16:creationId xmlns:a16="http://schemas.microsoft.com/office/drawing/2014/main" id="{627A661A-4C1F-4C25-A836-EB2E385C1B9D}"/>
              </a:ext>
            </a:extLst>
          </p:cNvPr>
          <p:cNvSpPr>
            <a:spLocks xmlns:a="http://schemas.openxmlformats.org/drawingml/2006/main" noGrp="1"/>
          </p:cNvSpPr>
          <p:nvPr/>
        </p:nvSpPr>
        <p:spPr>
          <a:xfrm xmlns:a="http://schemas.openxmlformats.org/drawingml/2006/main">
            <a:off x="6381750" y="204787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0">
                <a:solidFill>
                  <a:srgbClr val="AC6900"/>
                </a:solidFill>
                <a:latin typeface="Impact"/>
                <a:ea typeface="Impact"/>
                <a:cs typeface="Impact"/>
              </a:defRPr>
            </a:defPPr>
          </a:lstStyle>
          <a:p xmlns:a="http://schemas.openxmlformats.org/drawingml/2006/main">
            <a:pPr>
              <a:defRPr sz="5400" b="0">
                <a:solidFill>
                  <a:srgbClr val="AC6900"/>
                </a:solidFill>
                <a:latin typeface="Impact"/>
                <a:ea typeface="Impact"/>
                <a:cs typeface="Impact"/>
              </a:defRPr>
            </a:pPr>
            <a:r>
              <a:rPr sz="5400" b="0">
                <a:solidFill>
                  <a:srgbClr val="AC6900"/>
                </a:solidFill>
                <a:latin typeface="Impact"/>
                <a:ea typeface="Impact"/>
                <a:cs typeface="Impact"/>
              </a:rPr>
              <a:t>41</a:t>
            </a:r>
          </a:p>
        </p:txBody>
      </p:sp>
      <p:sp>
        <p:nvSpPr>
          <p:cNvPr id="7" name="">
            <a:extLst xmlns:a="http://schemas.openxmlformats.org/drawingml/2006/main">
              <a:ext uri="{FF2B5EF4-FFF2-40B4-BE49-F238E27FC236}">
                <a16:creationId xmlns:a16="http://schemas.microsoft.com/office/drawing/2014/main" id="{CE282653-8F48-4144-BCE4-0EB0C53DEBEF}"/>
              </a:ext>
            </a:extLst>
          </p:cNvPr>
          <p:cNvSpPr>
            <a:spLocks xmlns:a="http://schemas.openxmlformats.org/drawingml/2006/main" noGrp="1"/>
          </p:cNvSpPr>
          <p:nvPr/>
        </p:nvSpPr>
        <p:spPr>
          <a:xfrm xmlns:a="http://schemas.openxmlformats.org/drawingml/2006/main">
            <a:off x="6391275" y="298132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use cases</a:t>
            </a:r>
          </a:p>
        </p:txBody>
      </p:sp>
      <p:sp>
        <p:nvSpPr>
          <p:cNvPr id="8" name="">
            <a:extLst xmlns:a="http://schemas.openxmlformats.org/drawingml/2006/main">
              <a:ext uri="{FF2B5EF4-FFF2-40B4-BE49-F238E27FC236}">
                <a16:creationId xmlns:a16="http://schemas.microsoft.com/office/drawing/2014/main" id="{A78F1FCA-A4BF-4501-AC31-621393D35E5D}"/>
              </a:ext>
            </a:extLst>
          </p:cNvPr>
          <p:cNvSpPr>
            <a:spLocks xmlns:a="http://schemas.openxmlformats.org/drawingml/2006/main" noGrp="1"/>
          </p:cNvSpPr>
          <p:nvPr/>
        </p:nvSpPr>
        <p:spPr>
          <a:xfrm xmlns:a="http://schemas.openxmlformats.org/drawingml/2006/main">
            <a:off x="704850" y="38290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819B"/>
                </a:solidFill>
                <a:latin typeface="Arial"/>
                <a:ea typeface="Arial"/>
                <a:cs typeface="Arial"/>
              </a:defRPr>
            </a:defPPr>
          </a:lstStyle>
          <a:p xmlns:a="http://schemas.openxmlformats.org/drawingml/2006/main">
            <a:pPr>
              <a:defRPr sz="2325" b="1">
                <a:solidFill>
                  <a:srgbClr val="19819B"/>
                </a:solidFill>
                <a:latin typeface="Arial"/>
                <a:ea typeface="Arial"/>
                <a:cs typeface="Arial"/>
              </a:defRPr>
            </a:pPr>
            <a:r>
              <a:rPr sz="2325" b="1">
                <a:solidFill>
                  <a:srgbClr val="19819B"/>
                </a:solidFill>
                <a:latin typeface="Arial"/>
                <a:ea typeface="Arial"/>
                <a:cs typeface="Arial"/>
              </a:rPr>
              <a:t>Requirements Specification V2.2</a:t>
            </a:r>
          </a:p>
        </p:txBody>
      </p:sp>
      <p:sp>
        <p:nvSpPr>
          <p:cNvPr id="9" name="">
            <a:extLst xmlns:a="http://schemas.openxmlformats.org/drawingml/2006/main">
              <a:ext uri="{FF2B5EF4-FFF2-40B4-BE49-F238E27FC236}">
                <a16:creationId xmlns:a16="http://schemas.microsoft.com/office/drawing/2014/main" id="{1D9455E0-2370-4FB8-929F-A211604CA069}"/>
              </a:ext>
            </a:extLst>
          </p:cNvPr>
          <p:cNvSpPr>
            <a:spLocks xmlns:a="http://schemas.openxmlformats.org/drawingml/2006/main" noGrp="1"/>
          </p:cNvSpPr>
          <p:nvPr/>
        </p:nvSpPr>
        <p:spPr>
          <a:xfrm xmlns:a="http://schemas.openxmlformats.org/drawingml/2006/main">
            <a:off x="704850" y="43624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E50"/>
                </a:solidFill>
                <a:latin typeface="Arial"/>
                <a:ea typeface="Arial"/>
                <a:cs typeface="Arial"/>
              </a:defRPr>
            </a:defPPr>
          </a:lstStyle>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Web edition with priorities M1–M5, business rules, non-functional</a:t>
            </a:r>
          </a:p>
          <a:p xmlns:a="http://schemas.openxmlformats.org/drawingml/2006/main">
            <a:pPr>
              <a:defRPr sz="2025" b="0">
                <a:solidFill>
                  <a:srgbClr val="183E50"/>
                </a:solidFill>
                <a:latin typeface="Arial"/>
                <a:ea typeface="Arial"/>
                <a:cs typeface="Arial"/>
              </a:defRPr>
            </a:pPr>
            <a:r>
              <a:rPr sz="2025" b="0">
                <a:solidFill>
                  <a:srgbClr val="183E50"/>
                </a:solidFill>
                <a:latin typeface="Arial"/>
                <a:ea typeface="Arial"/>
                <a:cs typeface="Arial"/>
              </a:rPr>
              <a:t>requirements and a bidirectional traceability matrix.</a:t>
            </a:r>
          </a:p>
        </p:txBody>
      </p:sp>
      <p:sp>
        <p:nvSpPr>
          <p:cNvPr id="10" name="">
            <a:extLst xmlns:a="http://schemas.openxmlformats.org/drawingml/2006/main">
              <a:ext uri="{FF2B5EF4-FFF2-40B4-BE49-F238E27FC236}">
                <a16:creationId xmlns:a16="http://schemas.microsoft.com/office/drawing/2014/main" id="{3C17F9D9-408A-4C77-B1AE-6C2DAF9E3ED4}"/>
              </a:ext>
            </a:extLst>
          </p:cNvPr>
          <p:cNvSpPr>
            <a:spLocks xmlns:a="http://schemas.openxmlformats.org/drawingml/2006/main" noGrp="1"/>
          </p:cNvSpPr>
          <p:nvPr/>
        </p:nvSpPr>
        <p:spPr>
          <a:xfrm xmlns:a="http://schemas.openxmlformats.org/drawingml/2006/main">
            <a:off x="704850" y="559117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76371"/>
                </a:solidFill>
                <a:latin typeface="Arial"/>
                <a:ea typeface="Arial"/>
                <a:cs typeface="Arial"/>
              </a:defRPr>
            </a:defPPr>
          </a:lstStyle>
          <a:p xmlns:a="http://schemas.openxmlformats.org/drawingml/2006/main">
            <a:pPr>
              <a:defRPr sz="1800" b="0">
                <a:solidFill>
                  <a:srgbClr val="476371"/>
                </a:solidFill>
                <a:latin typeface="Arial"/>
                <a:ea typeface="Arial"/>
                <a:cs typeface="Arial"/>
              </a:defRPr>
            </a:pPr>
            <a:r>
              <a:rPr sz="1800" b="0">
                <a:solidFill>
                  <a:srgbClr val="476371"/>
                </a:solidFill>
                <a:latin typeface="Arial"/>
                <a:ea typeface="Arial"/>
                <a:cs typeface="Arial"/>
              </a:rPr>
              <a:t>Next phase: prototyping, technology selection, architecture and API design.</a:t>
            </a:r>
          </a:p>
        </p:txBody>
      </p:sp>
    </p:spTree>
    <p:extLst>
      <p:ext uri="{BB962C8B-B14F-4D97-AF65-F5344CB8AC3E}">
        <p14:creationId xmlns:p14="http://schemas.microsoft.com/office/powerpoint/2010/main" val="5731886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2026-10-11T15:06:45.7890000Z</dcterms:created>
  <dcterms:modified xsi:type="dcterms:W3CDTF">2026-10-11T15:06:45.7890000Z</dcterms:modified>
</coreProperties>
</file>